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SN requerido — carpeta asfáltica en caliente</a:t>
            </a:r>
          </a:p>
        </c:rich>
      </c:tx>
      <c:layout/>
      <c:overlay val="0"/>
    </c:title>
    <c:autoTitleDeleted val="0"/>
    <c:plotArea>
      <c:layout/>
      <c:barChart>
        <c:barDir val="col"/>
        <c:grouping val="clustered"/>
        <c:varyColors val="0"/>
        <c:ser>
          <c:idx val="0"/>
          <c:order val="0"/>
          <c:tx>
            <c:strRef>
              <c:f>Sheet1!$B$1</c:f>
              <c:strCache>
                <c:ptCount val="1"/>
                <c:pt idx="0">
                  <c:v>Regular 6–10%</c:v>
                </c:pt>
              </c:strCache>
            </c:strRef>
          </c:tx>
          <c:spPr>
            <a:solidFill>
              <a:srgbClr val="23262B"/>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Sheet1!$B$2:$B$5</c:f>
              <c:numCache>
                <c:formatCode>General</c:formatCode>
                <c:ptCount val="4"/>
                <c:pt idx="0">
                  <c:v>2.15</c:v>
                </c:pt>
                <c:pt idx="1">
                  <c:v>3.152</c:v>
                </c:pt>
                <c:pt idx="2">
                  <c:v>4.847</c:v>
                </c:pt>
                <c:pt idx="3">
                  <c:v>6.084</c:v>
                </c:pt>
              </c:numCache>
            </c:numRef>
          </c:val>
        </c:ser>
        <c:ser>
          <c:idx val="1"/>
          <c:order val="1"/>
          <c:tx>
            <c:strRef>
              <c:f>Sheet1!$C$1</c:f>
              <c:strCache>
                <c:ptCount val="1"/>
                <c:pt idx="0">
                  <c:v>Buena 10–20%</c:v>
                </c:pt>
              </c:strCache>
            </c:strRef>
          </c:tx>
          <c:spPr>
            <a:solidFill>
              <a:srgbClr val="3E6283"/>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Sheet1!$C$2:$C$5</c:f>
              <c:numCache>
                <c:formatCode>General</c:formatCode>
                <c:ptCount val="4"/>
                <c:pt idx="0">
                  <c:v>1.89</c:v>
                </c:pt>
                <c:pt idx="1">
                  <c:v>2.764</c:v>
                </c:pt>
                <c:pt idx="2">
                  <c:v>4.305</c:v>
                </c:pt>
                <c:pt idx="3">
                  <c:v>5.497</c:v>
                </c:pt>
              </c:numCache>
            </c:numRef>
          </c:val>
        </c:ser>
        <c:ser>
          <c:idx val="2"/>
          <c:order val="2"/>
          <c:tx>
            <c:strRef>
              <c:f>Sheet1!$D$1</c:f>
              <c:strCache>
                <c:ptCount val="1"/>
                <c:pt idx="0">
                  <c:v>Muy buena 20–30%</c:v>
                </c:pt>
              </c:strCache>
            </c:strRef>
          </c:tx>
          <c:spPr>
            <a:solidFill>
              <a:srgbClr val="8FA9C2"/>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Sheet1!$D$2:$D$5</c:f>
              <c:numCache>
                <c:formatCode>General</c:formatCode>
                <c:ptCount val="4"/>
                <c:pt idx="0">
                  <c:v>1.63</c:v>
                </c:pt>
                <c:pt idx="1">
                  <c:v>2.348</c:v>
                </c:pt>
                <c:pt idx="2">
                  <c:v>3.652</c:v>
                </c:pt>
                <c:pt idx="3">
                  <c:v>4.783</c:v>
                </c:pt>
              </c:numCache>
            </c:numRef>
          </c:val>
        </c:ser>
        <c:ser>
          <c:idx val="3"/>
          <c:order val="3"/>
          <c:tx>
            <c:strRef>
              <c:f>Sheet1!$E$1</c:f>
              <c:strCache>
                <c:ptCount val="1"/>
                <c:pt idx="0">
                  <c:v>Excelente ≥30%</c:v>
                </c:pt>
              </c:strCache>
            </c:strRef>
          </c:tx>
          <c:spPr>
            <a:solidFill>
              <a:srgbClr val="F2B705"/>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Sheet1!$E$2:$E$5</c:f>
              <c:numCache>
                <c:formatCode>General</c:formatCode>
                <c:ptCount val="4"/>
                <c:pt idx="0">
                  <c:v>1.63</c:v>
                </c:pt>
                <c:pt idx="1">
                  <c:v>2.14</c:v>
                </c:pt>
                <c:pt idx="2">
                  <c:v>3.288</c:v>
                </c:pt>
                <c:pt idx="3">
                  <c:v>4.348</c:v>
                </c:pt>
              </c:numCache>
            </c:numRef>
          </c:val>
        </c:ser>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Espesor de capa superficial (mm)</a:t>
            </a:r>
          </a:p>
        </c:rich>
      </c:tx>
      <c:layout/>
      <c:overlay val="0"/>
    </c:title>
    <c:autoTitleDeleted val="0"/>
    <c:plotArea>
      <c:layout/>
      <c:barChart>
        <c:barDir val="col"/>
        <c:grouping val="clustered"/>
        <c:varyColors val="0"/>
        <c:ser>
          <c:idx val="0"/>
          <c:order val="0"/>
          <c:tx>
            <c:strRef>
              <c:f>Sheet1!$B$1</c:f>
              <c:strCache>
                <c:ptCount val="1"/>
                <c:pt idx="0">
                  <c:v>Capa superficial (mm)</c:v>
                </c:pt>
              </c:strCache>
            </c:strRef>
          </c:tx>
          <c:spPr>
            <a:solidFill>
              <a:srgbClr val="23262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Sheet1!$A$2:$A$8</c:f>
              <c:multiLvlStrCache>
                <c:ptCount val="7"/>
                <c:lvl>
                  <c:pt idx="0">
                    <c:v>TPB0</c:v>
                  </c:pt>
                  <c:pt idx="1">
                    <c:v>TPB1</c:v>
                  </c:pt>
                  <c:pt idx="2">
                    <c:v>TPB2</c:v>
                  </c:pt>
                  <c:pt idx="3">
                    <c:v>TPB3</c:v>
                  </c:pt>
                  <c:pt idx="4">
                    <c:v>TPB4</c:v>
                  </c:pt>
                  <c:pt idx="5">
                    <c:v>TPB5</c:v>
                  </c:pt>
                  <c:pt idx="6">
                    <c:v>TPB6</c:v>
                  </c:pt>
                </c:lvl>
              </c:multiLvlStrCache>
            </c:multiLvlStrRef>
          </c:cat>
          <c:val>
            <c:numRef>
              <c:f>Sheet1!$B$2:$B$8</c:f>
              <c:numCache>
                <c:formatCode>General</c:formatCode>
                <c:ptCount val="7"/>
                <c:pt idx="0">
                  <c:v>40</c:v>
                </c:pt>
                <c:pt idx="1">
                  <c:v>50</c:v>
                </c:pt>
                <c:pt idx="2">
                  <c:v>60</c:v>
                </c:pt>
                <c:pt idx="3">
                  <c:v>70</c:v>
                </c:pt>
                <c:pt idx="4">
                  <c:v>80</c:v>
                </c:pt>
                <c:pt idx="5">
                  <c:v>80</c:v>
                </c:pt>
                <c:pt idx="6">
                  <c:v>90</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nombre es Oscar Javier Mamani Ancco. Hoy presento la Sección 12.2 del Manual de Carreteras del MTC: las secciones de estructuras de pavimento flexible y el diseño de bermas. La figura de la derecha muestra las capas típicas: carpeta o tratamiento superficial, base granular, subbase granular, apoyadas sobre la subrasante.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seis partes: primero el marco normativo y las variables que gobiernan el diseño; luego los espesores mínimos, los catálogos de número estructural, las limitaciones de uso de cada capa superficial, los tres enfoques de periodo de diseño y, finalmente, las bermas. Cierro con conclusiones.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es el Manual de Carreteras del MTC, sección Suelos, Geología, Geotecnia y Pavimentos, de abril de 2014, capítulo 12. Todo el dimensionamiento depende de dos variables: la capacidad de soporte de la subrasante, medida con el CBR y clasificada de inadecuada a excelente; y el tráfico, expresado en repeticiones de ejes equivalentes en el carril de diseño, clasificado de TP0 a TP14. La idea clave: mejor subrasante y menos tráfico significan menor espesor.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12.17 separa dos grupos. En caminos de bajo volumen, hasta un millón de ejes equivalentes, hay varias opciones de capa superficial: desde un tratamiento superficial bicapa o lechada de 12 mm hasta carpeta en caliente de 80 mm, con base granular de 150 mm (200 en TP4). Por encima de un millón de EE solo se admite carpeta en caliente, de 80 a 150 mm, con base de 200 a 300 mm. Importante: los espesores mínimos constructivos son 40 mm para carpeta en caliente y 150 mm para capas granulares.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ofrece catálogos del número estructural requerido, SN, para cinco alternativas de capa superficial; solo la carpeta en caliente cubre todo el rango TP0 a TP14. El gráfico muestra el ejemplo de la carpeta en caliente: el SN sube con el tráfico, de alrededor de 2 en TP0 a más de 6 en TP14 con subrasante regular; y baja cuando mejora la subrasante: en TP14 pasa de 6.08 con CBR regular a 4.35 con CBR excelente.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todas las capas se pueden usar en cualquier lugar. La carpeta en caliente no tiene restricciones. La carpeta en frío y el micropavimento se limitan a un millón de EE. El TSB y la lechada asfáltica son los más restringidos: hasta 500 mil EE, no aplican con pendientes mayores al 8 % ni en curvas pronunciadas o tramos donde los vehículos frenan, porque se desprenden por los esfuerzos tangenciales.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presenta tres enfoques. Primero, 10 años para bajo volumen, hasta un millón de EE, con cuatro alternativas de capa superficial. Segundo, 20 años en dos etapas: se construye la estructura inicial y al año 10 se coloca un refuerzo asfáltico; aplica sobre un millón de EE hasta TP14. Tercero, 20 años en una sola etapa con carpeta en caliente, para todo el rango, sin refuerzo intermedio, solo conservación con sellos.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bermas no son un accesorio: son parte estructural del pavimento. Cumplen cuatro funciones: soporte lateral, protección del borde, seguridad del usuario y refugio para vehículos averiados. Si la berma mide hasta 1.20 m, es una prolongación de la calzada y se construye al mismo tiempo, sin junta. Si es mayor a 1.20 m, tiene estructura propia, diseñada con el 5 % de los ejes equivalentes del carril. En zonas frías sobre 3000 msnm, o si la berma podría usarse como carril, se le da la misma estructura que la calzada.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12.19 da los espesores mínimos de bermas según los ejes equivalentes acumulados sobre ellas, de TPB0 a TPB6. La capa superficial crece de 40 a 90 mm, y la base granular pasa de 150 a 200 mm a partir de TPB4, es decir, desde 750 mil EE. Si la capa resulta menor a 40 mm, puede usarse un equivalente en frío, macadam o micropavimento de 25 mm.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cinco ideas: el diseño depende del CBR y del tráfico; el manual da catálogos de número estructural para cinco tipos de superficie; hay tres enfoques de periodo de diseño; las bermas son estructurales y su diseño depende de su ancho; y, lo más importante, estas secciones son referenciales: el ingeniero responsable siempre debe verificar el diseño para las condiciones del proyecto.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y abrir ronda de preguntas. Preguntas probables: ¿por qué el TSB no aplica en pendientes &gt; 8 %? (esfuerzos tangenciales de frenado/tracción desprenden el agregado); ¿de dónde sale el 5 % para bermas? (se asume que la berma recibe una fracción mínima del tráfico del carril); ¿qué pasa con CBR &lt; 3 %? (subrasante inadecuada: requiere mejoramiento o estabilización antes de diseñar).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62B"/>
        </a:solidFill>
      </p:bgPr>
    </p:bg>
    <p:spTree>
      <p:nvGrpSpPr>
        <p:cNvPr id="1" name=""/>
        <p:cNvGrpSpPr/>
        <p:nvPr/>
      </p:nvGrpSpPr>
      <p:grpSpPr>
        <a:xfrm>
          <a:off x="0" y="0"/>
          <a:ext cx="0" cy="0"/>
          <a:chOff x="0" y="0"/>
          <a:chExt cx="0" cy="0"/>
        </a:xfrm>
      </p:grpSpPr>
      <p:pic>
        <p:nvPicPr>
          <p:cNvPr id="2" name="Image 0" descr="/home/user/work/build/logo_una.png">    </p:cNvPr>
          <p:cNvPicPr>
            <a:picLocks noChangeAspect="1"/>
          </p:cNvPicPr>
          <p:nvPr/>
        </p:nvPicPr>
        <p:blipFill>
          <a:blip r:embed="rId1"/>
          <a:stretch>
            <a:fillRect/>
          </a:stretch>
        </p:blipFill>
        <p:spPr>
          <a:xfrm>
            <a:off x="548640" y="365760"/>
            <a:ext cx="795528" cy="868680"/>
          </a:xfrm>
          <a:prstGeom prst="rect">
            <a:avLst/>
          </a:prstGeom>
        </p:spPr>
      </p:pic>
      <p:pic>
        <p:nvPicPr>
          <p:cNvPr id="3" name="Image 1" descr="/home/user/work/build/logo_ic.png">    </p:cNvPr>
          <p:cNvPicPr>
            <a:picLocks noChangeAspect="1"/>
          </p:cNvPicPr>
          <p:nvPr/>
        </p:nvPicPr>
        <p:blipFill>
          <a:blip r:embed="rId2"/>
          <a:stretch>
            <a:fillRect/>
          </a:stretch>
        </p:blipFill>
        <p:spPr>
          <a:xfrm>
            <a:off x="1508760" y="365760"/>
            <a:ext cx="941832" cy="868680"/>
          </a:xfrm>
          <a:prstGeom prst="rect">
            <a:avLst/>
          </a:prstGeom>
        </p:spPr>
      </p:pic>
      <p:sp>
        <p:nvSpPr>
          <p:cNvPr id="4" name="Text 0"/>
          <p:cNvSpPr txBox="1"/>
          <p:nvPr/>
        </p:nvSpPr>
        <p:spPr>
          <a:xfrm>
            <a:off x="2651760" y="457200"/>
            <a:ext cx="6858000" cy="320040"/>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UNIVERSIDAD NACIONAL DEL ALTIPLANO – PUNO</a:t>
            </a:r>
            <a:endParaRPr lang="en-US" sz="1400" dirty="0"/>
          </a:p>
        </p:txBody>
      </p:sp>
      <p:sp>
        <p:nvSpPr>
          <p:cNvPr id="5" name="Text 1"/>
          <p:cNvSpPr txBox="1"/>
          <p:nvPr/>
        </p:nvSpPr>
        <p:spPr>
          <a:xfrm>
            <a:off x="2651760" y="804672"/>
            <a:ext cx="6858000" cy="274320"/>
          </a:xfrm>
          <a:prstGeom prst="rect">
            <a:avLst/>
          </a:prstGeom>
          <a:noFill/>
          <a:ln/>
        </p:spPr>
        <p:txBody>
          <a:bodyPr wrap="square" lIns="0" tIns="0" rIns="0" bIns="0" rtlCol="0" anchor="ctr"/>
          <a:lstStyle/>
          <a:p>
            <a:pPr indent="0" marL="0">
              <a:buNone/>
            </a:pPr>
            <a:r>
              <a:rPr lang="en-US" sz="1300" dirty="0">
                <a:solidFill>
                  <a:srgbClr val="AEB4BC"/>
                </a:solidFill>
                <a:latin typeface="Calibri" pitchFamily="34" charset="0"/>
                <a:ea typeface="Calibri" pitchFamily="34" charset="-122"/>
                <a:cs typeface="Calibri" pitchFamily="34" charset="-120"/>
              </a:rPr>
              <a:t>Maestría en Ingeniería Civil · Tecnología Avanzada de Asfaltos</a:t>
            </a:r>
            <a:endParaRPr lang="en-US" sz="1300" dirty="0"/>
          </a:p>
        </p:txBody>
      </p:sp>
      <p:sp>
        <p:nvSpPr>
          <p:cNvPr id="6" name="Text 2"/>
          <p:cNvSpPr txBox="1"/>
          <p:nvPr/>
        </p:nvSpPr>
        <p:spPr>
          <a:xfrm>
            <a:off x="548640" y="1691640"/>
            <a:ext cx="676656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SECCIÓN 12.2 · MANUAL DE CARRETERAS MTC 2014</a:t>
            </a:r>
            <a:endParaRPr lang="en-US" sz="1200" dirty="0"/>
          </a:p>
        </p:txBody>
      </p:sp>
      <p:sp>
        <p:nvSpPr>
          <p:cNvPr id="7" name="Text 3"/>
          <p:cNvSpPr txBox="1"/>
          <p:nvPr/>
        </p:nvSpPr>
        <p:spPr>
          <a:xfrm>
            <a:off x="548640" y="2011680"/>
            <a:ext cx="6766560" cy="16916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Secciones de Estructuras de Pavimento Flexible y Bermas</a:t>
            </a:r>
            <a:endParaRPr lang="en-US" sz="3600" dirty="0"/>
          </a:p>
        </p:txBody>
      </p:sp>
      <p:sp>
        <p:nvSpPr>
          <p:cNvPr id="8" name="Text 4"/>
          <p:cNvSpPr txBox="1"/>
          <p:nvPr/>
        </p:nvSpPr>
        <p:spPr>
          <a:xfrm>
            <a:off x="548640" y="3840480"/>
            <a:ext cx="6583680" cy="365760"/>
          </a:xfrm>
          <a:prstGeom prst="rect">
            <a:avLst/>
          </a:prstGeom>
          <a:noFill/>
          <a:ln/>
        </p:spPr>
        <p:txBody>
          <a:bodyPr wrap="square" lIns="0" tIns="0" rIns="0" bIns="0" rtlCol="0" anchor="ctr"/>
          <a:lstStyle/>
          <a:p>
            <a:pPr indent="0" marL="0">
              <a:buNone/>
            </a:pPr>
            <a:r>
              <a:rPr lang="en-US" sz="1800" i="1" dirty="0">
                <a:solidFill>
                  <a:srgbClr val="C9CED4"/>
                </a:solidFill>
                <a:latin typeface="Cambria" pitchFamily="34" charset="0"/>
                <a:ea typeface="Cambria" pitchFamily="34" charset="-122"/>
                <a:cs typeface="Cambria" pitchFamily="34" charset="-120"/>
              </a:rPr>
              <a:t>Suelos, Geología, Geotecnia y Pavimentos</a:t>
            </a:r>
            <a:endParaRPr lang="en-US" sz="1800" dirty="0"/>
          </a:p>
        </p:txBody>
      </p:sp>
      <p:sp>
        <p:nvSpPr>
          <p:cNvPr id="9" name="Text 5"/>
          <p:cNvSpPr txBox="1"/>
          <p:nvPr/>
        </p:nvSpPr>
        <p:spPr>
          <a:xfrm>
            <a:off x="548640" y="443484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MAESTRANTE</a:t>
            </a:r>
            <a:endParaRPr lang="en-US" sz="1100" dirty="0"/>
          </a:p>
        </p:txBody>
      </p:sp>
      <p:sp>
        <p:nvSpPr>
          <p:cNvPr id="10" name="Text 6"/>
          <p:cNvSpPr txBox="1"/>
          <p:nvPr/>
        </p:nvSpPr>
        <p:spPr>
          <a:xfrm>
            <a:off x="2286000" y="4434840"/>
            <a:ext cx="484632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Oscar Javier Mamani Ancco</a:t>
            </a:r>
            <a:endParaRPr lang="en-US" sz="1500" dirty="0"/>
          </a:p>
        </p:txBody>
      </p:sp>
      <p:sp>
        <p:nvSpPr>
          <p:cNvPr id="11" name="Text 7"/>
          <p:cNvSpPr txBox="1"/>
          <p:nvPr/>
        </p:nvSpPr>
        <p:spPr>
          <a:xfrm>
            <a:off x="548640" y="480060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CURSO</a:t>
            </a:r>
            <a:endParaRPr lang="en-US" sz="1100" dirty="0"/>
          </a:p>
        </p:txBody>
      </p:sp>
      <p:sp>
        <p:nvSpPr>
          <p:cNvPr id="12" name="Text 8"/>
          <p:cNvSpPr txBox="1"/>
          <p:nvPr/>
        </p:nvSpPr>
        <p:spPr>
          <a:xfrm>
            <a:off x="2286000" y="4800600"/>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Tecnología Avanzada de Asfaltos</a:t>
            </a:r>
            <a:endParaRPr lang="en-US" sz="1500" dirty="0"/>
          </a:p>
        </p:txBody>
      </p:sp>
      <p:sp>
        <p:nvSpPr>
          <p:cNvPr id="13" name="Text 9"/>
          <p:cNvSpPr txBox="1"/>
          <p:nvPr/>
        </p:nvSpPr>
        <p:spPr>
          <a:xfrm>
            <a:off x="548640" y="516636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DOCENTE</a:t>
            </a:r>
            <a:endParaRPr lang="en-US" sz="1100" dirty="0"/>
          </a:p>
        </p:txBody>
      </p:sp>
      <p:sp>
        <p:nvSpPr>
          <p:cNvPr id="14" name="Text 10"/>
          <p:cNvSpPr txBox="1"/>
          <p:nvPr/>
        </p:nvSpPr>
        <p:spPr>
          <a:xfrm>
            <a:off x="2286000" y="5166360"/>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Dr. César Edwin Guerra Ramos</a:t>
            </a:r>
            <a:endParaRPr lang="en-US" sz="1500" dirty="0"/>
          </a:p>
        </p:txBody>
      </p:sp>
      <p:sp>
        <p:nvSpPr>
          <p:cNvPr id="15" name="Text 11"/>
          <p:cNvSpPr txBox="1"/>
          <p:nvPr/>
        </p:nvSpPr>
        <p:spPr>
          <a:xfrm>
            <a:off x="548640" y="553212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GRUPO</a:t>
            </a:r>
            <a:endParaRPr lang="en-US" sz="1100" dirty="0"/>
          </a:p>
        </p:txBody>
      </p:sp>
      <p:sp>
        <p:nvSpPr>
          <p:cNvPr id="16" name="Text 12"/>
          <p:cNvSpPr txBox="1"/>
          <p:nvPr/>
        </p:nvSpPr>
        <p:spPr>
          <a:xfrm>
            <a:off x="2286000" y="5532120"/>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Único</a:t>
            </a:r>
            <a:endParaRPr lang="en-US" sz="1500" dirty="0"/>
          </a:p>
        </p:txBody>
      </p:sp>
      <p:sp>
        <p:nvSpPr>
          <p:cNvPr id="17" name="Text 13"/>
          <p:cNvSpPr txBox="1"/>
          <p:nvPr/>
        </p:nvSpPr>
        <p:spPr>
          <a:xfrm>
            <a:off x="548640" y="589788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LUGAR</a:t>
            </a:r>
            <a:endParaRPr lang="en-US" sz="1100" dirty="0"/>
          </a:p>
        </p:txBody>
      </p:sp>
      <p:sp>
        <p:nvSpPr>
          <p:cNvPr id="18" name="Text 14"/>
          <p:cNvSpPr txBox="1"/>
          <p:nvPr/>
        </p:nvSpPr>
        <p:spPr>
          <a:xfrm>
            <a:off x="2286000" y="5897880"/>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Puno, Perú · 2026</a:t>
            </a:r>
            <a:endParaRPr lang="en-US" sz="1500" dirty="0"/>
          </a:p>
        </p:txBody>
      </p:sp>
      <p:sp>
        <p:nvSpPr>
          <p:cNvPr id="19" name="Shape 15"/>
          <p:cNvSpPr/>
          <p:nvPr/>
        </p:nvSpPr>
        <p:spPr>
          <a:xfrm>
            <a:off x="7726680" y="1737360"/>
            <a:ext cx="3931920" cy="496062"/>
          </a:xfrm>
          <a:prstGeom prst="rect">
            <a:avLst/>
          </a:prstGeom>
          <a:solidFill>
            <a:srgbClr val="33373E"/>
          </a:solidFill>
          <a:ln w="12700">
            <a:solidFill>
              <a:srgbClr val="5A5F68"/>
            </a:solidFill>
            <a:prstDash val="solid"/>
          </a:ln>
        </p:spPr>
      </p:sp>
      <p:sp>
        <p:nvSpPr>
          <p:cNvPr id="20" name="Text 16"/>
          <p:cNvSpPr txBox="1"/>
          <p:nvPr/>
        </p:nvSpPr>
        <p:spPr>
          <a:xfrm>
            <a:off x="7909560" y="1737360"/>
            <a:ext cx="3566160" cy="49606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21" name="Shape 17"/>
          <p:cNvSpPr/>
          <p:nvPr/>
        </p:nvSpPr>
        <p:spPr>
          <a:xfrm>
            <a:off x="7726680" y="2233422"/>
            <a:ext cx="3931920" cy="850392"/>
          </a:xfrm>
          <a:prstGeom prst="rect">
            <a:avLst/>
          </a:prstGeom>
          <a:solidFill>
            <a:srgbClr val="A8845A"/>
          </a:solidFill>
          <a:ln w="12700">
            <a:solidFill>
              <a:srgbClr val="A8845A"/>
            </a:solidFill>
            <a:prstDash val="solid"/>
          </a:ln>
        </p:spPr>
      </p:sp>
      <p:sp>
        <p:nvSpPr>
          <p:cNvPr id="22" name="Text 18"/>
          <p:cNvSpPr txBox="1"/>
          <p:nvPr/>
        </p:nvSpPr>
        <p:spPr>
          <a:xfrm>
            <a:off x="7909560" y="2233422"/>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23" name="Shape 19"/>
          <p:cNvSpPr/>
          <p:nvPr/>
        </p:nvSpPr>
        <p:spPr>
          <a:xfrm>
            <a:off x="7726680" y="3083814"/>
            <a:ext cx="3931920" cy="850392"/>
          </a:xfrm>
          <a:prstGeom prst="rect">
            <a:avLst/>
          </a:prstGeom>
          <a:solidFill>
            <a:srgbClr val="C9AD84"/>
          </a:solidFill>
          <a:ln w="12700">
            <a:solidFill>
              <a:srgbClr val="C9AD84"/>
            </a:solidFill>
            <a:prstDash val="solid"/>
          </a:ln>
        </p:spPr>
      </p:sp>
      <p:sp>
        <p:nvSpPr>
          <p:cNvPr id="24" name="Text 20"/>
          <p:cNvSpPr txBox="1"/>
          <p:nvPr/>
        </p:nvSpPr>
        <p:spPr>
          <a:xfrm>
            <a:off x="7909560" y="3083814"/>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5" name="Shape 21"/>
          <p:cNvSpPr/>
          <p:nvPr/>
        </p:nvSpPr>
        <p:spPr>
          <a:xfrm>
            <a:off x="7726680" y="3934206"/>
            <a:ext cx="3931920" cy="1062990"/>
          </a:xfrm>
          <a:prstGeom prst="rect">
            <a:avLst/>
          </a:prstGeom>
          <a:solidFill>
            <a:srgbClr val="8A6F52"/>
          </a:solidFill>
          <a:ln w="12700">
            <a:solidFill>
              <a:srgbClr val="8A6F52"/>
            </a:solidFill>
            <a:prstDash val="solid"/>
          </a:ln>
        </p:spPr>
      </p:sp>
      <p:sp>
        <p:nvSpPr>
          <p:cNvPr id="26" name="Text 22"/>
          <p:cNvSpPr txBox="1"/>
          <p:nvPr/>
        </p:nvSpPr>
        <p:spPr>
          <a:xfrm>
            <a:off x="7909560" y="3934206"/>
            <a:ext cx="3566160" cy="106299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7" name="Shape 23"/>
          <p:cNvSpPr/>
          <p:nvPr/>
        </p:nvSpPr>
        <p:spPr>
          <a:xfrm>
            <a:off x="8001000" y="1567282"/>
            <a:ext cx="491490" cy="85039"/>
          </a:xfrm>
          <a:prstGeom prst="rect">
            <a:avLst/>
          </a:prstGeom>
          <a:solidFill>
            <a:srgbClr val="F2B705"/>
          </a:solidFill>
          <a:ln w="12700">
            <a:solidFill>
              <a:srgbClr val="F2B705"/>
            </a:solidFill>
            <a:prstDash val="solid"/>
          </a:ln>
        </p:spPr>
      </p:sp>
      <p:sp>
        <p:nvSpPr>
          <p:cNvPr id="28" name="Shape 24"/>
          <p:cNvSpPr/>
          <p:nvPr/>
        </p:nvSpPr>
        <p:spPr>
          <a:xfrm>
            <a:off x="8983980" y="1567282"/>
            <a:ext cx="491490" cy="85039"/>
          </a:xfrm>
          <a:prstGeom prst="rect">
            <a:avLst/>
          </a:prstGeom>
          <a:solidFill>
            <a:srgbClr val="F2B705"/>
          </a:solidFill>
          <a:ln w="12700">
            <a:solidFill>
              <a:srgbClr val="F2B705"/>
            </a:solidFill>
            <a:prstDash val="solid"/>
          </a:ln>
        </p:spPr>
      </p:sp>
      <p:sp>
        <p:nvSpPr>
          <p:cNvPr id="29" name="Shape 25"/>
          <p:cNvSpPr/>
          <p:nvPr/>
        </p:nvSpPr>
        <p:spPr>
          <a:xfrm>
            <a:off x="9966960" y="1567282"/>
            <a:ext cx="491490" cy="85039"/>
          </a:xfrm>
          <a:prstGeom prst="rect">
            <a:avLst/>
          </a:prstGeom>
          <a:solidFill>
            <a:srgbClr val="F2B705"/>
          </a:solidFill>
          <a:ln w="12700">
            <a:solidFill>
              <a:srgbClr val="F2B705"/>
            </a:solidFill>
            <a:prstDash val="solid"/>
          </a:ln>
        </p:spPr>
      </p:sp>
      <p:sp>
        <p:nvSpPr>
          <p:cNvPr id="30" name="Shape 26"/>
          <p:cNvSpPr/>
          <p:nvPr/>
        </p:nvSpPr>
        <p:spPr>
          <a:xfrm>
            <a:off x="10949940" y="1567282"/>
            <a:ext cx="491490" cy="85039"/>
          </a:xfrm>
          <a:prstGeom prst="rect">
            <a:avLst/>
          </a:prstGeom>
          <a:solidFill>
            <a:srgbClr val="F2B705"/>
          </a:solidFill>
          <a:ln w="12700">
            <a:solidFill>
              <a:srgbClr val="F2B705"/>
            </a:solidFill>
            <a:prstDash val="solid"/>
          </a:ln>
        </p:spPr>
      </p:sp>
      <p:sp>
        <p:nvSpPr>
          <p:cNvPr id="31" name="Text 27"/>
          <p:cNvSpPr txBox="1"/>
          <p:nvPr/>
        </p:nvSpPr>
        <p:spPr>
          <a:xfrm>
            <a:off x="7726680" y="5943600"/>
            <a:ext cx="3931920" cy="274320"/>
          </a:xfrm>
          <a:prstGeom prst="rect">
            <a:avLst/>
          </a:prstGeom>
          <a:noFill/>
          <a:ln/>
        </p:spPr>
        <p:txBody>
          <a:bodyPr wrap="square" lIns="0" tIns="0" rIns="0" bIns="0" rtlCol="0" anchor="ctr"/>
          <a:lstStyle/>
          <a:p>
            <a:pPr algn="ctr" indent="0" marL="0">
              <a:buNone/>
            </a:pPr>
            <a:r>
              <a:rPr lang="en-US" sz="1100" i="1" dirty="0">
                <a:solidFill>
                  <a:srgbClr val="AEB4BC"/>
                </a:solidFill>
                <a:latin typeface="Calibri" pitchFamily="34" charset="0"/>
                <a:ea typeface="Calibri" pitchFamily="34" charset="-122"/>
                <a:cs typeface="Calibri" pitchFamily="34" charset="-120"/>
              </a:rPr>
              <a:t>Sección típica de pavimento flexible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CONTENIDO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Agenda de la exposición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01</a:t>
            </a:r>
            <a:endParaRPr lang="en-US" sz="3000" dirty="0"/>
          </a:p>
        </p:txBody>
      </p:sp>
      <p:sp>
        <p:nvSpPr>
          <p:cNvPr id="7" name="Shape 5"/>
          <p:cNvSpPr/>
          <p:nvPr/>
        </p:nvSpPr>
        <p:spPr>
          <a:xfrm>
            <a:off x="1600200" y="205740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1720901" y="2178101"/>
            <a:ext cx="261518" cy="261518"/>
          </a:xfrm>
          <a:prstGeom prst="rect">
            <a:avLst/>
          </a:prstGeom>
        </p:spPr>
      </p:pic>
      <p:sp>
        <p:nvSpPr>
          <p:cNvPr id="9" name="Text 6"/>
          <p:cNvSpPr txBox="1"/>
          <p:nvPr/>
        </p:nvSpPr>
        <p:spPr>
          <a:xfrm>
            <a:off x="233172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Marco normativo</a:t>
            </a:r>
            <a:endParaRPr lang="en-US" sz="1800" dirty="0"/>
          </a:p>
        </p:txBody>
      </p:sp>
      <p:sp>
        <p:nvSpPr>
          <p:cNvPr id="10" name="Text 7"/>
          <p:cNvSpPr txBox="1"/>
          <p:nvPr/>
        </p:nvSpPr>
        <p:spPr>
          <a:xfrm>
            <a:off x="233172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Documento fuente y variables de diseño (CBR y tráfico)</a:t>
            </a:r>
            <a:endParaRPr lang="en-US" sz="1300" dirty="0"/>
          </a:p>
        </p:txBody>
      </p:sp>
      <p:sp>
        <p:nvSpPr>
          <p:cNvPr id="11" name="Shape 8"/>
          <p:cNvSpPr/>
          <p:nvPr/>
        </p:nvSpPr>
        <p:spPr>
          <a:xfrm>
            <a:off x="617220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2" name="Text 9"/>
          <p:cNvSpPr txBox="1"/>
          <p:nvPr/>
        </p:nvSpPr>
        <p:spPr>
          <a:xfrm>
            <a:off x="644652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02</a:t>
            </a:r>
            <a:endParaRPr lang="en-US" sz="3000" dirty="0"/>
          </a:p>
        </p:txBody>
      </p:sp>
      <p:sp>
        <p:nvSpPr>
          <p:cNvPr id="13" name="Shape 10"/>
          <p:cNvSpPr/>
          <p:nvPr/>
        </p:nvSpPr>
        <p:spPr>
          <a:xfrm>
            <a:off x="7223760" y="2057400"/>
            <a:ext cx="502920" cy="502920"/>
          </a:xfrm>
          <a:prstGeom prst="ellipse">
            <a:avLst/>
          </a:prstGeom>
          <a:solidFill>
            <a:srgbClr val="F2B705"/>
          </a:solidFill>
          <a:ln w="12700">
            <a:solidFill>
              <a:srgbClr val="F2B705"/>
            </a:solidFill>
            <a:prstDash val="solid"/>
          </a:ln>
        </p:spPr>
      </p:sp>
      <p:pic>
        <p:nvPicPr>
          <p:cNvPr id="14" name="Image 1" descr="preencoded.png">    </p:cNvPr>
          <p:cNvPicPr>
            <a:picLocks noChangeAspect="1"/>
          </p:cNvPicPr>
          <p:nvPr/>
        </p:nvPicPr>
        <p:blipFill>
          <a:blip r:embed="rId2"/>
          <a:stretch>
            <a:fillRect/>
          </a:stretch>
        </p:blipFill>
        <p:spPr>
          <a:xfrm>
            <a:off x="7344461" y="2178101"/>
            <a:ext cx="261518" cy="261518"/>
          </a:xfrm>
          <a:prstGeom prst="rect">
            <a:avLst/>
          </a:prstGeom>
        </p:spPr>
      </p:pic>
      <p:sp>
        <p:nvSpPr>
          <p:cNvPr id="15" name="Text 11"/>
          <p:cNvSpPr txBox="1"/>
          <p:nvPr/>
        </p:nvSpPr>
        <p:spPr>
          <a:xfrm>
            <a:off x="795528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Espesores mínimos</a:t>
            </a:r>
            <a:endParaRPr lang="en-US" sz="1800" dirty="0"/>
          </a:p>
        </p:txBody>
      </p:sp>
      <p:sp>
        <p:nvSpPr>
          <p:cNvPr id="16" name="Text 12"/>
          <p:cNvSpPr txBox="1"/>
          <p:nvPr/>
        </p:nvSpPr>
        <p:spPr>
          <a:xfrm>
            <a:off x="795528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12.17 — calzada según tráfico</a:t>
            </a:r>
            <a:endParaRPr lang="en-US" sz="1300" dirty="0"/>
          </a:p>
        </p:txBody>
      </p:sp>
      <p:sp>
        <p:nvSpPr>
          <p:cNvPr id="17" name="Shape 13"/>
          <p:cNvSpPr/>
          <p:nvPr/>
        </p:nvSpPr>
        <p:spPr>
          <a:xfrm>
            <a:off x="54864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8" name="Text 14"/>
          <p:cNvSpPr txBox="1"/>
          <p:nvPr/>
        </p:nvSpPr>
        <p:spPr>
          <a:xfrm>
            <a:off x="82296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03</a:t>
            </a:r>
            <a:endParaRPr lang="en-US" sz="3000" dirty="0"/>
          </a:p>
        </p:txBody>
      </p:sp>
      <p:sp>
        <p:nvSpPr>
          <p:cNvPr id="19" name="Shape 15"/>
          <p:cNvSpPr/>
          <p:nvPr/>
        </p:nvSpPr>
        <p:spPr>
          <a:xfrm>
            <a:off x="1600200" y="3520440"/>
            <a:ext cx="502920" cy="502920"/>
          </a:xfrm>
          <a:prstGeom prst="ellipse">
            <a:avLst/>
          </a:prstGeom>
          <a:solidFill>
            <a:srgbClr val="F2B705"/>
          </a:solidFill>
          <a:ln w="12700">
            <a:solidFill>
              <a:srgbClr val="F2B705"/>
            </a:solidFill>
            <a:prstDash val="solid"/>
          </a:ln>
        </p:spPr>
      </p:sp>
      <p:pic>
        <p:nvPicPr>
          <p:cNvPr id="20" name="Image 2" descr="preencoded.png">    </p:cNvPr>
          <p:cNvPicPr>
            <a:picLocks noChangeAspect="1"/>
          </p:cNvPicPr>
          <p:nvPr/>
        </p:nvPicPr>
        <p:blipFill>
          <a:blip r:embed="rId3"/>
          <a:stretch>
            <a:fillRect/>
          </a:stretch>
        </p:blipFill>
        <p:spPr>
          <a:xfrm>
            <a:off x="1720901" y="3641141"/>
            <a:ext cx="261518" cy="261518"/>
          </a:xfrm>
          <a:prstGeom prst="rect">
            <a:avLst/>
          </a:prstGeom>
        </p:spPr>
      </p:pic>
      <p:sp>
        <p:nvSpPr>
          <p:cNvPr id="21" name="Text 16"/>
          <p:cNvSpPr txBox="1"/>
          <p:nvPr/>
        </p:nvSpPr>
        <p:spPr>
          <a:xfrm>
            <a:off x="233172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Números Estructurales (SN)</a:t>
            </a:r>
            <a:endParaRPr lang="en-US" sz="1800" dirty="0"/>
          </a:p>
        </p:txBody>
      </p:sp>
      <p:sp>
        <p:nvSpPr>
          <p:cNvPr id="22" name="Text 17"/>
          <p:cNvSpPr txBox="1"/>
          <p:nvPr/>
        </p:nvSpPr>
        <p:spPr>
          <a:xfrm>
            <a:off x="233172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Catálogos por tráfico y subrasante</a:t>
            </a:r>
            <a:endParaRPr lang="en-US" sz="1300" dirty="0"/>
          </a:p>
        </p:txBody>
      </p:sp>
      <p:sp>
        <p:nvSpPr>
          <p:cNvPr id="23" name="Shape 18"/>
          <p:cNvSpPr/>
          <p:nvPr/>
        </p:nvSpPr>
        <p:spPr>
          <a:xfrm>
            <a:off x="617220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4" name="Text 19"/>
          <p:cNvSpPr txBox="1"/>
          <p:nvPr/>
        </p:nvSpPr>
        <p:spPr>
          <a:xfrm>
            <a:off x="644652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04</a:t>
            </a:r>
            <a:endParaRPr lang="en-US" sz="3000" dirty="0"/>
          </a:p>
        </p:txBody>
      </p:sp>
      <p:sp>
        <p:nvSpPr>
          <p:cNvPr id="25" name="Shape 20"/>
          <p:cNvSpPr/>
          <p:nvPr/>
        </p:nvSpPr>
        <p:spPr>
          <a:xfrm>
            <a:off x="7223760" y="3520440"/>
            <a:ext cx="502920" cy="502920"/>
          </a:xfrm>
          <a:prstGeom prst="ellipse">
            <a:avLst/>
          </a:prstGeom>
          <a:solidFill>
            <a:srgbClr val="F2B705"/>
          </a:solidFill>
          <a:ln w="12700">
            <a:solidFill>
              <a:srgbClr val="F2B705"/>
            </a:solidFill>
            <a:prstDash val="solid"/>
          </a:ln>
        </p:spPr>
      </p:sp>
      <p:pic>
        <p:nvPicPr>
          <p:cNvPr id="26" name="Image 3" descr="preencoded.png">    </p:cNvPr>
          <p:cNvPicPr>
            <a:picLocks noChangeAspect="1"/>
          </p:cNvPicPr>
          <p:nvPr/>
        </p:nvPicPr>
        <p:blipFill>
          <a:blip r:embed="rId4"/>
          <a:stretch>
            <a:fillRect/>
          </a:stretch>
        </p:blipFill>
        <p:spPr>
          <a:xfrm>
            <a:off x="7344461" y="3641141"/>
            <a:ext cx="261518" cy="261518"/>
          </a:xfrm>
          <a:prstGeom prst="rect">
            <a:avLst/>
          </a:prstGeom>
        </p:spPr>
      </p:pic>
      <p:sp>
        <p:nvSpPr>
          <p:cNvPr id="27" name="Text 21"/>
          <p:cNvSpPr txBox="1"/>
          <p:nvPr/>
        </p:nvSpPr>
        <p:spPr>
          <a:xfrm>
            <a:off x="795528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Limitaciones de uso</a:t>
            </a:r>
            <a:endParaRPr lang="en-US" sz="1800" dirty="0"/>
          </a:p>
        </p:txBody>
      </p:sp>
      <p:sp>
        <p:nvSpPr>
          <p:cNvPr id="28" name="Text 22"/>
          <p:cNvSpPr txBox="1"/>
          <p:nvPr/>
        </p:nvSpPr>
        <p:spPr>
          <a:xfrm>
            <a:off x="795528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12.18 — tránsito y geometría</a:t>
            </a:r>
            <a:endParaRPr lang="en-US" sz="1300" dirty="0"/>
          </a:p>
        </p:txBody>
      </p:sp>
      <p:sp>
        <p:nvSpPr>
          <p:cNvPr id="29" name="Shape 23"/>
          <p:cNvSpPr/>
          <p:nvPr/>
        </p:nvSpPr>
        <p:spPr>
          <a:xfrm>
            <a:off x="54864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0" name="Text 24"/>
          <p:cNvSpPr txBox="1"/>
          <p:nvPr/>
        </p:nvSpPr>
        <p:spPr>
          <a:xfrm>
            <a:off x="82296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05</a:t>
            </a:r>
            <a:endParaRPr lang="en-US" sz="3000" dirty="0"/>
          </a:p>
        </p:txBody>
      </p:sp>
      <p:sp>
        <p:nvSpPr>
          <p:cNvPr id="31" name="Shape 25"/>
          <p:cNvSpPr/>
          <p:nvPr/>
        </p:nvSpPr>
        <p:spPr>
          <a:xfrm>
            <a:off x="1600200" y="4983480"/>
            <a:ext cx="502920" cy="502920"/>
          </a:xfrm>
          <a:prstGeom prst="ellipse">
            <a:avLst/>
          </a:prstGeom>
          <a:solidFill>
            <a:srgbClr val="F2B705"/>
          </a:solidFill>
          <a:ln w="12700">
            <a:solidFill>
              <a:srgbClr val="F2B705"/>
            </a:solidFill>
            <a:prstDash val="solid"/>
          </a:ln>
        </p:spPr>
      </p:sp>
      <p:pic>
        <p:nvPicPr>
          <p:cNvPr id="32" name="Image 4" descr="preencoded.png">    </p:cNvPr>
          <p:cNvPicPr>
            <a:picLocks noChangeAspect="1"/>
          </p:cNvPicPr>
          <p:nvPr/>
        </p:nvPicPr>
        <p:blipFill>
          <a:blip r:embed="rId5"/>
          <a:stretch>
            <a:fillRect/>
          </a:stretch>
        </p:blipFill>
        <p:spPr>
          <a:xfrm>
            <a:off x="1720901" y="5104181"/>
            <a:ext cx="261518" cy="261518"/>
          </a:xfrm>
          <a:prstGeom prst="rect">
            <a:avLst/>
          </a:prstGeom>
        </p:spPr>
      </p:pic>
      <p:sp>
        <p:nvSpPr>
          <p:cNvPr id="33" name="Text 26"/>
          <p:cNvSpPr txBox="1"/>
          <p:nvPr/>
        </p:nvSpPr>
        <p:spPr>
          <a:xfrm>
            <a:off x="233172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Periodos de diseño</a:t>
            </a:r>
            <a:endParaRPr lang="en-US" sz="1800" dirty="0"/>
          </a:p>
        </p:txBody>
      </p:sp>
      <p:sp>
        <p:nvSpPr>
          <p:cNvPr id="34" name="Text 27"/>
          <p:cNvSpPr txBox="1"/>
          <p:nvPr/>
        </p:nvSpPr>
        <p:spPr>
          <a:xfrm>
            <a:off x="233172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10 años, 20 años en 2 etapas, 20 años en 1 etapa</a:t>
            </a:r>
            <a:endParaRPr lang="en-US" sz="1300" dirty="0"/>
          </a:p>
        </p:txBody>
      </p:sp>
      <p:sp>
        <p:nvSpPr>
          <p:cNvPr id="35" name="Shape 28"/>
          <p:cNvSpPr/>
          <p:nvPr/>
        </p:nvSpPr>
        <p:spPr>
          <a:xfrm>
            <a:off x="617220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6" name="Text 29"/>
          <p:cNvSpPr txBox="1"/>
          <p:nvPr/>
        </p:nvSpPr>
        <p:spPr>
          <a:xfrm>
            <a:off x="644652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06</a:t>
            </a:r>
            <a:endParaRPr lang="en-US" sz="3000" dirty="0"/>
          </a:p>
        </p:txBody>
      </p:sp>
      <p:sp>
        <p:nvSpPr>
          <p:cNvPr id="37" name="Shape 30"/>
          <p:cNvSpPr/>
          <p:nvPr/>
        </p:nvSpPr>
        <p:spPr>
          <a:xfrm>
            <a:off x="7223760" y="4983480"/>
            <a:ext cx="502920" cy="502920"/>
          </a:xfrm>
          <a:prstGeom prst="ellipse">
            <a:avLst/>
          </a:prstGeom>
          <a:solidFill>
            <a:srgbClr val="F2B705"/>
          </a:solidFill>
          <a:ln w="12700">
            <a:solidFill>
              <a:srgbClr val="F2B705"/>
            </a:solidFill>
            <a:prstDash val="solid"/>
          </a:ln>
        </p:spPr>
      </p:sp>
      <p:pic>
        <p:nvPicPr>
          <p:cNvPr id="38" name="Image 5" descr="preencoded.png">    </p:cNvPr>
          <p:cNvPicPr>
            <a:picLocks noChangeAspect="1"/>
          </p:cNvPicPr>
          <p:nvPr/>
        </p:nvPicPr>
        <p:blipFill>
          <a:blip r:embed="rId6"/>
          <a:stretch>
            <a:fillRect/>
          </a:stretch>
        </p:blipFill>
        <p:spPr>
          <a:xfrm>
            <a:off x="7344461" y="5104181"/>
            <a:ext cx="261518" cy="261518"/>
          </a:xfrm>
          <a:prstGeom prst="rect">
            <a:avLst/>
          </a:prstGeom>
        </p:spPr>
      </p:pic>
      <p:sp>
        <p:nvSpPr>
          <p:cNvPr id="39" name="Text 31"/>
          <p:cNvSpPr txBox="1"/>
          <p:nvPr/>
        </p:nvSpPr>
        <p:spPr>
          <a:xfrm>
            <a:off x="795528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Bermas</a:t>
            </a:r>
            <a:endParaRPr lang="en-US" sz="1800" dirty="0"/>
          </a:p>
        </p:txBody>
      </p:sp>
      <p:sp>
        <p:nvSpPr>
          <p:cNvPr id="40" name="Text 32"/>
          <p:cNvSpPr txBox="1"/>
          <p:nvPr/>
        </p:nvSpPr>
        <p:spPr>
          <a:xfrm>
            <a:off x="795528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Criterios de diseño y Cuadro 12.19</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MARCO NORMATIVO · VARIABLES DE DISEÑO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De dónde viene y qué gobierna la sección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3291840" cy="448056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548640" cy="548640"/>
          </a:xfrm>
          <a:prstGeom prst="ellipse">
            <a:avLst/>
          </a:prstGeom>
          <a:solidFill>
            <a:srgbClr val="F2B705"/>
          </a:solidFill>
          <a:ln w="12700">
            <a:solidFill>
              <a:srgbClr val="F2B705"/>
            </a:solidFill>
            <a:prstDash val="solid"/>
          </a:ln>
        </p:spPr>
      </p:sp>
      <p:pic>
        <p:nvPicPr>
          <p:cNvPr id="7" name="Image 0" descr="preencoded.png">    </p:cNvPr>
          <p:cNvPicPr>
            <a:picLocks noChangeAspect="1"/>
          </p:cNvPicPr>
          <p:nvPr/>
        </p:nvPicPr>
        <p:blipFill>
          <a:blip r:embed="rId1"/>
          <a:stretch>
            <a:fillRect/>
          </a:stretch>
        </p:blipFill>
        <p:spPr>
          <a:xfrm>
            <a:off x="954634" y="1914754"/>
            <a:ext cx="285293" cy="285293"/>
          </a:xfrm>
          <a:prstGeom prst="rect">
            <a:avLst/>
          </a:prstGeom>
        </p:spPr>
      </p:pic>
      <p:sp>
        <p:nvSpPr>
          <p:cNvPr id="8" name="Text 5"/>
          <p:cNvSpPr txBox="1"/>
          <p:nvPr/>
        </p:nvSpPr>
        <p:spPr>
          <a:xfrm>
            <a:off x="822960" y="2514600"/>
            <a:ext cx="2743200" cy="3291840"/>
          </a:xfrm>
          <a:prstGeom prst="rect">
            <a:avLst/>
          </a:prstGeom>
          <a:noFill/>
          <a:ln/>
        </p:spPr>
        <p:txBody>
          <a:bodyPr wrap="square" lIns="0" tIns="0" rIns="0" bIns="0" rtlCol="0" anchor="t"/>
          <a:lstStyle/>
          <a:p>
            <a:pPr indent="0" marL="0">
              <a:buNone/>
            </a:pPr>
            <a:r>
              <a:rPr lang="en-US" sz="1200" b="1" dirty="0">
                <a:solidFill>
                  <a:srgbClr val="F2B705"/>
                </a:solidFill>
                <a:latin typeface="Calibri" pitchFamily="34" charset="0"/>
                <a:ea typeface="Calibri" pitchFamily="34" charset="-122"/>
                <a:cs typeface="Calibri" pitchFamily="34" charset="-120"/>
              </a:rPr>
              <a:t>Documento</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Manual de Carreteras: Suelos, Geología, Geotecnia y Pavimentos</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MTC – DGCF, abril 2014</a:t>
            </a:r>
            <a:endParaRPr lang="en-US" sz="12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2B705"/>
                </a:solidFill>
                <a:latin typeface="Calibri" pitchFamily="34" charset="0"/>
                <a:ea typeface="Calibri" pitchFamily="34" charset="-122"/>
                <a:cs typeface="Calibri" pitchFamily="34" charset="-120"/>
              </a:rPr>
              <a:t>Ubicación</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Capítulo 12 — Estructuras de Pavimento Flexible</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págs. 145 – 165</a:t>
            </a:r>
            <a:endParaRPr lang="en-US" sz="1200" dirty="0"/>
          </a:p>
        </p:txBody>
      </p:sp>
      <p:sp>
        <p:nvSpPr>
          <p:cNvPr id="9" name="Text 6"/>
          <p:cNvSpPr txBox="1"/>
          <p:nvPr/>
        </p:nvSpPr>
        <p:spPr>
          <a:xfrm>
            <a:off x="4160520" y="1554480"/>
            <a:ext cx="713232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Dos variables gobiernan la sección:</a:t>
            </a:r>
            <a:endParaRPr lang="en-US" sz="1500" dirty="0"/>
          </a:p>
        </p:txBody>
      </p:sp>
      <p:sp>
        <p:nvSpPr>
          <p:cNvPr id="10" name="Text 7"/>
          <p:cNvSpPr txBox="1"/>
          <p:nvPr/>
        </p:nvSpPr>
        <p:spPr>
          <a:xfrm>
            <a:off x="4160520" y="1965960"/>
            <a:ext cx="356616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① Subrasante (CBR)</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60520" y="2331720"/>
          <a:ext cx="9144000" cy="914400"/>
        </p:xfrm>
        <a:graphic>
          <a:graphicData uri="http://schemas.openxmlformats.org/drawingml/2006/table">
            <a:tbl>
              <a:tblPr/>
              <a:tblGrid>
                <a:gridCol w="1463040"/>
                <a:gridCol w="192024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Categoría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Rango CBR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Inadecuada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&lt; 3 %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Pobre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3 % ≤ CBR &lt; 6 %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Regular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6 % ≤ CBR &lt; 10 %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10 % ≤ CBR &lt; 20 %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Muy 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20 % ≤ CBR &lt;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Excelente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2" name="Text 8"/>
          <p:cNvSpPr txBox="1"/>
          <p:nvPr/>
        </p:nvSpPr>
        <p:spPr>
          <a:xfrm>
            <a:off x="7818120" y="1965960"/>
            <a:ext cx="374904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② Tráfico (Ejes Equivalentes)</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818120" y="2331720"/>
          <a:ext cx="9144000" cy="914400"/>
        </p:xfrm>
        <a:graphic>
          <a:graphicData uri="http://schemas.openxmlformats.org/drawingml/2006/table">
            <a:tbl>
              <a:tblPr/>
              <a:tblGrid>
                <a:gridCol w="1234440"/>
                <a:gridCol w="22402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EE carril de diseño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75,001 – 150,000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 – TP4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150,001 – 1'000,000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TP5 – TP9</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1'000,001 – 10'000,000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TP10 – TP14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10'000,001 – 30'000,000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4" name="Text 9"/>
          <p:cNvSpPr txBox="1"/>
          <p:nvPr/>
        </p:nvSpPr>
        <p:spPr>
          <a:xfrm>
            <a:off x="7818120" y="4114800"/>
            <a:ext cx="3474720" cy="274320"/>
          </a:xfrm>
          <a:prstGeom prst="rect">
            <a:avLst/>
          </a:prstGeom>
          <a:noFill/>
          <a:ln/>
        </p:spPr>
        <p:txBody>
          <a:bodyPr wrap="square" lIns="0" tIns="0" rIns="0" bIns="0" rtlCol="0" anchor="ctr"/>
          <a:lstStyle/>
          <a:p>
            <a:pPr indent="0" marL="0">
              <a:buNone/>
            </a:pPr>
            <a:r>
              <a:rPr lang="en-US" sz="1100" i="1" dirty="0">
                <a:solidFill>
                  <a:srgbClr val="5F6670"/>
                </a:solidFill>
                <a:latin typeface="Calibri" pitchFamily="34" charset="0"/>
                <a:ea typeface="Calibri" pitchFamily="34" charset="-122"/>
                <a:cs typeface="Calibri" pitchFamily="34" charset="-120"/>
              </a:rPr>
              <a:t>TP1 – TP4 = caminos de bajo volumen de tránsito</a:t>
            </a:r>
            <a:endParaRPr lang="en-US" sz="1100" dirty="0"/>
          </a:p>
        </p:txBody>
      </p:sp>
      <p:sp>
        <p:nvSpPr>
          <p:cNvPr id="15" name="Shape 10"/>
          <p:cNvSpPr/>
          <p:nvPr/>
        </p:nvSpPr>
        <p:spPr>
          <a:xfrm>
            <a:off x="4160520" y="4983480"/>
            <a:ext cx="7132320" cy="1051560"/>
          </a:xfrm>
          <a:prstGeom prst="rect">
            <a:avLst/>
          </a:prstGeom>
          <a:solidFill>
            <a:srgbClr val="DCE5EE"/>
          </a:solidFill>
          <a:ln w="12700">
            <a:solidFill>
              <a:srgbClr val="DCE5EE"/>
            </a:solidFill>
            <a:prstDash val="solid"/>
          </a:ln>
        </p:spPr>
      </p:sp>
      <p:sp>
        <p:nvSpPr>
          <p:cNvPr id="16" name="Text 11"/>
          <p:cNvSpPr txBox="1"/>
          <p:nvPr/>
        </p:nvSpPr>
        <p:spPr>
          <a:xfrm>
            <a:off x="4434840" y="4983480"/>
            <a:ext cx="6675120" cy="1051560"/>
          </a:xfrm>
          <a:prstGeom prst="rect">
            <a:avLst/>
          </a:prstGeom>
          <a:noFill/>
          <a:ln/>
        </p:spPr>
        <p:txBody>
          <a:bodyPr wrap="square" lIns="0" tIns="0" rIns="0" bIns="0" rtlCol="0" anchor="ctr"/>
          <a:lstStyle/>
          <a:p>
            <a:pPr indent="0" marL="0">
              <a:buNone/>
            </a:pPr>
            <a:r>
              <a:rPr lang="en-US" sz="1600" b="1" dirty="0">
                <a:solidFill>
                  <a:srgbClr val="3E6283"/>
                </a:solidFill>
                <a:latin typeface="Calibri" pitchFamily="34" charset="0"/>
                <a:ea typeface="Calibri" pitchFamily="34" charset="-122"/>
                <a:cs typeface="Calibri" pitchFamily="34" charset="-120"/>
              </a:rPr>
              <a:t>Regla práctica: </a:t>
            </a:r>
            <a:pPr indent="0" marL="0">
              <a:buNone/>
            </a:pPr>
            <a:r>
              <a:rPr lang="en-US" sz="1600" dirty="0">
                <a:solidFill>
                  <a:srgbClr val="1F2328"/>
                </a:solidFill>
                <a:latin typeface="Calibri" pitchFamily="34" charset="0"/>
                <a:ea typeface="Calibri" pitchFamily="34" charset="-122"/>
                <a:cs typeface="Calibri" pitchFamily="34" charset="-120"/>
              </a:rPr>
              <a:t>a mayor CBR y menor tráfico → menor espesor estructural requerido, y viceversa.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12.17</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1554480"/>
            <a:ext cx="5394960" cy="32461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1188720" cy="365760"/>
          </a:xfrm>
          <a:prstGeom prst="roundRect">
            <a:avLst>
              <a:gd name="adj" fmla="val 50000"/>
            </a:avLst>
          </a:prstGeom>
          <a:solidFill>
            <a:srgbClr val="3E6283"/>
          </a:solidFill>
          <a:ln w="12700">
            <a:solidFill>
              <a:srgbClr val="3E6283"/>
            </a:solidFill>
            <a:prstDash val="solid"/>
          </a:ln>
        </p:spPr>
      </p:sp>
      <p:sp>
        <p:nvSpPr>
          <p:cNvPr id="7" name="Text 5"/>
          <p:cNvSpPr txBox="1"/>
          <p:nvPr/>
        </p:nvSpPr>
        <p:spPr>
          <a:xfrm>
            <a:off x="822960" y="1783080"/>
            <a:ext cx="11887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1M EE</a:t>
            </a:r>
            <a:endParaRPr lang="en-US" sz="1300" dirty="0"/>
          </a:p>
        </p:txBody>
      </p:sp>
      <p:sp>
        <p:nvSpPr>
          <p:cNvPr id="8" name="Text 6"/>
          <p:cNvSpPr txBox="1"/>
          <p:nvPr/>
        </p:nvSpPr>
        <p:spPr>
          <a:xfrm>
            <a:off x="2194560" y="1783080"/>
            <a:ext cx="3566160" cy="36576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Caminos de bajo volumen</a:t>
            </a:r>
            <a:endParaRPr lang="en-US" sz="1800" dirty="0"/>
          </a:p>
        </p:txBody>
      </p:sp>
      <p:sp>
        <p:nvSpPr>
          <p:cNvPr id="9" name="Text 7"/>
          <p:cNvSpPr txBox="1"/>
          <p:nvPr/>
        </p:nvSpPr>
        <p:spPr>
          <a:xfrm>
            <a:off x="822960" y="2240280"/>
            <a:ext cx="4846320" cy="274320"/>
          </a:xfrm>
          <a:prstGeom prst="rect">
            <a:avLst/>
          </a:prstGeom>
          <a:noFill/>
          <a:ln/>
        </p:spPr>
        <p:txBody>
          <a:bodyPr wrap="square" lIns="0" tIns="0" rIns="0" bIns="0" rtlCol="0" anchor="ctr"/>
          <a:lstStyle/>
          <a:p>
            <a:pPr indent="0" marL="0">
              <a:buNone/>
            </a:pPr>
            <a:r>
              <a:rPr lang="en-US" sz="1200" dirty="0">
                <a:solidFill>
                  <a:srgbClr val="5F6670"/>
                </a:solidFill>
                <a:latin typeface="Calibri" pitchFamily="34" charset="0"/>
                <a:ea typeface="Calibri" pitchFamily="34" charset="-122"/>
                <a:cs typeface="Calibri" pitchFamily="34" charset="-120"/>
              </a:rPr>
              <a:t>TP1 – TP4 · 150,001 a 1'000,000 EE</a:t>
            </a:r>
            <a:endParaRPr lang="en-US" sz="1200" dirty="0"/>
          </a:p>
        </p:txBody>
      </p:sp>
      <p:sp>
        <p:nvSpPr>
          <p:cNvPr id="10" name="Text 8"/>
          <p:cNvSpPr txBox="1"/>
          <p:nvPr/>
        </p:nvSpPr>
        <p:spPr>
          <a:xfrm>
            <a:off x="822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TSB o lechada asfáltica — 12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Micropavimento — 25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frío — 50 a 70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caliente — 50 a 80 mm</a:t>
            </a:r>
            <a:endParaRPr lang="en-US" sz="1500" dirty="0"/>
          </a:p>
          <a:p>
            <a:pPr marL="342900" indent="-342900">
              <a:spcAft>
                <a:spcPts val="400"/>
              </a:spcAft>
              <a:buSzPct val="100000"/>
              <a:buChar char="•"/>
            </a:pPr>
            <a:r>
              <a:rPr lang="en-US" sz="1500" b="1" dirty="0">
                <a:solidFill>
                  <a:srgbClr val="3E6283"/>
                </a:solidFill>
                <a:latin typeface="Calibri" pitchFamily="34" charset="0"/>
                <a:ea typeface="Calibri" pitchFamily="34" charset="-122"/>
                <a:cs typeface="Calibri" pitchFamily="34" charset="-120"/>
              </a:rPr>
              <a:t>Base granular: 150 mm (200 mm en TP4)</a:t>
            </a:r>
            <a:endParaRPr lang="en-US" sz="1500" dirty="0"/>
          </a:p>
        </p:txBody>
      </p:sp>
      <p:sp>
        <p:nvSpPr>
          <p:cNvPr id="11" name="Shape 9"/>
          <p:cNvSpPr/>
          <p:nvPr/>
        </p:nvSpPr>
        <p:spPr>
          <a:xfrm>
            <a:off x="6263640" y="1554480"/>
            <a:ext cx="5394960" cy="324612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2" name="Shape 10"/>
          <p:cNvSpPr/>
          <p:nvPr/>
        </p:nvSpPr>
        <p:spPr>
          <a:xfrm>
            <a:off x="6537960" y="1783080"/>
            <a:ext cx="1188720" cy="365760"/>
          </a:xfrm>
          <a:prstGeom prst="roundRect">
            <a:avLst>
              <a:gd name="adj" fmla="val 50000"/>
            </a:avLst>
          </a:prstGeom>
          <a:solidFill>
            <a:srgbClr val="F2B705"/>
          </a:solidFill>
          <a:ln w="12700">
            <a:solidFill>
              <a:srgbClr val="F2B705"/>
            </a:solidFill>
            <a:prstDash val="solid"/>
          </a:ln>
        </p:spPr>
      </p:sp>
      <p:sp>
        <p:nvSpPr>
          <p:cNvPr id="13" name="Text 11"/>
          <p:cNvSpPr txBox="1"/>
          <p:nvPr/>
        </p:nvSpPr>
        <p:spPr>
          <a:xfrm>
            <a:off x="6537960" y="1783080"/>
            <a:ext cx="1188720" cy="365760"/>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&gt; 1M EE</a:t>
            </a:r>
            <a:endParaRPr lang="en-US" sz="1300" dirty="0"/>
          </a:p>
        </p:txBody>
      </p:sp>
      <p:sp>
        <p:nvSpPr>
          <p:cNvPr id="14" name="Text 12"/>
          <p:cNvSpPr txBox="1"/>
          <p:nvPr/>
        </p:nvSpPr>
        <p:spPr>
          <a:xfrm>
            <a:off x="7909560" y="1783080"/>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Resto de caminos</a:t>
            </a:r>
            <a:endParaRPr lang="en-US" sz="1800" dirty="0"/>
          </a:p>
        </p:txBody>
      </p:sp>
      <p:sp>
        <p:nvSpPr>
          <p:cNvPr id="15" name="Text 13"/>
          <p:cNvSpPr txBox="1"/>
          <p:nvPr/>
        </p:nvSpPr>
        <p:spPr>
          <a:xfrm>
            <a:off x="6537960" y="2240280"/>
            <a:ext cx="4846320" cy="274320"/>
          </a:xfrm>
          <a:prstGeom prst="rect">
            <a:avLst/>
          </a:prstGeom>
          <a:noFill/>
          <a:ln/>
        </p:spPr>
        <p:txBody>
          <a:bodyPr wrap="square" lIns="0" tIns="0" rIns="0" bIns="0" rtlCol="0" anchor="ctr"/>
          <a:lstStyle/>
          <a:p>
            <a:pPr indent="0" marL="0">
              <a:buNone/>
            </a:pPr>
            <a:r>
              <a:rPr lang="en-US" sz="1200" dirty="0">
                <a:solidFill>
                  <a:srgbClr val="AEB4BC"/>
                </a:solidFill>
                <a:latin typeface="Calibri" pitchFamily="34" charset="0"/>
                <a:ea typeface="Calibri" pitchFamily="34" charset="-122"/>
                <a:cs typeface="Calibri" pitchFamily="34" charset="-120"/>
              </a:rPr>
              <a:t>TP5 – TP14 · 1'000,001 a 30'000,000 EE</a:t>
            </a:r>
            <a:endParaRPr lang="en-US" sz="1200" dirty="0"/>
          </a:p>
        </p:txBody>
      </p:sp>
      <p:sp>
        <p:nvSpPr>
          <p:cNvPr id="16" name="Text 14"/>
          <p:cNvSpPr txBox="1"/>
          <p:nvPr/>
        </p:nvSpPr>
        <p:spPr>
          <a:xfrm>
            <a:off x="6537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Capa única: carpeta asfáltica en caliente</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Espesor: 80 mm (TP5) → 150 mm (TP13–TP14)</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Base granular: 200 mm (TP5–TP7) → 300 mm (TP13–TP14)</a:t>
            </a:r>
            <a:endParaRPr lang="en-US" sz="1500" dirty="0"/>
          </a:p>
          <a:p>
            <a:pPr marL="342900" indent="-342900">
              <a:spcAft>
                <a:spcPts val="400"/>
              </a:spcAft>
              <a:buSzPct val="100000"/>
              <a:buChar char="•"/>
            </a:pPr>
            <a:r>
              <a:rPr lang="en-US" sz="1500" dirty="0">
                <a:solidFill>
                  <a:srgbClr val="F2B705"/>
                </a:solidFill>
                <a:latin typeface="Calibri" pitchFamily="34" charset="0"/>
                <a:ea typeface="Calibri" pitchFamily="34" charset="-122"/>
                <a:cs typeface="Calibri" pitchFamily="34" charset="-120"/>
              </a:rPr>
              <a:t>Crece de forma continua con el tráfico</a:t>
            </a:r>
            <a:endParaRPr lang="en-US" sz="1500" dirty="0"/>
          </a:p>
        </p:txBody>
      </p:sp>
      <p:sp>
        <p:nvSpPr>
          <p:cNvPr id="17" name="Text 15"/>
          <p:cNvSpPr txBox="1"/>
          <p:nvPr/>
        </p:nvSpPr>
        <p:spPr>
          <a:xfrm>
            <a:off x="548640" y="5120640"/>
            <a:ext cx="3108960" cy="914400"/>
          </a:xfrm>
          <a:prstGeom prst="rect">
            <a:avLst/>
          </a:prstGeom>
          <a:noFill/>
          <a:ln/>
        </p:spPr>
        <p:txBody>
          <a:bodyPr wrap="square" lIns="0" tIns="0" rIns="0" bIns="0" rtlCol="0" anchor="ctr"/>
          <a:lstStyle/>
          <a:p>
            <a:pPr indent="0" marL="0">
              <a:buNone/>
            </a:pPr>
            <a:r>
              <a:rPr lang="en-US" sz="1300" b="1" spc="200" kern="0" dirty="0">
                <a:solidFill>
                  <a:srgbClr val="3E6283"/>
                </a:solidFill>
                <a:latin typeface="Calibri" pitchFamily="34" charset="0"/>
                <a:ea typeface="Calibri" pitchFamily="34" charset="-122"/>
                <a:cs typeface="Calibri" pitchFamily="34" charset="-120"/>
              </a:rPr>
              <a:t>ESPESOR MÍNIMO CONSTRUCTIVO</a:t>
            </a:r>
            <a:endParaRPr lang="en-US" sz="1300" dirty="0"/>
          </a:p>
        </p:txBody>
      </p:sp>
      <p:sp>
        <p:nvSpPr>
          <p:cNvPr id="18" name="Text 16"/>
          <p:cNvSpPr txBox="1"/>
          <p:nvPr/>
        </p:nvSpPr>
        <p:spPr>
          <a:xfrm>
            <a:off x="36576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40 mm</a:t>
            </a:r>
            <a:endParaRPr lang="en-US" sz="3400" dirty="0"/>
          </a:p>
        </p:txBody>
      </p:sp>
      <p:sp>
        <p:nvSpPr>
          <p:cNvPr id="19" name="Text 17"/>
          <p:cNvSpPr txBox="1"/>
          <p:nvPr/>
        </p:nvSpPr>
        <p:spPr>
          <a:xfrm>
            <a:off x="59436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 superficial (carpeta en caliente)</a:t>
            </a:r>
            <a:endParaRPr lang="en-US" sz="1300" dirty="0"/>
          </a:p>
        </p:txBody>
      </p:sp>
      <p:sp>
        <p:nvSpPr>
          <p:cNvPr id="20" name="Text 18"/>
          <p:cNvSpPr txBox="1"/>
          <p:nvPr/>
        </p:nvSpPr>
        <p:spPr>
          <a:xfrm>
            <a:off x="77724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150 mm</a:t>
            </a:r>
            <a:endParaRPr lang="en-US" sz="3400" dirty="0"/>
          </a:p>
        </p:txBody>
      </p:sp>
      <p:sp>
        <p:nvSpPr>
          <p:cNvPr id="21" name="Text 19"/>
          <p:cNvSpPr txBox="1"/>
          <p:nvPr/>
        </p:nvSpPr>
        <p:spPr>
          <a:xfrm>
            <a:off x="100584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capas granulares (base y subbase)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12.2.1</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Catálogos de Números Estructurales (SN)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1508760"/>
            <a:ext cx="4206240" cy="640080"/>
          </a:xfrm>
          <a:prstGeom prst="rect">
            <a:avLst/>
          </a:prstGeom>
          <a:noFill/>
          <a:ln/>
        </p:spPr>
        <p:txBody>
          <a:bodyPr wrap="square" lIns="0" tIns="0" rIns="0" bIns="0" rtlCol="0" anchor="ctr"/>
          <a:lstStyle/>
          <a:p>
            <a:pPr indent="0" marL="0">
              <a:buNone/>
            </a:pPr>
            <a:r>
              <a:rPr lang="en-US" sz="1400" dirty="0">
                <a:solidFill>
                  <a:srgbClr val="1F2328"/>
                </a:solidFill>
                <a:latin typeface="Calibri" pitchFamily="34" charset="0"/>
                <a:ea typeface="Calibri" pitchFamily="34" charset="-122"/>
                <a:cs typeface="Calibri" pitchFamily="34" charset="-120"/>
              </a:rPr>
              <a:t>SN requerido tabulado por tráfico (TP) y subrasante, para 5 alternativas de capa superficial:</a:t>
            </a:r>
            <a:endParaRPr lang="en-US" sz="1400" dirty="0"/>
          </a:p>
        </p:txBody>
      </p:sp>
      <p:sp>
        <p:nvSpPr>
          <p:cNvPr id="6" name="Shape 4"/>
          <p:cNvSpPr/>
          <p:nvPr/>
        </p:nvSpPr>
        <p:spPr>
          <a:xfrm>
            <a:off x="548640" y="2322576"/>
            <a:ext cx="384048" cy="384048"/>
          </a:xfrm>
          <a:prstGeom prst="ellipse">
            <a:avLst/>
          </a:prstGeom>
          <a:solidFill>
            <a:srgbClr val="3E6283"/>
          </a:solidFill>
          <a:ln w="12700">
            <a:solidFill>
              <a:srgbClr val="3E6283"/>
            </a:solidFill>
            <a:prstDash val="solid"/>
          </a:ln>
        </p:spPr>
      </p:sp>
      <p:sp>
        <p:nvSpPr>
          <p:cNvPr id="7" name="Text 5"/>
          <p:cNvSpPr txBox="1"/>
          <p:nvPr/>
        </p:nvSpPr>
        <p:spPr>
          <a:xfrm>
            <a:off x="548640" y="23225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2286000"/>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Mortero asfáltico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9" name="Shape 7"/>
          <p:cNvSpPr/>
          <p:nvPr/>
        </p:nvSpPr>
        <p:spPr>
          <a:xfrm>
            <a:off x="548640" y="2944368"/>
            <a:ext cx="384048" cy="384048"/>
          </a:xfrm>
          <a:prstGeom prst="ellipse">
            <a:avLst/>
          </a:prstGeom>
          <a:solidFill>
            <a:srgbClr val="3E6283"/>
          </a:solidFill>
          <a:ln w="12700">
            <a:solidFill>
              <a:srgbClr val="3E6283"/>
            </a:solidFill>
            <a:prstDash val="solid"/>
          </a:ln>
        </p:spPr>
      </p:sp>
      <p:sp>
        <p:nvSpPr>
          <p:cNvPr id="10" name="Text 8"/>
          <p:cNvSpPr txBox="1"/>
          <p:nvPr/>
        </p:nvSpPr>
        <p:spPr>
          <a:xfrm>
            <a:off x="54864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907792"/>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2" name="Shape 10"/>
          <p:cNvSpPr/>
          <p:nvPr/>
        </p:nvSpPr>
        <p:spPr>
          <a:xfrm>
            <a:off x="548640" y="3566160"/>
            <a:ext cx="384048" cy="384048"/>
          </a:xfrm>
          <a:prstGeom prst="ellipse">
            <a:avLst/>
          </a:prstGeom>
          <a:solidFill>
            <a:srgbClr val="3E6283"/>
          </a:solidFill>
          <a:ln w="12700">
            <a:solidFill>
              <a:srgbClr val="3E6283"/>
            </a:solidFill>
            <a:prstDash val="solid"/>
          </a:ln>
        </p:spPr>
      </p:sp>
      <p:sp>
        <p:nvSpPr>
          <p:cNvPr id="13" name="Text 11"/>
          <p:cNvSpPr txBox="1"/>
          <p:nvPr/>
        </p:nvSpPr>
        <p:spPr>
          <a:xfrm>
            <a:off x="54864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529584"/>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Micropavimento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5" name="Shape 13"/>
          <p:cNvSpPr/>
          <p:nvPr/>
        </p:nvSpPr>
        <p:spPr>
          <a:xfrm>
            <a:off x="548640" y="4187952"/>
            <a:ext cx="384048" cy="384048"/>
          </a:xfrm>
          <a:prstGeom prst="ellipse">
            <a:avLst/>
          </a:prstGeom>
          <a:solidFill>
            <a:srgbClr val="3E6283"/>
          </a:solidFill>
          <a:ln w="12700">
            <a:solidFill>
              <a:srgbClr val="3E6283"/>
            </a:solidFill>
            <a:prstDash val="solid"/>
          </a:ln>
        </p:spPr>
      </p:sp>
      <p:sp>
        <p:nvSpPr>
          <p:cNvPr id="16" name="Text 14"/>
          <p:cNvSpPr txBox="1"/>
          <p:nvPr/>
        </p:nvSpPr>
        <p:spPr>
          <a:xfrm>
            <a:off x="548640"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97280" y="4151376"/>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8" name="Shape 16"/>
          <p:cNvSpPr/>
          <p:nvPr/>
        </p:nvSpPr>
        <p:spPr>
          <a:xfrm>
            <a:off x="548640" y="4809744"/>
            <a:ext cx="384048" cy="384048"/>
          </a:xfrm>
          <a:prstGeom prst="ellipse">
            <a:avLst/>
          </a:prstGeom>
          <a:solidFill>
            <a:srgbClr val="F2B705"/>
          </a:solidFill>
          <a:ln w="12700">
            <a:solidFill>
              <a:srgbClr val="F2B705"/>
            </a:solidFill>
            <a:prstDash val="solid"/>
          </a:ln>
        </p:spPr>
      </p:sp>
      <p:sp>
        <p:nvSpPr>
          <p:cNvPr id="19" name="Text 17"/>
          <p:cNvSpPr txBox="1"/>
          <p:nvPr/>
        </p:nvSpPr>
        <p:spPr>
          <a:xfrm>
            <a:off x="548640" y="4809744"/>
            <a:ext cx="384048" cy="384048"/>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1097280" y="4773168"/>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 rango completo TP0–TP14</a:t>
            </a:r>
            <a:endParaRPr lang="en-US" sz="1400" dirty="0"/>
          </a:p>
        </p:txBody>
      </p:sp>
      <p:sp>
        <p:nvSpPr>
          <p:cNvPr id="21" name="Shape 19"/>
          <p:cNvSpPr/>
          <p:nvPr/>
        </p:nvSpPr>
        <p:spPr>
          <a:xfrm>
            <a:off x="5029200" y="1508760"/>
            <a:ext cx="6611112" cy="46177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22" name="Chart 0" descr=""/>
          <p:cNvGraphicFramePr/>
          <p:nvPr/>
        </p:nvGraphicFramePr>
        <p:xfrm>
          <a:off x="5166360" y="1600200"/>
          <a:ext cx="6355080" cy="416052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5166360" y="5760720"/>
            <a:ext cx="6355080" cy="27432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Filas intermedias siguen la misma progresión — ver Manual para el catálogo completo TP0–TP14.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12.18</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Limitaciones de tránsito y geometría vial</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Cada capa superficial tiene un límite de aplicación por tráfico, pendiente y curvatura.</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9144000" cy="914400"/>
        </p:xfrm>
        <a:graphic>
          <a:graphicData uri="http://schemas.openxmlformats.org/drawingml/2006/table">
            <a:tbl>
              <a:tblPr/>
              <a:tblGrid>
                <a:gridCol w="3291840"/>
                <a:gridCol w="1920240"/>
                <a:gridCol w="2011680"/>
                <a:gridCol w="3867912"/>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 superficial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Pendiente máxima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Curvatura horizontal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 / mezcla con emulsión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Micropavimento 25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curvas pronunciadas, de volteo, contracurvas ni zonas de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Lechada asfáltica (slurry seal) 12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tramos que obliguen al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3212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669341" y="5652821"/>
            <a:ext cx="261518" cy="261518"/>
          </a:xfrm>
          <a:prstGeom prst="rect">
            <a:avLst/>
          </a:prstGeom>
        </p:spPr>
      </p:pic>
      <p:sp>
        <p:nvSpPr>
          <p:cNvPr id="9" name="Text 5"/>
          <p:cNvSpPr txBox="1"/>
          <p:nvPr/>
        </p:nvSpPr>
        <p:spPr>
          <a:xfrm>
            <a:off x="1234440" y="5486400"/>
            <a:ext cx="10332720" cy="594360"/>
          </a:xfrm>
          <a:prstGeom prst="rect">
            <a:avLst/>
          </a:prstGeom>
          <a:noFill/>
          <a:ln/>
        </p:spPr>
        <p:txBody>
          <a:bodyPr wrap="square" lIns="0" tIns="0" rIns="0" bIns="0" rtlCol="0" anchor="ctr"/>
          <a:lstStyle/>
          <a:p>
            <a:pPr indent="0" marL="0">
              <a:buNone/>
            </a:pPr>
            <a:r>
              <a:rPr lang="en-US" sz="1500" b="1" dirty="0">
                <a:solidFill>
                  <a:srgbClr val="1F2328"/>
                </a:solidFill>
                <a:latin typeface="Calibri" pitchFamily="34" charset="0"/>
                <a:ea typeface="Calibri" pitchFamily="34" charset="-122"/>
                <a:cs typeface="Calibri" pitchFamily="34" charset="-120"/>
              </a:rPr>
              <a:t>Clave: </a:t>
            </a:r>
            <a:pPr indent="0" marL="0">
              <a:buNone/>
            </a:pPr>
            <a:r>
              <a:rPr lang="en-US" sz="1500" dirty="0">
                <a:solidFill>
                  <a:srgbClr val="1F2328"/>
                </a:solidFill>
                <a:latin typeface="Calibri" pitchFamily="34" charset="0"/>
                <a:ea typeface="Calibri" pitchFamily="34" charset="-122"/>
                <a:cs typeface="Calibri" pitchFamily="34" charset="-120"/>
              </a:rPr>
              <a:t>los tratamientos delgados (TSB y lechada) no resisten esfuerzos tangenciales de frenado ni pendientes fuertes.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12.2.2 · 12.2.3 · 12.2.4</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Tres enfoques de periodo de diseño</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48640"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10 años</a:t>
            </a:r>
            <a:endParaRPr lang="en-US" sz="2200" dirty="0"/>
          </a:p>
        </p:txBody>
      </p:sp>
      <p:sp>
        <p:nvSpPr>
          <p:cNvPr id="7" name="Text 5"/>
          <p:cNvSpPr txBox="1"/>
          <p:nvPr/>
        </p:nvSpPr>
        <p:spPr>
          <a:xfrm>
            <a:off x="822960"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Bajo volumen de tránsito</a:t>
            </a:r>
            <a:endParaRPr lang="en-US" sz="1600" dirty="0"/>
          </a:p>
        </p:txBody>
      </p:sp>
      <p:sp>
        <p:nvSpPr>
          <p:cNvPr id="8" name="Shape 6"/>
          <p:cNvSpPr/>
          <p:nvPr/>
        </p:nvSpPr>
        <p:spPr>
          <a:xfrm>
            <a:off x="822960" y="2926080"/>
            <a:ext cx="2971800" cy="384048"/>
          </a:xfrm>
          <a:prstGeom prst="rect">
            <a:avLst/>
          </a:prstGeom>
          <a:solidFill>
            <a:srgbClr val="E6E9ED"/>
          </a:solidFill>
          <a:ln w="12700">
            <a:solidFill>
              <a:srgbClr val="E6E9ED"/>
            </a:solidFill>
            <a:prstDash val="solid"/>
          </a:ln>
        </p:spPr>
      </p:sp>
      <p:sp>
        <p:nvSpPr>
          <p:cNvPr id="9" name="Shape 7"/>
          <p:cNvSpPr/>
          <p:nvPr/>
        </p:nvSpPr>
        <p:spPr>
          <a:xfrm>
            <a:off x="822960" y="2926080"/>
            <a:ext cx="1458468" cy="384048"/>
          </a:xfrm>
          <a:prstGeom prst="rect">
            <a:avLst/>
          </a:prstGeom>
          <a:solidFill>
            <a:srgbClr val="3E6283"/>
          </a:solidFill>
          <a:ln w="12700">
            <a:solidFill>
              <a:srgbClr val="3E6283"/>
            </a:solidFill>
            <a:prstDash val="solid"/>
          </a:ln>
        </p:spPr>
      </p:sp>
      <p:sp>
        <p:nvSpPr>
          <p:cNvPr id="10" name="Text 8"/>
          <p:cNvSpPr txBox="1"/>
          <p:nvPr/>
        </p:nvSpPr>
        <p:spPr>
          <a:xfrm>
            <a:off x="822960"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10</a:t>
            </a:r>
            <a:endParaRPr lang="en-US" sz="1100" dirty="0"/>
          </a:p>
        </p:txBody>
      </p:sp>
      <p:sp>
        <p:nvSpPr>
          <p:cNvPr id="11" name="Text 9"/>
          <p:cNvSpPr txBox="1"/>
          <p:nvPr/>
        </p:nvSpPr>
        <p:spPr>
          <a:xfrm>
            <a:off x="822960"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12" name="Text 10"/>
          <p:cNvSpPr txBox="1"/>
          <p:nvPr/>
        </p:nvSpPr>
        <p:spPr>
          <a:xfrm>
            <a:off x="1943100"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13" name="Text 11"/>
          <p:cNvSpPr txBox="1"/>
          <p:nvPr/>
        </p:nvSpPr>
        <p:spPr>
          <a:xfrm>
            <a:off x="3063240"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14" name="Text 12"/>
          <p:cNvSpPr txBox="1"/>
          <p:nvPr/>
        </p:nvSpPr>
        <p:spPr>
          <a:xfrm>
            <a:off x="822960"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 1'000,000 EE (TP0 – TP4)</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4 alternativas: mortero asfáltico, TSB, micropavimento, carpeta en frío</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12.2 – 12.5</a:t>
            </a:r>
            <a:endParaRPr lang="en-US" sz="1500" dirty="0"/>
          </a:p>
        </p:txBody>
      </p:sp>
      <p:sp>
        <p:nvSpPr>
          <p:cNvPr id="15" name="Shape 13"/>
          <p:cNvSpPr/>
          <p:nvPr/>
        </p:nvSpPr>
        <p:spPr>
          <a:xfrm>
            <a:off x="4334256" y="1554480"/>
            <a:ext cx="3520440" cy="45262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6" name="Text 14"/>
          <p:cNvSpPr txBox="1"/>
          <p:nvPr/>
        </p:nvSpPr>
        <p:spPr>
          <a:xfrm>
            <a:off x="4608576" y="1737360"/>
            <a:ext cx="2971800" cy="640080"/>
          </a:xfrm>
          <a:prstGeom prst="rect">
            <a:avLst/>
          </a:prstGeom>
          <a:noFill/>
          <a:ln/>
        </p:spPr>
        <p:txBody>
          <a:bodyPr wrap="square" lIns="0" tIns="0" rIns="0" bIns="0" rtlCol="0" anchor="ctr"/>
          <a:lstStyle/>
          <a:p>
            <a:pPr indent="0" marL="0">
              <a:buNone/>
            </a:pPr>
            <a:r>
              <a:rPr lang="en-US" sz="2200" b="1" dirty="0">
                <a:solidFill>
                  <a:srgbClr val="F2B705"/>
                </a:solidFill>
                <a:latin typeface="Cambria" pitchFamily="34" charset="0"/>
                <a:ea typeface="Cambria" pitchFamily="34" charset="-122"/>
                <a:cs typeface="Cambria" pitchFamily="34" charset="-120"/>
              </a:rPr>
              <a:t>20 años · 2 etapas</a:t>
            </a:r>
            <a:endParaRPr lang="en-US" sz="2200" dirty="0"/>
          </a:p>
        </p:txBody>
      </p:sp>
      <p:sp>
        <p:nvSpPr>
          <p:cNvPr id="17" name="Text 15"/>
          <p:cNvSpPr txBox="1"/>
          <p:nvPr/>
        </p:nvSpPr>
        <p:spPr>
          <a:xfrm>
            <a:off x="4608576" y="2377440"/>
            <a:ext cx="29718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 refuerzo intermedio</a:t>
            </a:r>
            <a:endParaRPr lang="en-US" sz="1600" dirty="0"/>
          </a:p>
        </p:txBody>
      </p:sp>
      <p:sp>
        <p:nvSpPr>
          <p:cNvPr id="18" name="Shape 16"/>
          <p:cNvSpPr/>
          <p:nvPr/>
        </p:nvSpPr>
        <p:spPr>
          <a:xfrm>
            <a:off x="4608576" y="2926080"/>
            <a:ext cx="2971800" cy="384048"/>
          </a:xfrm>
          <a:prstGeom prst="rect">
            <a:avLst/>
          </a:prstGeom>
          <a:solidFill>
            <a:srgbClr val="33373E"/>
          </a:solidFill>
          <a:ln w="12700">
            <a:solidFill>
              <a:srgbClr val="33373E"/>
            </a:solidFill>
            <a:prstDash val="solid"/>
          </a:ln>
        </p:spPr>
      </p:sp>
      <p:sp>
        <p:nvSpPr>
          <p:cNvPr id="19" name="Shape 17"/>
          <p:cNvSpPr/>
          <p:nvPr/>
        </p:nvSpPr>
        <p:spPr>
          <a:xfrm>
            <a:off x="4608576" y="2926080"/>
            <a:ext cx="1458468" cy="384048"/>
          </a:xfrm>
          <a:prstGeom prst="rect">
            <a:avLst/>
          </a:prstGeom>
          <a:solidFill>
            <a:srgbClr val="3E6283"/>
          </a:solidFill>
          <a:ln w="12700">
            <a:solidFill>
              <a:srgbClr val="3E6283"/>
            </a:solidFill>
            <a:prstDash val="solid"/>
          </a:ln>
        </p:spPr>
      </p:sp>
      <p:sp>
        <p:nvSpPr>
          <p:cNvPr id="20" name="Text 18"/>
          <p:cNvSpPr txBox="1"/>
          <p:nvPr/>
        </p:nvSpPr>
        <p:spPr>
          <a:xfrm>
            <a:off x="4608576"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Etapa 1</a:t>
            </a:r>
            <a:endParaRPr lang="en-US" sz="1100" dirty="0"/>
          </a:p>
        </p:txBody>
      </p:sp>
      <p:sp>
        <p:nvSpPr>
          <p:cNvPr id="21" name="Shape 19"/>
          <p:cNvSpPr/>
          <p:nvPr/>
        </p:nvSpPr>
        <p:spPr>
          <a:xfrm>
            <a:off x="6094476" y="2926080"/>
            <a:ext cx="1458468" cy="384048"/>
          </a:xfrm>
          <a:prstGeom prst="rect">
            <a:avLst/>
          </a:prstGeom>
          <a:solidFill>
            <a:srgbClr val="F2B705"/>
          </a:solidFill>
          <a:ln w="12700">
            <a:solidFill>
              <a:srgbClr val="F2B705"/>
            </a:solidFill>
            <a:prstDash val="solid"/>
          </a:ln>
        </p:spPr>
      </p:sp>
      <p:sp>
        <p:nvSpPr>
          <p:cNvPr id="22" name="Text 20"/>
          <p:cNvSpPr txBox="1"/>
          <p:nvPr/>
        </p:nvSpPr>
        <p:spPr>
          <a:xfrm>
            <a:off x="6094476" y="2926080"/>
            <a:ext cx="1485900" cy="384048"/>
          </a:xfrm>
          <a:prstGeom prst="rect">
            <a:avLst/>
          </a:prstGeom>
          <a:noFill/>
          <a:ln/>
        </p:spPr>
        <p:txBody>
          <a:bodyPr wrap="square" lIns="0" tIns="0" rIns="0" bIns="0" rtlCol="0" anchor="ctr"/>
          <a:lstStyle/>
          <a:p>
            <a:pPr algn="ctr" indent="0" marL="0">
              <a:buNone/>
            </a:pPr>
            <a:r>
              <a:rPr lang="en-US" sz="1100" b="1" dirty="0">
                <a:solidFill>
                  <a:srgbClr val="23262B"/>
                </a:solidFill>
                <a:latin typeface="Calibri" pitchFamily="34" charset="0"/>
                <a:ea typeface="Calibri" pitchFamily="34" charset="-122"/>
                <a:cs typeface="Calibri" pitchFamily="34" charset="-120"/>
              </a:rPr>
              <a:t>Refuerzo</a:t>
            </a:r>
            <a:endParaRPr lang="en-US" sz="1100" dirty="0"/>
          </a:p>
        </p:txBody>
      </p:sp>
      <p:sp>
        <p:nvSpPr>
          <p:cNvPr id="23" name="Text 21"/>
          <p:cNvSpPr txBox="1"/>
          <p:nvPr/>
        </p:nvSpPr>
        <p:spPr>
          <a:xfrm>
            <a:off x="4608576" y="3355848"/>
            <a:ext cx="731520" cy="228600"/>
          </a:xfrm>
          <a:prstGeom prst="rect">
            <a:avLst/>
          </a:prstGeom>
          <a:noFill/>
          <a:ln/>
        </p:spPr>
        <p:txBody>
          <a:bodyPr wrap="square" lIns="0" tIns="0" rIns="0" bIns="0" rtlCol="0" anchor="ctr"/>
          <a:lstStyle/>
          <a:p>
            <a:pPr algn="l" indent="0" marL="0">
              <a:buNone/>
            </a:pPr>
            <a:r>
              <a:rPr lang="en-US" sz="1000" dirty="0">
                <a:solidFill>
                  <a:srgbClr val="AEB4BC"/>
                </a:solidFill>
                <a:latin typeface="Calibri" pitchFamily="34" charset="0"/>
                <a:ea typeface="Calibri" pitchFamily="34" charset="-122"/>
                <a:cs typeface="Calibri" pitchFamily="34" charset="-120"/>
              </a:rPr>
              <a:t>0</a:t>
            </a:r>
            <a:endParaRPr lang="en-US" sz="1000" dirty="0"/>
          </a:p>
        </p:txBody>
      </p:sp>
      <p:sp>
        <p:nvSpPr>
          <p:cNvPr id="24" name="Text 22"/>
          <p:cNvSpPr txBox="1"/>
          <p:nvPr/>
        </p:nvSpPr>
        <p:spPr>
          <a:xfrm>
            <a:off x="5728716" y="3355848"/>
            <a:ext cx="731520" cy="228600"/>
          </a:xfrm>
          <a:prstGeom prst="rect">
            <a:avLst/>
          </a:prstGeom>
          <a:noFill/>
          <a:ln/>
        </p:spPr>
        <p:txBody>
          <a:bodyPr wrap="square" lIns="0" tIns="0" rIns="0" bIns="0" rtlCol="0" anchor="ctr"/>
          <a:lstStyle/>
          <a:p>
            <a:pPr algn="ct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
        <p:nvSpPr>
          <p:cNvPr id="25" name="Text 23"/>
          <p:cNvSpPr txBox="1"/>
          <p:nvPr/>
        </p:nvSpPr>
        <p:spPr>
          <a:xfrm>
            <a:off x="6848856" y="3355848"/>
            <a:ext cx="731520" cy="22860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20 años</a:t>
            </a:r>
            <a:endParaRPr lang="en-US" sz="1000" dirty="0"/>
          </a:p>
        </p:txBody>
      </p:sp>
      <p:sp>
        <p:nvSpPr>
          <p:cNvPr id="26" name="Text 24"/>
          <p:cNvSpPr txBox="1"/>
          <p:nvPr/>
        </p:nvSpPr>
        <p:spPr>
          <a:xfrm>
            <a:off x="4608576"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&gt; 1'000,000 EE, hasta TP14</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1.ª etapa (año 0) + refuerzo asfáltico al año 10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Figuras 12.6 – 12.7</a:t>
            </a:r>
            <a:endParaRPr lang="en-US" sz="1500" dirty="0"/>
          </a:p>
        </p:txBody>
      </p:sp>
      <p:sp>
        <p:nvSpPr>
          <p:cNvPr id="27" name="Shape 25"/>
          <p:cNvSpPr/>
          <p:nvPr/>
        </p:nvSpPr>
        <p:spPr>
          <a:xfrm>
            <a:off x="8119872"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8" name="Text 26"/>
          <p:cNvSpPr txBox="1"/>
          <p:nvPr/>
        </p:nvSpPr>
        <p:spPr>
          <a:xfrm>
            <a:off x="8394192"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20 años · 1 etapa</a:t>
            </a:r>
            <a:endParaRPr lang="en-US" sz="2200" dirty="0"/>
          </a:p>
        </p:txBody>
      </p:sp>
      <p:sp>
        <p:nvSpPr>
          <p:cNvPr id="29" name="Text 27"/>
          <p:cNvSpPr txBox="1"/>
          <p:nvPr/>
        </p:nvSpPr>
        <p:spPr>
          <a:xfrm>
            <a:off x="8394192"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Carpeta en caliente única</a:t>
            </a:r>
            <a:endParaRPr lang="en-US" sz="1600" dirty="0"/>
          </a:p>
        </p:txBody>
      </p:sp>
      <p:sp>
        <p:nvSpPr>
          <p:cNvPr id="30" name="Shape 28"/>
          <p:cNvSpPr/>
          <p:nvPr/>
        </p:nvSpPr>
        <p:spPr>
          <a:xfrm>
            <a:off x="8394192" y="2926080"/>
            <a:ext cx="2971800" cy="384048"/>
          </a:xfrm>
          <a:prstGeom prst="rect">
            <a:avLst/>
          </a:prstGeom>
          <a:solidFill>
            <a:srgbClr val="E6E9ED"/>
          </a:solidFill>
          <a:ln w="12700">
            <a:solidFill>
              <a:srgbClr val="E6E9ED"/>
            </a:solidFill>
            <a:prstDash val="solid"/>
          </a:ln>
        </p:spPr>
      </p:sp>
      <p:sp>
        <p:nvSpPr>
          <p:cNvPr id="31" name="Shape 29"/>
          <p:cNvSpPr/>
          <p:nvPr/>
        </p:nvSpPr>
        <p:spPr>
          <a:xfrm>
            <a:off x="8394192" y="2926080"/>
            <a:ext cx="2944368" cy="384048"/>
          </a:xfrm>
          <a:prstGeom prst="rect">
            <a:avLst/>
          </a:prstGeom>
          <a:solidFill>
            <a:srgbClr val="3E6283"/>
          </a:solidFill>
          <a:ln w="12700">
            <a:solidFill>
              <a:srgbClr val="3E6283"/>
            </a:solidFill>
            <a:prstDash val="solid"/>
          </a:ln>
        </p:spPr>
      </p:sp>
      <p:sp>
        <p:nvSpPr>
          <p:cNvPr id="32" name="Text 30"/>
          <p:cNvSpPr txBox="1"/>
          <p:nvPr/>
        </p:nvSpPr>
        <p:spPr>
          <a:xfrm>
            <a:off x="8394192" y="2926080"/>
            <a:ext cx="2971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20</a:t>
            </a:r>
            <a:endParaRPr lang="en-US" sz="1100" dirty="0"/>
          </a:p>
        </p:txBody>
      </p:sp>
      <p:sp>
        <p:nvSpPr>
          <p:cNvPr id="33" name="Text 31"/>
          <p:cNvSpPr txBox="1"/>
          <p:nvPr/>
        </p:nvSpPr>
        <p:spPr>
          <a:xfrm>
            <a:off x="8394192"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34" name="Text 32"/>
          <p:cNvSpPr txBox="1"/>
          <p:nvPr/>
        </p:nvSpPr>
        <p:spPr>
          <a:xfrm>
            <a:off x="9514332"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35" name="Text 33"/>
          <p:cNvSpPr txBox="1"/>
          <p:nvPr/>
        </p:nvSpPr>
        <p:spPr>
          <a:xfrm>
            <a:off x="10634472"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36" name="Text 34"/>
          <p:cNvSpPr txBox="1"/>
          <p:nvPr/>
        </p:nvSpPr>
        <p:spPr>
          <a:xfrm>
            <a:off x="8394192"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Todo el rango TP0 – TP14 (75,000 a 30'000,000 EE)</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Sin refuerzo; conservación con sellos asfálticos</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12.8 – 12.9</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12.3</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Bermas del pavimento flexible</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Parte integral del pavimento: se diseña con los mismos componentes estructurales que la calzada.</a:t>
            </a:r>
            <a:endParaRPr lang="en-US" sz="1500" dirty="0"/>
          </a:p>
        </p:txBody>
      </p:sp>
      <p:sp>
        <p:nvSpPr>
          <p:cNvPr id="6" name="Shape 4"/>
          <p:cNvSpPr/>
          <p:nvPr/>
        </p:nvSpPr>
        <p:spPr>
          <a:xfrm>
            <a:off x="548640"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7" name="Shape 5"/>
          <p:cNvSpPr/>
          <p:nvPr/>
        </p:nvSpPr>
        <p:spPr>
          <a:xfrm>
            <a:off x="731520" y="2304288"/>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852221" y="2424989"/>
            <a:ext cx="261518" cy="261518"/>
          </a:xfrm>
          <a:prstGeom prst="rect">
            <a:avLst/>
          </a:prstGeom>
        </p:spPr>
      </p:pic>
      <p:sp>
        <p:nvSpPr>
          <p:cNvPr id="9" name="Text 6"/>
          <p:cNvSpPr txBox="1"/>
          <p:nvPr/>
        </p:nvSpPr>
        <p:spPr>
          <a:xfrm>
            <a:off x="1371600"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Soporte lateral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del borde del pavimento</a:t>
            </a:r>
            <a:endParaRPr lang="en-US" sz="1400" dirty="0"/>
          </a:p>
        </p:txBody>
      </p:sp>
      <p:sp>
        <p:nvSpPr>
          <p:cNvPr id="10" name="Shape 7"/>
          <p:cNvSpPr/>
          <p:nvPr/>
        </p:nvSpPr>
        <p:spPr>
          <a:xfrm>
            <a:off x="3346704"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1" name="Shape 8"/>
          <p:cNvSpPr/>
          <p:nvPr/>
        </p:nvSpPr>
        <p:spPr>
          <a:xfrm>
            <a:off x="3529584" y="2304288"/>
            <a:ext cx="502920" cy="502920"/>
          </a:xfrm>
          <a:prstGeom prst="ellipse">
            <a:avLst/>
          </a:prstGeom>
          <a:solidFill>
            <a:srgbClr val="F2B705"/>
          </a:solidFill>
          <a:ln w="12700">
            <a:solidFill>
              <a:srgbClr val="F2B705"/>
            </a:solidFill>
            <a:prstDash val="solid"/>
          </a:ln>
        </p:spPr>
      </p:sp>
      <p:pic>
        <p:nvPicPr>
          <p:cNvPr id="12" name="Image 1" descr="preencoded.png">    </p:cNvPr>
          <p:cNvPicPr>
            <a:picLocks noChangeAspect="1"/>
          </p:cNvPicPr>
          <p:nvPr/>
        </p:nvPicPr>
        <p:blipFill>
          <a:blip r:embed="rId2"/>
          <a:stretch>
            <a:fillRect/>
          </a:stretch>
        </p:blipFill>
        <p:spPr>
          <a:xfrm>
            <a:off x="3650285" y="2424989"/>
            <a:ext cx="261518" cy="261518"/>
          </a:xfrm>
          <a:prstGeom prst="rect">
            <a:avLst/>
          </a:prstGeom>
        </p:spPr>
      </p:pic>
      <p:sp>
        <p:nvSpPr>
          <p:cNvPr id="13" name="Text 9"/>
          <p:cNvSpPr txBox="1"/>
          <p:nvPr/>
        </p:nvSpPr>
        <p:spPr>
          <a:xfrm>
            <a:off x="4169664"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Protección del borde</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evita su rotura</a:t>
            </a:r>
            <a:endParaRPr lang="en-US" sz="1400" dirty="0"/>
          </a:p>
        </p:txBody>
      </p:sp>
      <p:sp>
        <p:nvSpPr>
          <p:cNvPr id="14" name="Shape 10"/>
          <p:cNvSpPr/>
          <p:nvPr/>
        </p:nvSpPr>
        <p:spPr>
          <a:xfrm>
            <a:off x="6144768"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27648" y="2304288"/>
            <a:ext cx="502920" cy="502920"/>
          </a:xfrm>
          <a:prstGeom prst="ellipse">
            <a:avLst/>
          </a:prstGeom>
          <a:solidFill>
            <a:srgbClr val="F2B705"/>
          </a:solidFill>
          <a:ln w="12700">
            <a:solidFill>
              <a:srgbClr val="F2B705"/>
            </a:solidFill>
            <a:prstDash val="solid"/>
          </a:ln>
        </p:spPr>
      </p:sp>
      <p:pic>
        <p:nvPicPr>
          <p:cNvPr id="16" name="Image 2" descr="preencoded.png">    </p:cNvPr>
          <p:cNvPicPr>
            <a:picLocks noChangeAspect="1"/>
          </p:cNvPicPr>
          <p:nvPr/>
        </p:nvPicPr>
        <p:blipFill>
          <a:blip r:embed="rId3"/>
          <a:stretch>
            <a:fillRect/>
          </a:stretch>
        </p:blipFill>
        <p:spPr>
          <a:xfrm>
            <a:off x="6448349" y="2424989"/>
            <a:ext cx="261518" cy="261518"/>
          </a:xfrm>
          <a:prstGeom prst="rect">
            <a:avLst/>
          </a:prstGeom>
        </p:spPr>
      </p:pic>
      <p:sp>
        <p:nvSpPr>
          <p:cNvPr id="17" name="Text 12"/>
          <p:cNvSpPr txBox="1"/>
          <p:nvPr/>
        </p:nvSpPr>
        <p:spPr>
          <a:xfrm>
            <a:off x="6967728"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Seguridad vial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el usuario</a:t>
            </a:r>
            <a:endParaRPr lang="en-US" sz="1400" dirty="0"/>
          </a:p>
        </p:txBody>
      </p:sp>
      <p:sp>
        <p:nvSpPr>
          <p:cNvPr id="18" name="Shape 13"/>
          <p:cNvSpPr/>
          <p:nvPr/>
        </p:nvSpPr>
        <p:spPr>
          <a:xfrm>
            <a:off x="8942832"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9" name="Shape 14"/>
          <p:cNvSpPr/>
          <p:nvPr/>
        </p:nvSpPr>
        <p:spPr>
          <a:xfrm>
            <a:off x="9125712" y="2304288"/>
            <a:ext cx="502920" cy="502920"/>
          </a:xfrm>
          <a:prstGeom prst="ellipse">
            <a:avLst/>
          </a:prstGeom>
          <a:solidFill>
            <a:srgbClr val="F2B705"/>
          </a:solidFill>
          <a:ln w="12700">
            <a:solidFill>
              <a:srgbClr val="F2B705"/>
            </a:solidFill>
            <a:prstDash val="solid"/>
          </a:ln>
        </p:spPr>
      </p:sp>
      <p:pic>
        <p:nvPicPr>
          <p:cNvPr id="20" name="Image 3" descr="preencoded.png">    </p:cNvPr>
          <p:cNvPicPr>
            <a:picLocks noChangeAspect="1"/>
          </p:cNvPicPr>
          <p:nvPr/>
        </p:nvPicPr>
        <p:blipFill>
          <a:blip r:embed="rId4"/>
          <a:stretch>
            <a:fillRect/>
          </a:stretch>
        </p:blipFill>
        <p:spPr>
          <a:xfrm>
            <a:off x="9246413" y="2424989"/>
            <a:ext cx="261518" cy="261518"/>
          </a:xfrm>
          <a:prstGeom prst="rect">
            <a:avLst/>
          </a:prstGeom>
        </p:spPr>
      </p:pic>
      <p:sp>
        <p:nvSpPr>
          <p:cNvPr id="21" name="Text 15"/>
          <p:cNvSpPr txBox="1"/>
          <p:nvPr/>
        </p:nvSpPr>
        <p:spPr>
          <a:xfrm>
            <a:off x="9765792"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Refugio</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vehículos averiados</a:t>
            </a:r>
            <a:endParaRPr lang="en-US" sz="1400" dirty="0"/>
          </a:p>
        </p:txBody>
      </p:sp>
      <p:sp>
        <p:nvSpPr>
          <p:cNvPr id="22" name="Shape 16"/>
          <p:cNvSpPr/>
          <p:nvPr/>
        </p:nvSpPr>
        <p:spPr>
          <a:xfrm>
            <a:off x="548640" y="3383280"/>
            <a:ext cx="5440680" cy="20116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3" name="Shape 17"/>
          <p:cNvSpPr/>
          <p:nvPr/>
        </p:nvSpPr>
        <p:spPr>
          <a:xfrm>
            <a:off x="822960" y="3611880"/>
            <a:ext cx="1234440" cy="384048"/>
          </a:xfrm>
          <a:prstGeom prst="roundRect">
            <a:avLst>
              <a:gd name="adj" fmla="val 47619"/>
            </a:avLst>
          </a:prstGeom>
          <a:solidFill>
            <a:srgbClr val="3E6283"/>
          </a:solidFill>
          <a:ln w="12700">
            <a:solidFill>
              <a:srgbClr val="3E6283"/>
            </a:solidFill>
            <a:prstDash val="solid"/>
          </a:ln>
        </p:spPr>
      </p:sp>
      <p:sp>
        <p:nvSpPr>
          <p:cNvPr id="24" name="Text 18"/>
          <p:cNvSpPr txBox="1"/>
          <p:nvPr/>
        </p:nvSpPr>
        <p:spPr>
          <a:xfrm>
            <a:off x="822960" y="36118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1.20 m</a:t>
            </a:r>
            <a:endParaRPr lang="en-US" sz="1400" dirty="0"/>
          </a:p>
        </p:txBody>
      </p:sp>
      <p:sp>
        <p:nvSpPr>
          <p:cNvPr id="25" name="Text 19"/>
          <p:cNvSpPr txBox="1"/>
          <p:nvPr/>
        </p:nvSpPr>
        <p:spPr>
          <a:xfrm>
            <a:off x="2240280" y="3611880"/>
            <a:ext cx="3566160" cy="384048"/>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Prolongación de la calzada</a:t>
            </a:r>
            <a:endParaRPr lang="en-US" sz="1800" dirty="0"/>
          </a:p>
        </p:txBody>
      </p:sp>
      <p:sp>
        <p:nvSpPr>
          <p:cNvPr id="26" name="Text 20"/>
          <p:cNvSpPr txBox="1"/>
          <p:nvPr/>
        </p:nvSpPr>
        <p:spPr>
          <a:xfrm>
            <a:off x="822960"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Prolongación directa de la estructura de la calzada</a:t>
            </a:r>
            <a:endParaRPr lang="en-US" sz="1400" dirty="0"/>
          </a:p>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Ejecución simultánea, sin junta longitudinal</a:t>
            </a:r>
            <a:endParaRPr lang="en-US" sz="1400" dirty="0"/>
          </a:p>
        </p:txBody>
      </p:sp>
      <p:sp>
        <p:nvSpPr>
          <p:cNvPr id="27" name="Shape 21"/>
          <p:cNvSpPr/>
          <p:nvPr/>
        </p:nvSpPr>
        <p:spPr>
          <a:xfrm>
            <a:off x="6199632" y="3383280"/>
            <a:ext cx="5440680" cy="20116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28" name="Shape 22"/>
          <p:cNvSpPr/>
          <p:nvPr/>
        </p:nvSpPr>
        <p:spPr>
          <a:xfrm>
            <a:off x="6473952" y="3611880"/>
            <a:ext cx="1234440" cy="384048"/>
          </a:xfrm>
          <a:prstGeom prst="roundRect">
            <a:avLst>
              <a:gd name="adj" fmla="val 47619"/>
            </a:avLst>
          </a:prstGeom>
          <a:solidFill>
            <a:srgbClr val="F2B705"/>
          </a:solidFill>
          <a:ln w="12700">
            <a:solidFill>
              <a:srgbClr val="F2B705"/>
            </a:solidFill>
            <a:prstDash val="solid"/>
          </a:ln>
        </p:spPr>
      </p:sp>
      <p:sp>
        <p:nvSpPr>
          <p:cNvPr id="29" name="Text 23"/>
          <p:cNvSpPr txBox="1"/>
          <p:nvPr/>
        </p:nvSpPr>
        <p:spPr>
          <a:xfrm>
            <a:off x="6473952" y="3611880"/>
            <a:ext cx="1234440" cy="384048"/>
          </a:xfrm>
          <a:prstGeom prst="rect">
            <a:avLst/>
          </a:prstGeom>
          <a:noFill/>
          <a:ln/>
        </p:spPr>
        <p:txBody>
          <a:bodyPr wrap="square" lIns="0" tIns="0" rIns="0" bIns="0" rtlCol="0" anchor="ctr"/>
          <a:lstStyle/>
          <a:p>
            <a:pPr algn="ctr" indent="0" marL="0">
              <a:buNone/>
            </a:pPr>
            <a:r>
              <a:rPr lang="en-US" sz="1400" b="1" dirty="0">
                <a:solidFill>
                  <a:srgbClr val="23262B"/>
                </a:solidFill>
                <a:latin typeface="Calibri" pitchFamily="34" charset="0"/>
                <a:ea typeface="Calibri" pitchFamily="34" charset="-122"/>
                <a:cs typeface="Calibri" pitchFamily="34" charset="-120"/>
              </a:rPr>
              <a:t>&gt; 1.20 m</a:t>
            </a:r>
            <a:endParaRPr lang="en-US" sz="1400" dirty="0"/>
          </a:p>
        </p:txBody>
      </p:sp>
      <p:sp>
        <p:nvSpPr>
          <p:cNvPr id="30" name="Text 24"/>
          <p:cNvSpPr txBox="1"/>
          <p:nvPr/>
        </p:nvSpPr>
        <p:spPr>
          <a:xfrm>
            <a:off x="7891272" y="3611880"/>
            <a:ext cx="356616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Estructura propia</a:t>
            </a:r>
            <a:endParaRPr lang="en-US" sz="1800" dirty="0"/>
          </a:p>
        </p:txBody>
      </p:sp>
      <p:sp>
        <p:nvSpPr>
          <p:cNvPr id="31" name="Text 25"/>
          <p:cNvSpPr txBox="1"/>
          <p:nvPr/>
        </p:nvSpPr>
        <p:spPr>
          <a:xfrm>
            <a:off x="6473952"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Depende de la categoría de tráfico y sección adoptada</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SN de diseño: 5 % de las repeticiones de EE del carril</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Capa superficial similar a la de la calzada</a:t>
            </a:r>
            <a:endParaRPr lang="en-US" sz="1400" dirty="0"/>
          </a:p>
        </p:txBody>
      </p:sp>
      <p:sp>
        <p:nvSpPr>
          <p:cNvPr id="32" name="Shape 26"/>
          <p:cNvSpPr/>
          <p:nvPr/>
        </p:nvSpPr>
        <p:spPr>
          <a:xfrm>
            <a:off x="548640" y="5623560"/>
            <a:ext cx="11094415" cy="731520"/>
          </a:xfrm>
          <a:prstGeom prst="rect">
            <a:avLst/>
          </a:prstGeom>
          <a:solidFill>
            <a:srgbClr val="DCE5EE"/>
          </a:solidFill>
          <a:ln w="12700">
            <a:solidFill>
              <a:srgbClr val="DCE5EE"/>
            </a:solidFill>
            <a:prstDash val="solid"/>
          </a:ln>
        </p:spPr>
      </p:sp>
      <p:sp>
        <p:nvSpPr>
          <p:cNvPr id="33" name="Shape 27"/>
          <p:cNvSpPr/>
          <p:nvPr/>
        </p:nvSpPr>
        <p:spPr>
          <a:xfrm>
            <a:off x="731520" y="5733288"/>
            <a:ext cx="502920" cy="502920"/>
          </a:xfrm>
          <a:prstGeom prst="ellipse">
            <a:avLst/>
          </a:prstGeom>
          <a:solidFill>
            <a:srgbClr val="3E6283"/>
          </a:solidFill>
          <a:ln w="12700">
            <a:solidFill>
              <a:srgbClr val="3E6283"/>
            </a:solidFill>
            <a:prstDash val="solid"/>
          </a:ln>
        </p:spPr>
      </p:sp>
      <p:pic>
        <p:nvPicPr>
          <p:cNvPr id="34" name="Image 4" descr="preencoded.png">    </p:cNvPr>
          <p:cNvPicPr>
            <a:picLocks noChangeAspect="1"/>
          </p:cNvPicPr>
          <p:nvPr/>
        </p:nvPicPr>
        <p:blipFill>
          <a:blip r:embed="rId5"/>
          <a:stretch>
            <a:fillRect/>
          </a:stretch>
        </p:blipFill>
        <p:spPr>
          <a:xfrm>
            <a:off x="852221" y="5853989"/>
            <a:ext cx="261518" cy="261518"/>
          </a:xfrm>
          <a:prstGeom prst="rect">
            <a:avLst/>
          </a:prstGeom>
        </p:spPr>
      </p:pic>
      <p:sp>
        <p:nvSpPr>
          <p:cNvPr id="35" name="Text 28"/>
          <p:cNvSpPr txBox="1"/>
          <p:nvPr/>
        </p:nvSpPr>
        <p:spPr>
          <a:xfrm>
            <a:off x="1417320" y="5623560"/>
            <a:ext cx="10058400" cy="731520"/>
          </a:xfrm>
          <a:prstGeom prst="rect">
            <a:avLst/>
          </a:prstGeom>
          <a:noFill/>
          <a:ln/>
        </p:spPr>
        <p:txBody>
          <a:bodyPr wrap="square" lIns="0" tIns="0" rIns="0" bIns="0" rtlCol="0" anchor="ctr"/>
          <a:lstStyle/>
          <a:p>
            <a:pPr indent="0" marL="0">
              <a:buNone/>
            </a:pPr>
            <a:r>
              <a:rPr lang="en-US" sz="1400" b="1" dirty="0">
                <a:solidFill>
                  <a:srgbClr val="3E6283"/>
                </a:solidFill>
                <a:latin typeface="Calibri" pitchFamily="34" charset="0"/>
                <a:ea typeface="Calibri" pitchFamily="34" charset="-122"/>
                <a:cs typeface="Calibri" pitchFamily="34" charset="-120"/>
              </a:rPr>
              <a:t>Casos particulares — la berma iguala la estructura de la calzada: </a:t>
            </a:r>
            <a:pPr indent="0" marL="0">
              <a:buNone/>
            </a:pPr>
            <a:r>
              <a:rPr lang="en-US" sz="1400" dirty="0">
                <a:solidFill>
                  <a:srgbClr val="1F2328"/>
                </a:solidFill>
                <a:latin typeface="Calibri" pitchFamily="34" charset="0"/>
                <a:ea typeface="Calibri" pitchFamily="34" charset="-122"/>
                <a:cs typeface="Calibri" pitchFamily="34" charset="-120"/>
              </a:rPr>
              <a:t>clima frío y altitud &gt; 3000 msnm, o cuando se prevé usar la berma como carril adicional.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12.19</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 para bermas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144000" cy="914400"/>
        </p:xfrm>
        <a:graphic>
          <a:graphicData uri="http://schemas.openxmlformats.org/drawingml/2006/table">
            <a:tbl>
              <a:tblPr/>
              <a:tblGrid>
                <a:gridCol w="868680"/>
                <a:gridCol w="2377440"/>
                <a:gridCol w="1005840"/>
                <a:gridCol w="105156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EE acumulados</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40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TPB1</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150,001 – 300,000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TPB2</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300,001 – 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TPB3</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500,001 – 750,000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TPB4</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750,001 – 1'000,000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TPB5</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1'000,001 – 1'500,000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TPB6</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1'500,001 – 3'000,000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90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440680"/>
            <a:ext cx="5303520" cy="640080"/>
          </a:xfrm>
          <a:prstGeom prst="rect">
            <a:avLst/>
          </a:prstGeom>
          <a:noFill/>
          <a:ln/>
        </p:spPr>
        <p:txBody>
          <a:bodyPr wrap="square" lIns="0" tIns="0" rIns="0" bIns="0" rtlCol="0" anchor="ctr"/>
          <a:lstStyle/>
          <a:p>
            <a:pPr indent="0" marL="0">
              <a:buNone/>
            </a:pPr>
            <a:r>
              <a:rPr lang="en-US" sz="1200" i="1" dirty="0">
                <a:solidFill>
                  <a:srgbClr val="5F6670"/>
                </a:solidFill>
                <a:latin typeface="Calibri" pitchFamily="34" charset="0"/>
                <a:ea typeface="Calibri" pitchFamily="34" charset="-122"/>
                <a:cs typeface="Calibri" pitchFamily="34" charset="-120"/>
              </a:rPr>
              <a:t>Capa superficial: carpeta asfáltica en caliente (o equivalente en frío, macadam o micropavimento de 25 mm si resulta menor a 40 mm).</a:t>
            </a:r>
            <a:endParaRPr lang="en-US" sz="1200" dirty="0"/>
          </a:p>
        </p:txBody>
      </p:sp>
      <p:sp>
        <p:nvSpPr>
          <p:cNvPr id="7" name="Shape 4"/>
          <p:cNvSpPr/>
          <p:nvPr/>
        </p:nvSpPr>
        <p:spPr>
          <a:xfrm>
            <a:off x="6172200" y="1554480"/>
            <a:ext cx="5468112"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8" name="Chart 0" descr=""/>
          <p:cNvGraphicFramePr/>
          <p:nvPr/>
        </p:nvGraphicFramePr>
        <p:xfrm>
          <a:off x="6309360" y="1645920"/>
          <a:ext cx="5212080" cy="43434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62B"/>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CONCLUSIONES</a:t>
            </a:r>
            <a:endParaRPr lang="en-US" sz="1200" dirty="0"/>
          </a:p>
        </p:txBody>
      </p:sp>
      <p:sp>
        <p:nvSpPr>
          <p:cNvPr id="3" name="Text 1"/>
          <p:cNvSpPr txBox="1"/>
          <p:nvPr/>
        </p:nvSpPr>
        <p:spPr>
          <a:xfrm>
            <a:off x="548640" y="658368"/>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Puntos clave</a:t>
            </a:r>
            <a:endParaRPr lang="en-US" sz="3200" dirty="0"/>
          </a:p>
        </p:txBody>
      </p:sp>
      <p:sp>
        <p:nvSpPr>
          <p:cNvPr id="4" name="Shape 2"/>
          <p:cNvSpPr/>
          <p:nvPr/>
        </p:nvSpPr>
        <p:spPr>
          <a:xfrm>
            <a:off x="548640" y="1691640"/>
            <a:ext cx="502920" cy="502920"/>
          </a:xfrm>
          <a:prstGeom prst="ellipse">
            <a:avLst/>
          </a:prstGeom>
          <a:solidFill>
            <a:srgbClr val="F2B705"/>
          </a:solidFill>
          <a:ln w="12700">
            <a:solidFill>
              <a:srgbClr val="F2B705"/>
            </a:solidFill>
            <a:prstDash val="solid"/>
          </a:ln>
        </p:spPr>
      </p:sp>
      <p:sp>
        <p:nvSpPr>
          <p:cNvPr id="5" name="Text 3"/>
          <p:cNvSpPr txBox="1"/>
          <p:nvPr/>
        </p:nvSpPr>
        <p:spPr>
          <a:xfrm>
            <a:off x="548640" y="1691640"/>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600200"/>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Dos variables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 sección depende del CBR de subrasante y del tráfico (EE) en el carril de diseño.</a:t>
            </a:r>
            <a:endParaRPr lang="en-US" sz="1500" dirty="0"/>
          </a:p>
        </p:txBody>
      </p:sp>
      <p:sp>
        <p:nvSpPr>
          <p:cNvPr id="7" name="Shape 5"/>
          <p:cNvSpPr/>
          <p:nvPr/>
        </p:nvSpPr>
        <p:spPr>
          <a:xfrm>
            <a:off x="548640" y="2587752"/>
            <a:ext cx="502920" cy="502920"/>
          </a:xfrm>
          <a:prstGeom prst="ellipse">
            <a:avLst/>
          </a:prstGeom>
          <a:solidFill>
            <a:srgbClr val="F2B705"/>
          </a:solidFill>
          <a:ln w="12700">
            <a:solidFill>
              <a:srgbClr val="F2B705"/>
            </a:solidFill>
            <a:prstDash val="solid"/>
          </a:ln>
        </p:spPr>
      </p:sp>
      <p:sp>
        <p:nvSpPr>
          <p:cNvPr id="8" name="Text 6"/>
          <p:cNvSpPr txBox="1"/>
          <p:nvPr/>
        </p:nvSpPr>
        <p:spPr>
          <a:xfrm>
            <a:off x="548640" y="2587752"/>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496312"/>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Catálogos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El Manual ofrece catálogos referenciales de SN y secciones para 5 tipos de capa superficial.</a:t>
            </a:r>
            <a:endParaRPr lang="en-US" sz="1500" dirty="0"/>
          </a:p>
        </p:txBody>
      </p:sp>
      <p:sp>
        <p:nvSpPr>
          <p:cNvPr id="10" name="Shape 8"/>
          <p:cNvSpPr/>
          <p:nvPr/>
        </p:nvSpPr>
        <p:spPr>
          <a:xfrm>
            <a:off x="548640" y="3483864"/>
            <a:ext cx="502920" cy="502920"/>
          </a:xfrm>
          <a:prstGeom prst="ellipse">
            <a:avLst/>
          </a:prstGeom>
          <a:solidFill>
            <a:srgbClr val="F2B705"/>
          </a:solidFill>
          <a:ln w="12700">
            <a:solidFill>
              <a:srgbClr val="F2B705"/>
            </a:solidFill>
            <a:prstDash val="solid"/>
          </a:ln>
        </p:spPr>
      </p:sp>
      <p:sp>
        <p:nvSpPr>
          <p:cNvPr id="11" name="Text 9"/>
          <p:cNvSpPr txBox="1"/>
          <p:nvPr/>
        </p:nvSpPr>
        <p:spPr>
          <a:xfrm>
            <a:off x="548640" y="3483864"/>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392424"/>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Periodos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10 años (bajo volumen), 20 años en 2 etapas con refuerzo, o 20 años en 1 etapa con carpeta en caliente.</a:t>
            </a:r>
            <a:endParaRPr lang="en-US" sz="1500" dirty="0"/>
          </a:p>
        </p:txBody>
      </p:sp>
      <p:sp>
        <p:nvSpPr>
          <p:cNvPr id="13" name="Shape 11"/>
          <p:cNvSpPr/>
          <p:nvPr/>
        </p:nvSpPr>
        <p:spPr>
          <a:xfrm>
            <a:off x="548640" y="4379976"/>
            <a:ext cx="502920" cy="502920"/>
          </a:xfrm>
          <a:prstGeom prst="ellipse">
            <a:avLst/>
          </a:prstGeom>
          <a:solidFill>
            <a:srgbClr val="F2B705"/>
          </a:solidFill>
          <a:ln w="12700">
            <a:solidFill>
              <a:srgbClr val="F2B705"/>
            </a:solidFill>
            <a:prstDash val="solid"/>
          </a:ln>
        </p:spPr>
      </p:sp>
      <p:sp>
        <p:nvSpPr>
          <p:cNvPr id="14" name="Text 12"/>
          <p:cNvSpPr txBox="1"/>
          <p:nvPr/>
        </p:nvSpPr>
        <p:spPr>
          <a:xfrm>
            <a:off x="548640" y="4379976"/>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288536"/>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Bermas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Son parte estructural; su diseño depende del ancho (≤ 1.20 m o &gt; 1.20 m) y pueden replicar la calzada.</a:t>
            </a:r>
            <a:endParaRPr lang="en-US" sz="1500" dirty="0"/>
          </a:p>
        </p:txBody>
      </p:sp>
      <p:sp>
        <p:nvSpPr>
          <p:cNvPr id="16" name="Shape 14"/>
          <p:cNvSpPr/>
          <p:nvPr/>
        </p:nvSpPr>
        <p:spPr>
          <a:xfrm>
            <a:off x="548640" y="5276088"/>
            <a:ext cx="502920" cy="502920"/>
          </a:xfrm>
          <a:prstGeom prst="ellipse">
            <a:avLst/>
          </a:prstGeom>
          <a:solidFill>
            <a:srgbClr val="F2B705"/>
          </a:solidFill>
          <a:ln w="12700">
            <a:solidFill>
              <a:srgbClr val="F2B705"/>
            </a:solidFill>
            <a:prstDash val="solid"/>
          </a:ln>
        </p:spPr>
      </p:sp>
      <p:sp>
        <p:nvSpPr>
          <p:cNvPr id="17" name="Text 15"/>
          <p:cNvSpPr txBox="1"/>
          <p:nvPr/>
        </p:nvSpPr>
        <p:spPr>
          <a:xfrm>
            <a:off x="548640" y="5276088"/>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5184648"/>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Criterio</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Las secciones son referenciales: no sustituyen el diseño del Ingeniero Responsable.</a:t>
            </a:r>
            <a:endParaRPr lang="en-US" sz="1500" dirty="0"/>
          </a:p>
        </p:txBody>
      </p:sp>
      <p:sp>
        <p:nvSpPr>
          <p:cNvPr id="19" name="Shape 17"/>
          <p:cNvSpPr/>
          <p:nvPr/>
        </p:nvSpPr>
        <p:spPr>
          <a:xfrm>
            <a:off x="7818120" y="2011680"/>
            <a:ext cx="3840480" cy="432054"/>
          </a:xfrm>
          <a:prstGeom prst="rect">
            <a:avLst/>
          </a:prstGeom>
          <a:solidFill>
            <a:srgbClr val="33373E"/>
          </a:solidFill>
          <a:ln w="12700">
            <a:solidFill>
              <a:srgbClr val="5A5F68"/>
            </a:solidFill>
            <a:prstDash val="solid"/>
          </a:ln>
        </p:spPr>
      </p:sp>
      <p:sp>
        <p:nvSpPr>
          <p:cNvPr id="20" name="Text 18"/>
          <p:cNvSpPr txBox="1"/>
          <p:nvPr/>
        </p:nvSpPr>
        <p:spPr>
          <a:xfrm>
            <a:off x="8001000" y="2011680"/>
            <a:ext cx="3474720" cy="43205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21" name="Shape 19"/>
          <p:cNvSpPr/>
          <p:nvPr/>
        </p:nvSpPr>
        <p:spPr>
          <a:xfrm>
            <a:off x="7818120" y="2443734"/>
            <a:ext cx="3840480" cy="740664"/>
          </a:xfrm>
          <a:prstGeom prst="rect">
            <a:avLst/>
          </a:prstGeom>
          <a:solidFill>
            <a:srgbClr val="A8845A"/>
          </a:solidFill>
          <a:ln w="12700">
            <a:solidFill>
              <a:srgbClr val="A8845A"/>
            </a:solidFill>
            <a:prstDash val="solid"/>
          </a:ln>
        </p:spPr>
      </p:sp>
      <p:sp>
        <p:nvSpPr>
          <p:cNvPr id="22" name="Text 20"/>
          <p:cNvSpPr txBox="1"/>
          <p:nvPr/>
        </p:nvSpPr>
        <p:spPr>
          <a:xfrm>
            <a:off x="8001000" y="2443734"/>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23" name="Shape 21"/>
          <p:cNvSpPr/>
          <p:nvPr/>
        </p:nvSpPr>
        <p:spPr>
          <a:xfrm>
            <a:off x="7818120" y="3184398"/>
            <a:ext cx="3840480" cy="740664"/>
          </a:xfrm>
          <a:prstGeom prst="rect">
            <a:avLst/>
          </a:prstGeom>
          <a:solidFill>
            <a:srgbClr val="C9AD84"/>
          </a:solidFill>
          <a:ln w="12700">
            <a:solidFill>
              <a:srgbClr val="C9AD84"/>
            </a:solidFill>
            <a:prstDash val="solid"/>
          </a:ln>
        </p:spPr>
      </p:sp>
      <p:sp>
        <p:nvSpPr>
          <p:cNvPr id="24" name="Text 22"/>
          <p:cNvSpPr txBox="1"/>
          <p:nvPr/>
        </p:nvSpPr>
        <p:spPr>
          <a:xfrm>
            <a:off x="8001000" y="3184398"/>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5" name="Shape 23"/>
          <p:cNvSpPr/>
          <p:nvPr/>
        </p:nvSpPr>
        <p:spPr>
          <a:xfrm>
            <a:off x="7818120" y="3925062"/>
            <a:ext cx="3840480" cy="925830"/>
          </a:xfrm>
          <a:prstGeom prst="rect">
            <a:avLst/>
          </a:prstGeom>
          <a:solidFill>
            <a:srgbClr val="8A6F52"/>
          </a:solidFill>
          <a:ln w="12700">
            <a:solidFill>
              <a:srgbClr val="8A6F52"/>
            </a:solidFill>
            <a:prstDash val="solid"/>
          </a:ln>
        </p:spPr>
      </p:sp>
      <p:sp>
        <p:nvSpPr>
          <p:cNvPr id="26" name="Text 24"/>
          <p:cNvSpPr txBox="1"/>
          <p:nvPr/>
        </p:nvSpPr>
        <p:spPr>
          <a:xfrm>
            <a:off x="8001000" y="3925062"/>
            <a:ext cx="3474720" cy="92583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7" name="Shape 25"/>
          <p:cNvSpPr/>
          <p:nvPr/>
        </p:nvSpPr>
        <p:spPr>
          <a:xfrm>
            <a:off x="8092440" y="1863547"/>
            <a:ext cx="480060" cy="74066"/>
          </a:xfrm>
          <a:prstGeom prst="rect">
            <a:avLst/>
          </a:prstGeom>
          <a:solidFill>
            <a:srgbClr val="F2B705"/>
          </a:solidFill>
          <a:ln w="12700">
            <a:solidFill>
              <a:srgbClr val="F2B705"/>
            </a:solidFill>
            <a:prstDash val="solid"/>
          </a:ln>
        </p:spPr>
      </p:sp>
      <p:sp>
        <p:nvSpPr>
          <p:cNvPr id="28" name="Shape 26"/>
          <p:cNvSpPr/>
          <p:nvPr/>
        </p:nvSpPr>
        <p:spPr>
          <a:xfrm>
            <a:off x="9052560" y="1863547"/>
            <a:ext cx="480060" cy="74066"/>
          </a:xfrm>
          <a:prstGeom prst="rect">
            <a:avLst/>
          </a:prstGeom>
          <a:solidFill>
            <a:srgbClr val="F2B705"/>
          </a:solidFill>
          <a:ln w="12700">
            <a:solidFill>
              <a:srgbClr val="F2B705"/>
            </a:solidFill>
            <a:prstDash val="solid"/>
          </a:ln>
        </p:spPr>
      </p:sp>
      <p:sp>
        <p:nvSpPr>
          <p:cNvPr id="29" name="Shape 27"/>
          <p:cNvSpPr/>
          <p:nvPr/>
        </p:nvSpPr>
        <p:spPr>
          <a:xfrm>
            <a:off x="10012680" y="1863547"/>
            <a:ext cx="480060" cy="74066"/>
          </a:xfrm>
          <a:prstGeom prst="rect">
            <a:avLst/>
          </a:prstGeom>
          <a:solidFill>
            <a:srgbClr val="F2B705"/>
          </a:solidFill>
          <a:ln w="12700">
            <a:solidFill>
              <a:srgbClr val="F2B705"/>
            </a:solidFill>
            <a:prstDash val="solid"/>
          </a:ln>
        </p:spPr>
      </p:sp>
      <p:sp>
        <p:nvSpPr>
          <p:cNvPr id="30" name="Shape 28"/>
          <p:cNvSpPr/>
          <p:nvPr/>
        </p:nvSpPr>
        <p:spPr>
          <a:xfrm>
            <a:off x="10972800" y="1863547"/>
            <a:ext cx="480060" cy="74066"/>
          </a:xfrm>
          <a:prstGeom prst="rect">
            <a:avLst/>
          </a:prstGeom>
          <a:solidFill>
            <a:srgbClr val="F2B705"/>
          </a:solidFill>
          <a:ln w="12700">
            <a:solidFill>
              <a:srgbClr val="F2B705"/>
            </a:solidFill>
            <a:prstDash val="solid"/>
          </a:ln>
        </p:spPr>
      </p:sp>
      <p:sp>
        <p:nvSpPr>
          <p:cNvPr id="31" name="Text 29"/>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62B"/>
        </a:solidFill>
      </p:bgPr>
    </p:bg>
    <p:spTree>
      <p:nvGrpSpPr>
        <p:cNvPr id="1" name=""/>
        <p:cNvGrpSpPr/>
        <p:nvPr/>
      </p:nvGrpSpPr>
      <p:grpSpPr>
        <a:xfrm>
          <a:off x="0" y="0"/>
          <a:ext cx="0" cy="0"/>
          <a:chOff x="0" y="0"/>
          <a:chExt cx="0" cy="0"/>
        </a:xfrm>
      </p:grpSpPr>
      <p:sp>
        <p:nvSpPr>
          <p:cNvPr id="2" name="Shape 0"/>
          <p:cNvSpPr/>
          <p:nvPr/>
        </p:nvSpPr>
        <p:spPr>
          <a:xfrm>
            <a:off x="0" y="4754880"/>
            <a:ext cx="12191695" cy="320040"/>
          </a:xfrm>
          <a:prstGeom prst="rect">
            <a:avLst/>
          </a:prstGeom>
          <a:solidFill>
            <a:srgbClr val="33373E"/>
          </a:solidFill>
          <a:ln w="12700">
            <a:solidFill>
              <a:srgbClr val="5A5F68"/>
            </a:solidFill>
            <a:prstDash val="solid"/>
          </a:ln>
        </p:spPr>
      </p:sp>
      <p:sp>
        <p:nvSpPr>
          <p:cNvPr id="3" name="Shape 1"/>
          <p:cNvSpPr/>
          <p:nvPr/>
        </p:nvSpPr>
        <p:spPr>
          <a:xfrm>
            <a:off x="0" y="5074920"/>
            <a:ext cx="12191695" cy="548640"/>
          </a:xfrm>
          <a:prstGeom prst="rect">
            <a:avLst/>
          </a:prstGeom>
          <a:solidFill>
            <a:srgbClr val="A8845A"/>
          </a:solidFill>
          <a:ln w="12700">
            <a:solidFill>
              <a:srgbClr val="A8845A"/>
            </a:solidFill>
            <a:prstDash val="solid"/>
          </a:ln>
        </p:spPr>
      </p:sp>
      <p:sp>
        <p:nvSpPr>
          <p:cNvPr id="4" name="Shape 2"/>
          <p:cNvSpPr/>
          <p:nvPr/>
        </p:nvSpPr>
        <p:spPr>
          <a:xfrm>
            <a:off x="0" y="5623560"/>
            <a:ext cx="12191695" cy="548640"/>
          </a:xfrm>
          <a:prstGeom prst="rect">
            <a:avLst/>
          </a:prstGeom>
          <a:solidFill>
            <a:srgbClr val="C9AD84"/>
          </a:solidFill>
          <a:ln w="12700">
            <a:solidFill>
              <a:srgbClr val="C9AD84"/>
            </a:solidFill>
            <a:prstDash val="solid"/>
          </a:ln>
        </p:spPr>
      </p:sp>
      <p:sp>
        <p:nvSpPr>
          <p:cNvPr id="5" name="Shape 3"/>
          <p:cNvSpPr/>
          <p:nvPr/>
        </p:nvSpPr>
        <p:spPr>
          <a:xfrm>
            <a:off x="0" y="6172200"/>
            <a:ext cx="12191695" cy="685800"/>
          </a:xfrm>
          <a:prstGeom prst="rect">
            <a:avLst/>
          </a:prstGeom>
          <a:solidFill>
            <a:srgbClr val="8A6F52"/>
          </a:solidFill>
          <a:ln w="12700">
            <a:solidFill>
              <a:srgbClr val="8A6F52"/>
            </a:solidFill>
            <a:prstDash val="solid"/>
          </a:ln>
        </p:spPr>
      </p:sp>
      <p:sp>
        <p:nvSpPr>
          <p:cNvPr id="6" name="Shape 4"/>
          <p:cNvSpPr/>
          <p:nvPr/>
        </p:nvSpPr>
        <p:spPr>
          <a:xfrm>
            <a:off x="274320" y="4645152"/>
            <a:ext cx="1523962" cy="54864"/>
          </a:xfrm>
          <a:prstGeom prst="rect">
            <a:avLst/>
          </a:prstGeom>
          <a:solidFill>
            <a:srgbClr val="F2B705"/>
          </a:solidFill>
          <a:ln w="12700">
            <a:solidFill>
              <a:srgbClr val="F2B705"/>
            </a:solidFill>
            <a:prstDash val="solid"/>
          </a:ln>
        </p:spPr>
      </p:sp>
      <p:sp>
        <p:nvSpPr>
          <p:cNvPr id="7" name="Shape 5"/>
          <p:cNvSpPr/>
          <p:nvPr/>
        </p:nvSpPr>
        <p:spPr>
          <a:xfrm>
            <a:off x="3322244" y="4645152"/>
            <a:ext cx="1523962" cy="54864"/>
          </a:xfrm>
          <a:prstGeom prst="rect">
            <a:avLst/>
          </a:prstGeom>
          <a:solidFill>
            <a:srgbClr val="F2B705"/>
          </a:solidFill>
          <a:ln w="12700">
            <a:solidFill>
              <a:srgbClr val="F2B705"/>
            </a:solidFill>
            <a:prstDash val="solid"/>
          </a:ln>
        </p:spPr>
      </p:sp>
      <p:sp>
        <p:nvSpPr>
          <p:cNvPr id="8" name="Shape 6"/>
          <p:cNvSpPr/>
          <p:nvPr/>
        </p:nvSpPr>
        <p:spPr>
          <a:xfrm>
            <a:off x="6370168" y="4645152"/>
            <a:ext cx="1523962" cy="54864"/>
          </a:xfrm>
          <a:prstGeom prst="rect">
            <a:avLst/>
          </a:prstGeom>
          <a:solidFill>
            <a:srgbClr val="F2B705"/>
          </a:solidFill>
          <a:ln w="12700">
            <a:solidFill>
              <a:srgbClr val="F2B705"/>
            </a:solidFill>
            <a:prstDash val="solid"/>
          </a:ln>
        </p:spPr>
      </p:sp>
      <p:sp>
        <p:nvSpPr>
          <p:cNvPr id="9" name="Shape 7"/>
          <p:cNvSpPr/>
          <p:nvPr/>
        </p:nvSpPr>
        <p:spPr>
          <a:xfrm>
            <a:off x="9418091" y="4645152"/>
            <a:ext cx="1523962" cy="54864"/>
          </a:xfrm>
          <a:prstGeom prst="rect">
            <a:avLst/>
          </a:prstGeom>
          <a:solidFill>
            <a:srgbClr val="F2B705"/>
          </a:solidFill>
          <a:ln w="12700">
            <a:solidFill>
              <a:srgbClr val="F2B705"/>
            </a:solidFill>
            <a:prstDash val="solid"/>
          </a:ln>
        </p:spPr>
      </p:sp>
      <p:sp>
        <p:nvSpPr>
          <p:cNvPr id="10" name="Text 8"/>
          <p:cNvSpPr txBox="1"/>
          <p:nvPr/>
        </p:nvSpPr>
        <p:spPr>
          <a:xfrm>
            <a:off x="548640" y="1280160"/>
            <a:ext cx="11094415"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¡Gracias!</a:t>
            </a:r>
            <a:endParaRPr lang="en-US" sz="6000" dirty="0"/>
          </a:p>
        </p:txBody>
      </p:sp>
      <p:sp>
        <p:nvSpPr>
          <p:cNvPr id="11" name="Text 9"/>
          <p:cNvSpPr txBox="1"/>
          <p:nvPr/>
        </p:nvSpPr>
        <p:spPr>
          <a:xfrm>
            <a:off x="548640" y="2423160"/>
            <a:ext cx="11094415" cy="640080"/>
          </a:xfrm>
          <a:prstGeom prst="rect">
            <a:avLst/>
          </a:prstGeom>
          <a:noFill/>
          <a:ln/>
        </p:spPr>
        <p:txBody>
          <a:bodyPr wrap="square" lIns="0" tIns="0" rIns="0" bIns="0" rtlCol="0" anchor="ctr"/>
          <a:lstStyle/>
          <a:p>
            <a:pPr algn="ctr" indent="0" marL="0">
              <a:buNone/>
            </a:pPr>
            <a:r>
              <a:rPr lang="en-US" sz="2800" i="1" dirty="0">
                <a:solidFill>
                  <a:srgbClr val="F2B705"/>
                </a:solidFill>
                <a:latin typeface="Cambria" pitchFamily="34" charset="0"/>
                <a:ea typeface="Cambria" pitchFamily="34" charset="-122"/>
                <a:cs typeface="Cambria" pitchFamily="34" charset="-120"/>
              </a:rPr>
              <a:t>¿Preguntas?</a:t>
            </a:r>
            <a:endParaRPr lang="en-US" sz="2800" dirty="0"/>
          </a:p>
        </p:txBody>
      </p:sp>
      <p:sp>
        <p:nvSpPr>
          <p:cNvPr id="12" name="Text 10"/>
          <p:cNvSpPr txBox="1"/>
          <p:nvPr/>
        </p:nvSpPr>
        <p:spPr>
          <a:xfrm>
            <a:off x="548640" y="3383280"/>
            <a:ext cx="11094415" cy="365760"/>
          </a:xfrm>
          <a:prstGeom prst="rect">
            <a:avLst/>
          </a:prstGeom>
          <a:noFill/>
          <a:ln/>
        </p:spPr>
        <p:txBody>
          <a:bodyPr wrap="square" lIns="0" tIns="0" rIns="0" bIns="0" rtlCol="0" anchor="ctr"/>
          <a:lstStyle/>
          <a:p>
            <a:pPr algn="ctr" indent="0" marL="0">
              <a:buNone/>
            </a:pPr>
            <a:r>
              <a:rPr lang="en-US" sz="1600" dirty="0">
                <a:solidFill>
                  <a:srgbClr val="C9CED4"/>
                </a:solidFill>
                <a:latin typeface="Calibri" pitchFamily="34" charset="0"/>
                <a:ea typeface="Calibri" pitchFamily="34" charset="-122"/>
                <a:cs typeface="Calibri" pitchFamily="34" charset="-120"/>
              </a:rPr>
              <a:t>Oscar Javier Mamani Ancco · Tecnología Avanzada de Asfaltos · UNA-Puno · 2026</a:t>
            </a:r>
            <a:endParaRPr lang="en-US" sz="1600" dirty="0"/>
          </a:p>
        </p:txBody>
      </p:sp>
      <p:sp>
        <p:nvSpPr>
          <p:cNvPr id="13" name="Text 11"/>
          <p:cNvSpPr txBox="1"/>
          <p:nvPr/>
        </p:nvSpPr>
        <p:spPr>
          <a:xfrm>
            <a:off x="548640" y="3794760"/>
            <a:ext cx="11094415" cy="320040"/>
          </a:xfrm>
          <a:prstGeom prst="rect">
            <a:avLst/>
          </a:prstGeom>
          <a:noFill/>
          <a:ln/>
        </p:spPr>
        <p:txBody>
          <a:bodyPr wrap="square" lIns="0" tIns="0" rIns="0" bIns="0" rtlCol="0" anchor="ctr"/>
          <a:lstStyle/>
          <a:p>
            <a:pPr algn="ctr" indent="0" marL="0">
              <a:buNone/>
            </a:pPr>
            <a:r>
              <a:rPr lang="en-US" sz="1200" dirty="0">
                <a:solidFill>
                  <a:srgbClr val="8E959E"/>
                </a:solidFill>
                <a:latin typeface="Calibri" pitchFamily="34" charset="0"/>
                <a:ea typeface="Calibri" pitchFamily="34" charset="-122"/>
                <a:cs typeface="Calibri" pitchFamily="34" charset="-120"/>
              </a:rPr>
              <a:t>Fuente: MTC (2014). Manual de Carreteras: Suelos, Geología, Geotecnia y Pavimentos — Cap. 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Secciones de Estructuras de Pavimento Flexible y Bermas</dc:title>
  <dc:subject>PptxGenJS Presentation</dc:subject>
  <dc:creator>Oscar Javier Mamani Ancco</dc:creator>
  <cp:lastModifiedBy>Oscar Javier Mamani Ancco</cp:lastModifiedBy>
  <cp:revision>1</cp:revision>
  <dcterms:created xsi:type="dcterms:W3CDTF">2026-09-30T22:40:36Z</dcterms:created>
  <dcterms:modified xsi:type="dcterms:W3CDTF">2026-09-30T22:40:36Z</dcterms:modified>
</cp:coreProperties>
</file>