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328"/>
                </a:solidFill>
                <a:latin typeface="Cambria"/>
              </a:defRPr>
            </a:pPr>
            <a:r>
              <a:rPr sz="1500" b="0" i="0" u="none" strike="noStrike">
                <a:solidFill>
                  <a:srgbClr val="1F2328"/>
                </a:solidFill>
                <a:latin typeface="Cambria"/>
              </a:rPr>
              <a:t>SN requerido — carpeta asfáltica en caliente</a:t>
            </a:r>
          </a:p>
        </c:rich>
      </c:tx>
      <c:layout/>
      <c:overlay val="0"/>
    </c:title>
    <c:autoTitleDeleted val="0"/>
    <c:plotArea>
      <c:layout/>
      <c:barChart>
        <c:barDir val="col"/>
        <c:grouping val="clustered"/>
        <c:varyColors val="0"/>
        <c:ser>
          <c:idx val="0"/>
          <c:order val="0"/>
          <c:tx>
            <c:strRef>
              <c:f>Sheet1!$B$1</c:f>
              <c:strCache>
                <c:ptCount val="1"/>
                <c:pt idx="0">
                  <c:v>Regular 6–10%</c:v>
                </c:pt>
              </c:strCache>
            </c:strRef>
          </c:tx>
          <c:spPr>
            <a:solidFill>
              <a:srgbClr val="23262B"/>
            </a:solidFill>
            <a:effectLst/>
          </c:spPr>
          <c:invertIfNegative val="0"/>
          <c:dLbls>
            <c:numFmt formatCode="0.00" sourceLinked="0"/>
            <c:txPr>
              <a:bodyPr/>
              <a:lstStyle/>
              <a:p>
                <a:pPr>
                  <a:defRPr b="0" i="0" strike="noStrike" sz="800" u="none">
                    <a:solidFill>
                      <a:srgbClr val="5F6670"/>
                    </a:solidFill>
                    <a:latin typeface="Arial"/>
                  </a:defRPr>
                </a:pPr>
              </a:p>
            </c:txPr>
            <c:showLegendKey val="0"/>
            <c:showVal val="1"/>
            <c:showCatName val="0"/>
            <c:showSerName val="0"/>
            <c:showPercent val="0"/>
            <c:showBubbleSize val="0"/>
            <c:showLeaderLines val="0"/>
          </c:dLbls>
          <c:cat>
            <c:multiLvlStrRef>
              <c:f>Sheet1!$A$2:$A$5</c:f>
              <c:multiLvlStrCache>
                <c:ptCount val="4"/>
                <c:lvl>
                  <c:pt idx="0">
                    <c:v>TP0</c:v>
                  </c:pt>
                  <c:pt idx="1">
                    <c:v>TP4</c:v>
                  </c:pt>
                  <c:pt idx="2">
                    <c:v>TP9</c:v>
                  </c:pt>
                  <c:pt idx="3">
                    <c:v>TP14</c:v>
                  </c:pt>
                </c:lvl>
              </c:multiLvlStrCache>
            </c:multiLvlStrRef>
          </c:cat>
          <c:val>
            <c:numRef>
              <c:f>Sheet1!$B$2:$B$5</c:f>
              <c:numCache>
                <c:formatCode>General</c:formatCode>
                <c:ptCount val="4"/>
                <c:pt idx="0">
                  <c:v>2.15</c:v>
                </c:pt>
                <c:pt idx="1">
                  <c:v>3.152</c:v>
                </c:pt>
                <c:pt idx="2">
                  <c:v>4.847</c:v>
                </c:pt>
                <c:pt idx="3">
                  <c:v>6.084</c:v>
                </c:pt>
              </c:numCache>
            </c:numRef>
          </c:val>
        </c:ser>
        <c:ser>
          <c:idx val="1"/>
          <c:order val="1"/>
          <c:tx>
            <c:strRef>
              <c:f>Sheet1!$C$1</c:f>
              <c:strCache>
                <c:ptCount val="1"/>
                <c:pt idx="0">
                  <c:v>Buena 10–20%</c:v>
                </c:pt>
              </c:strCache>
            </c:strRef>
          </c:tx>
          <c:spPr>
            <a:solidFill>
              <a:srgbClr val="3E6283"/>
            </a:solidFill>
            <a:effectLst/>
          </c:spPr>
          <c:invertIfNegative val="0"/>
          <c:dLbls>
            <c:numFmt formatCode="0.00" sourceLinked="0"/>
            <c:txPr>
              <a:bodyPr/>
              <a:lstStyle/>
              <a:p>
                <a:pPr>
                  <a:defRPr b="0" i="0" strike="noStrike" sz="800" u="none">
                    <a:solidFill>
                      <a:srgbClr val="5F6670"/>
                    </a:solidFill>
                    <a:latin typeface="Arial"/>
                  </a:defRPr>
                </a:pPr>
              </a:p>
            </c:txPr>
            <c:showLegendKey val="0"/>
            <c:showVal val="1"/>
            <c:showCatName val="0"/>
            <c:showSerName val="0"/>
            <c:showPercent val="0"/>
            <c:showBubbleSize val="0"/>
            <c:showLeaderLines val="0"/>
          </c:dLbls>
          <c:cat>
            <c:multiLvlStrRef>
              <c:f>Sheet1!$A$2:$A$5</c:f>
              <c:multiLvlStrCache>
                <c:ptCount val="4"/>
                <c:lvl>
                  <c:pt idx="0">
                    <c:v>TP0</c:v>
                  </c:pt>
                  <c:pt idx="1">
                    <c:v>TP4</c:v>
                  </c:pt>
                  <c:pt idx="2">
                    <c:v>TP9</c:v>
                  </c:pt>
                  <c:pt idx="3">
                    <c:v>TP14</c:v>
                  </c:pt>
                </c:lvl>
              </c:multiLvlStrCache>
            </c:multiLvlStrRef>
          </c:cat>
          <c:val>
            <c:numRef>
              <c:f>Sheet1!$C$2:$C$5</c:f>
              <c:numCache>
                <c:formatCode>General</c:formatCode>
                <c:ptCount val="4"/>
                <c:pt idx="0">
                  <c:v>1.89</c:v>
                </c:pt>
                <c:pt idx="1">
                  <c:v>2.764</c:v>
                </c:pt>
                <c:pt idx="2">
                  <c:v>4.305</c:v>
                </c:pt>
                <c:pt idx="3">
                  <c:v>5.497</c:v>
                </c:pt>
              </c:numCache>
            </c:numRef>
          </c:val>
        </c:ser>
        <c:ser>
          <c:idx val="2"/>
          <c:order val="2"/>
          <c:tx>
            <c:strRef>
              <c:f>Sheet1!$D$1</c:f>
              <c:strCache>
                <c:ptCount val="1"/>
                <c:pt idx="0">
                  <c:v>Muy buena 20–30%</c:v>
                </c:pt>
              </c:strCache>
            </c:strRef>
          </c:tx>
          <c:spPr>
            <a:solidFill>
              <a:srgbClr val="8FA9C2"/>
            </a:solidFill>
            <a:effectLst/>
          </c:spPr>
          <c:invertIfNegative val="0"/>
          <c:dLbls>
            <c:numFmt formatCode="0.00" sourceLinked="0"/>
            <c:txPr>
              <a:bodyPr/>
              <a:lstStyle/>
              <a:p>
                <a:pPr>
                  <a:defRPr b="0" i="0" strike="noStrike" sz="800" u="none">
                    <a:solidFill>
                      <a:srgbClr val="5F6670"/>
                    </a:solidFill>
                    <a:latin typeface="Arial"/>
                  </a:defRPr>
                </a:pPr>
              </a:p>
            </c:txPr>
            <c:showLegendKey val="0"/>
            <c:showVal val="1"/>
            <c:showCatName val="0"/>
            <c:showSerName val="0"/>
            <c:showPercent val="0"/>
            <c:showBubbleSize val="0"/>
            <c:showLeaderLines val="0"/>
          </c:dLbls>
          <c:cat>
            <c:multiLvlStrRef>
              <c:f>Sheet1!$A$2:$A$5</c:f>
              <c:multiLvlStrCache>
                <c:ptCount val="4"/>
                <c:lvl>
                  <c:pt idx="0">
                    <c:v>TP0</c:v>
                  </c:pt>
                  <c:pt idx="1">
                    <c:v>TP4</c:v>
                  </c:pt>
                  <c:pt idx="2">
                    <c:v>TP9</c:v>
                  </c:pt>
                  <c:pt idx="3">
                    <c:v>TP14</c:v>
                  </c:pt>
                </c:lvl>
              </c:multiLvlStrCache>
            </c:multiLvlStrRef>
          </c:cat>
          <c:val>
            <c:numRef>
              <c:f>Sheet1!$D$2:$D$5</c:f>
              <c:numCache>
                <c:formatCode>General</c:formatCode>
                <c:ptCount val="4"/>
                <c:pt idx="0">
                  <c:v>1.63</c:v>
                </c:pt>
                <c:pt idx="1">
                  <c:v>2.348</c:v>
                </c:pt>
                <c:pt idx="2">
                  <c:v>3.652</c:v>
                </c:pt>
                <c:pt idx="3">
                  <c:v>4.783</c:v>
                </c:pt>
              </c:numCache>
            </c:numRef>
          </c:val>
        </c:ser>
        <c:ser>
          <c:idx val="3"/>
          <c:order val="3"/>
          <c:tx>
            <c:strRef>
              <c:f>Sheet1!$E$1</c:f>
              <c:strCache>
                <c:ptCount val="1"/>
                <c:pt idx="0">
                  <c:v>Excelente ≥30%</c:v>
                </c:pt>
              </c:strCache>
            </c:strRef>
          </c:tx>
          <c:spPr>
            <a:solidFill>
              <a:srgbClr val="F2B705"/>
            </a:solidFill>
            <a:effectLst/>
          </c:spPr>
          <c:invertIfNegative val="0"/>
          <c:dLbls>
            <c:numFmt formatCode="0.00" sourceLinked="0"/>
            <c:txPr>
              <a:bodyPr/>
              <a:lstStyle/>
              <a:p>
                <a:pPr>
                  <a:defRPr b="0" i="0" strike="noStrike" sz="800" u="none">
                    <a:solidFill>
                      <a:srgbClr val="5F6670"/>
                    </a:solidFill>
                    <a:latin typeface="Arial"/>
                  </a:defRPr>
                </a:pPr>
              </a:p>
            </c:txPr>
            <c:showLegendKey val="0"/>
            <c:showVal val="1"/>
            <c:showCatName val="0"/>
            <c:showSerName val="0"/>
            <c:showPercent val="0"/>
            <c:showBubbleSize val="0"/>
            <c:showLeaderLines val="0"/>
          </c:dLbls>
          <c:cat>
            <c:multiLvlStrRef>
              <c:f>Sheet1!$A$2:$A$5</c:f>
              <c:multiLvlStrCache>
                <c:ptCount val="4"/>
                <c:lvl>
                  <c:pt idx="0">
                    <c:v>TP0</c:v>
                  </c:pt>
                  <c:pt idx="1">
                    <c:v>TP4</c:v>
                  </c:pt>
                  <c:pt idx="2">
                    <c:v>TP9</c:v>
                  </c:pt>
                  <c:pt idx="3">
                    <c:v>TP14</c:v>
                  </c:pt>
                </c:lvl>
              </c:multiLvlStrCache>
            </c:multiLvlStrRef>
          </c:cat>
          <c:val>
            <c:numRef>
              <c:f>Sheet1!$E$2:$E$5</c:f>
              <c:numCache>
                <c:formatCode>General</c:formatCode>
                <c:ptCount val="4"/>
                <c:pt idx="0">
                  <c:v>1.63</c:v>
                </c:pt>
                <c:pt idx="1">
                  <c:v>2.14</c:v>
                </c:pt>
                <c:pt idx="2">
                  <c:v>3.288</c:v>
                </c:pt>
                <c:pt idx="3">
                  <c:v>4.348</c:v>
                </c:pt>
              </c:numCache>
            </c:numRef>
          </c:val>
        </c:ser>
        <c:dLbls>
          <c:numFmt formatCode="0.00" sourceLinked="0"/>
          <c:txPr>
            <a:bodyPr/>
            <a:lstStyle/>
            <a:p>
              <a:pPr>
                <a:defRPr b="0" i="0" strike="noStrike" sz="800" u="none">
                  <a:solidFill>
                    <a:srgbClr val="5F667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670"/>
                </a:solidFill>
                <a:latin typeface="Arial"/>
              </a:defRPr>
            </a:pPr>
            <a:endParaRPr lang="en-US"/>
          </a:p>
        </c:txPr>
        <c:crossAx val="2094734552"/>
        <c:crosses val="autoZero"/>
        <c:auto val="1"/>
        <c:lblAlgn val="ctr"/>
        <c:noMultiLvlLbl val="1"/>
      </c:catAx>
      <c:valAx>
        <c:axId val="2094734552"/>
        <c:scaling>
          <c:orientation val="minMax"/>
          <c:max val="7"/>
          <c:min val="0"/>
        </c:scaling>
        <c:delete val="0"/>
        <c:axPos val="l"/>
        <c:majorGridlines>
          <c:spPr>
            <a:ln w="6350" cap="flat">
              <a:solidFill>
                <a:srgbClr val="E6E9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67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328"/>
                </a:solidFill>
                <a:latin typeface="Cambria"/>
              </a:defRPr>
            </a:pPr>
            <a:r>
              <a:rPr sz="1500" b="0" i="0" u="none" strike="noStrike">
                <a:solidFill>
                  <a:srgbClr val="1F2328"/>
                </a:solidFill>
                <a:latin typeface="Cambria"/>
              </a:rPr>
              <a:t>Espesor de capa superficial (mm)</a:t>
            </a:r>
          </a:p>
        </c:rich>
      </c:tx>
      <c:layout/>
      <c:overlay val="0"/>
    </c:title>
    <c:autoTitleDeleted val="0"/>
    <c:plotArea>
      <c:layout/>
      <c:barChart>
        <c:barDir val="col"/>
        <c:grouping val="clustered"/>
        <c:varyColors val="0"/>
        <c:ser>
          <c:idx val="0"/>
          <c:order val="0"/>
          <c:tx>
            <c:strRef>
              <c:f>Sheet1!$B$1</c:f>
              <c:strCache>
                <c:ptCount val="1"/>
                <c:pt idx="0">
                  <c:v>Capa superficial (mm)</c:v>
                </c:pt>
              </c:strCache>
            </c:strRef>
          </c:tx>
          <c:spPr>
            <a:solidFill>
              <a:srgbClr val="23262B"/>
            </a:solidFill>
            <a:effectLst/>
          </c:spPr>
          <c:invertIfNegative val="0"/>
          <c:dLbls>
            <c:numFmt formatCode="#,##0" sourceLinked="0"/>
            <c:txPr>
              <a:bodyPr/>
              <a:lstStyle/>
              <a:p>
                <a:pPr>
                  <a:defRPr b="0" i="0" strike="noStrike" sz="1100" u="none">
                    <a:solidFill>
                      <a:srgbClr val="1F2328"/>
                    </a:solidFill>
                    <a:latin typeface="Arial"/>
                  </a:defRPr>
                </a:pPr>
              </a:p>
            </c:txPr>
            <c:showLegendKey val="0"/>
            <c:showVal val="1"/>
            <c:showCatName val="0"/>
            <c:showSerName val="0"/>
            <c:showPercent val="0"/>
            <c:showBubbleSize val="0"/>
            <c:showLeaderLines val="0"/>
          </c:dLbls>
          <c:cat>
            <c:multiLvlStrRef>
              <c:f>Sheet1!$A$2:$A$8</c:f>
              <c:multiLvlStrCache>
                <c:ptCount val="7"/>
                <c:lvl>
                  <c:pt idx="0">
                    <c:v>TPB0</c:v>
                  </c:pt>
                  <c:pt idx="1">
                    <c:v>TPB1</c:v>
                  </c:pt>
                  <c:pt idx="2">
                    <c:v>TPB2</c:v>
                  </c:pt>
                  <c:pt idx="3">
                    <c:v>TPB3</c:v>
                  </c:pt>
                  <c:pt idx="4">
                    <c:v>TPB4</c:v>
                  </c:pt>
                  <c:pt idx="5">
                    <c:v>TPB5</c:v>
                  </c:pt>
                  <c:pt idx="6">
                    <c:v>TPB6</c:v>
                  </c:pt>
                </c:lvl>
              </c:multiLvlStrCache>
            </c:multiLvlStrRef>
          </c:cat>
          <c:val>
            <c:numRef>
              <c:f>Sheet1!$B$2:$B$8</c:f>
              <c:numCache>
                <c:formatCode>General</c:formatCode>
                <c:ptCount val="7"/>
                <c:pt idx="0">
                  <c:v>40</c:v>
                </c:pt>
                <c:pt idx="1">
                  <c:v>50</c:v>
                </c:pt>
                <c:pt idx="2">
                  <c:v>60</c:v>
                </c:pt>
                <c:pt idx="3">
                  <c:v>70</c:v>
                </c:pt>
                <c:pt idx="4">
                  <c:v>80</c:v>
                </c:pt>
                <c:pt idx="5">
                  <c:v>80</c:v>
                </c:pt>
                <c:pt idx="6">
                  <c:v>90</c:v>
                </c:pt>
              </c:numCache>
            </c:numRef>
          </c:val>
        </c:ser>
        <c:dLbls>
          <c:numFmt formatCode="#,##0" sourceLinked="0"/>
          <c:txPr>
            <a:bodyPr/>
            <a:lstStyle/>
            <a:p>
              <a:pPr>
                <a:defRPr b="0" i="0" strike="noStrike" sz="1100" u="none">
                  <a:solidFill>
                    <a:srgbClr val="1F2328"/>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670"/>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6E9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6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Mi nombre es Oscar Javier Mamani Ancco. Hoy presento la Sección 12.2 del Manual de Carreteras del MTC: las secciones de estructuras de pavimento flexible y el diseño de bermas. La figura de la derecha muestra las capas típicas: carpeta o tratamiento superficial, base granular, subbase granular, apoyadas sobre la subrasante.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exposición tiene seis partes: primero el marco normativo y las variables que gobiernan el diseño; luego los espesores mínimos, los catálogos de número estructural, las limitaciones de uso de cada capa superficial, los tres enfoques de periodo de diseño y, finalmente, las bermas. Cierro con conclusiones.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fuente es el Manual de Carreteras del MTC, sección Suelos, Geología, Geotecnia y Pavimentos, de abril de 2014, capítulo 12. Todo el dimensionamiento depende de dos variables: la capacidad de soporte de la subrasante, medida con el CBR y clasificada de inadecuada a excelente; y el tráfico, expresado en repeticiones de ejes equivalentes en el carril de diseño, clasificado de TP0 a TP14. La idea clave: mejor subrasante y menos tráfico significan menor espesor.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cuadro 12.17 separa dos grupos. En caminos de bajo volumen, hasta un millón de ejes equivalentes, hay varias opciones de capa superficial: desde un tratamiento superficial bicapa o lechada de 12 mm hasta carpeta en caliente de 80 mm, con base granular de 150 mm (200 en TP4). Por encima de un millón de EE solo se admite carpeta en caliente, de 80 a 150 mm, con base de 200 a 300 mm. Importante: los espesores mínimos constructivos son 40 mm para carpeta en caliente y 150 mm para capas granulares.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manual ofrece catálogos del número estructural requerido, SN, para cinco alternativas de capa superficial; solo la carpeta en caliente cubre todo el rango TP0 a TP14. El gráfico muestra el ejemplo de la carpeta en caliente: el SN sube con el tráfico, de alrededor de 2 en TP0 a más de 6 en TP14 con subrasante regular; y baja cuando mejora la subrasante: en TP14 pasa de 6.08 con CBR regular a 4.35 con CBR excelente.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todas las capas se pueden usar en cualquier lugar. La carpeta en caliente no tiene restricciones. La carpeta en frío y el micropavimento se limitan a un millón de EE. El TSB y la lechada asfáltica son los más restringidos: hasta 500 mil EE, no aplican con pendientes mayores al 8 % ni en curvas pronunciadas o tramos donde los vehículos frenan, porque se desprenden por los esfuerzos tangenciales.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manual presenta tres enfoques. Primero, 10 años para bajo volumen, hasta un millón de EE, con cuatro alternativas de capa superficial. Segundo, 20 años en dos etapas: se construye la estructura inicial y al año 10 se coloca un refuerzo asfáltico; aplica sobre un millón de EE hasta TP14. Tercero, 20 años en una sola etapa con carpeta en caliente, para todo el rango, sin refuerzo intermedio, solo conservación con sellos.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bermas no son un accesorio: son parte estructural del pavimento. Cumplen cuatro funciones: soporte lateral, protección del borde, seguridad del usuario y refugio para vehículos averiados. Si la berma mide hasta 1.20 m, es una prolongación de la calzada y se construye al mismo tiempo, sin junta. Si es mayor a 1.20 m, tiene estructura propia, diseñada con el 5 % de los ejes equivalentes del carril. En zonas frías sobre 3000 msnm, o si la berma podría usarse como carril, se le da la misma estructura que la calzada.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cuadro 12.19 da los espesores mínimos de bermas según los ejes equivalentes acumulados sobre ellas, de TPB0 a TPB6. La capa superficial crece de 40 a 90 mm, y la base granular pasa de 150 a 200 mm a partir de TPB4, es decir, desde 750 mil EE. Si la capa resulta menor a 40 mm, puede usarse un equivalente en frío, macadam o micropavimento de 25 mm.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cinco ideas: el diseño depende del CBR y del tráfico; el manual da catálogos de número estructural para cinco tipos de superficie; hay tres enfoques de periodo de diseño; las bermas son estructurales y su diseño depende de su ancho; y, lo más importante, estas secciones son referenciales: el ingeniero responsable siempre debe verificar el diseño para las condiciones del proyecto.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Agradecer y abrir ronda de preguntas. Preguntas probables: ¿por qué el TSB no aplica en pendientes &gt; 8 %? (esfuerzos tangenciales de frenado/tracción desprenden el agregado); ¿de dónde sale el 5 % para bermas? (se asume que la berma recibe una fracción mínima del tráfico del carril); ¿qué pasa con CBR &lt; 3 %? (subrasante inadecuada: requiere mejoramiento o estabilización antes de diseñar).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62B"/>
        </a:solidFill>
      </p:bgPr>
    </p:bg>
    <p:spTree>
      <p:nvGrpSpPr>
        <p:cNvPr id="1" name=""/>
        <p:cNvGrpSpPr/>
        <p:nvPr/>
      </p:nvGrpSpPr>
      <p:grpSpPr>
        <a:xfrm>
          <a:off x="0" y="0"/>
          <a:ext cx="0" cy="0"/>
          <a:chOff x="0" y="0"/>
          <a:chExt cx="0" cy="0"/>
        </a:xfrm>
      </p:grpSpPr>
      <p:pic>
        <p:nvPicPr>
          <p:cNvPr id="2" name="Image 0" descr="/home/user/work/build/logo_una.png">    </p:cNvPr>
          <p:cNvPicPr>
            <a:picLocks noChangeAspect="1"/>
          </p:cNvPicPr>
          <p:nvPr/>
        </p:nvPicPr>
        <p:blipFill>
          <a:blip r:embed="rId1"/>
          <a:stretch>
            <a:fillRect/>
          </a:stretch>
        </p:blipFill>
        <p:spPr>
          <a:xfrm>
            <a:off x="548640" y="365760"/>
            <a:ext cx="795528" cy="868680"/>
          </a:xfrm>
          <a:prstGeom prst="rect">
            <a:avLst/>
          </a:prstGeom>
        </p:spPr>
      </p:pic>
      <p:pic>
        <p:nvPicPr>
          <p:cNvPr id="3" name="Image 1" descr="/home/user/work/build/logo_ic.png">    </p:cNvPr>
          <p:cNvPicPr>
            <a:picLocks noChangeAspect="1"/>
          </p:cNvPicPr>
          <p:nvPr/>
        </p:nvPicPr>
        <p:blipFill>
          <a:blip r:embed="rId2"/>
          <a:stretch>
            <a:fillRect/>
          </a:stretch>
        </p:blipFill>
        <p:spPr>
          <a:xfrm>
            <a:off x="1508760" y="365760"/>
            <a:ext cx="941832" cy="868680"/>
          </a:xfrm>
          <a:prstGeom prst="rect">
            <a:avLst/>
          </a:prstGeom>
        </p:spPr>
      </p:pic>
      <p:sp>
        <p:nvSpPr>
          <p:cNvPr id="4" name="Text 0"/>
          <p:cNvSpPr txBox="1"/>
          <p:nvPr/>
        </p:nvSpPr>
        <p:spPr>
          <a:xfrm>
            <a:off x="2651760" y="457200"/>
            <a:ext cx="6858000" cy="320040"/>
          </a:xfrm>
          <a:prstGeom prst="rect">
            <a:avLst/>
          </a:prstGeom>
          <a:noFill/>
          <a:ln/>
        </p:spPr>
        <p:txBody>
          <a:bodyPr wrap="square" lIns="0" tIns="0" rIns="0" bIns="0" rtlCol="0" anchor="ctr"/>
          <a:lstStyle/>
          <a:p>
            <a:pPr indent="0" marL="0">
              <a:buNone/>
            </a:pPr>
            <a:r>
              <a:rPr lang="en-US" sz="1400" b="1" spc="100" kern="0" dirty="0">
                <a:solidFill>
                  <a:srgbClr val="FFFFFF"/>
                </a:solidFill>
                <a:latin typeface="Calibri" pitchFamily="34" charset="0"/>
                <a:ea typeface="Calibri" pitchFamily="34" charset="-122"/>
                <a:cs typeface="Calibri" pitchFamily="34" charset="-120"/>
              </a:rPr>
              <a:t>UNIVERSIDAD NACIONAL DEL ALTIPLANO – PUNO</a:t>
            </a:r>
            <a:endParaRPr lang="en-US" sz="1400" dirty="0"/>
          </a:p>
        </p:txBody>
      </p:sp>
      <p:sp>
        <p:nvSpPr>
          <p:cNvPr id="5" name="Text 1"/>
          <p:cNvSpPr txBox="1"/>
          <p:nvPr/>
        </p:nvSpPr>
        <p:spPr>
          <a:xfrm>
            <a:off x="2651760" y="804672"/>
            <a:ext cx="5029200" cy="274320"/>
          </a:xfrm>
          <a:prstGeom prst="rect">
            <a:avLst/>
          </a:prstGeom>
          <a:noFill/>
          <a:ln/>
        </p:spPr>
        <p:txBody>
          <a:bodyPr wrap="square" lIns="0" tIns="0" rIns="0" bIns="0" rtlCol="0" anchor="ctr"/>
          <a:lstStyle/>
          <a:p>
            <a:pPr indent="0" marL="0">
              <a:buNone/>
            </a:pPr>
            <a:r>
              <a:rPr lang="en-US" sz="1300" dirty="0">
                <a:solidFill>
                  <a:srgbClr val="AEB4BC"/>
                </a:solidFill>
                <a:latin typeface="Calibri" pitchFamily="34" charset="0"/>
                <a:ea typeface="Calibri" pitchFamily="34" charset="-122"/>
                <a:cs typeface="Calibri" pitchFamily="34" charset="-120"/>
              </a:rPr>
              <a:t>Maestría en Ingeniería Civil</a:t>
            </a:r>
            <a:endParaRPr lang="en-US" sz="1300" dirty="0"/>
          </a:p>
        </p:txBody>
      </p:sp>
      <p:sp>
        <p:nvSpPr>
          <p:cNvPr id="6" name="Text 2"/>
          <p:cNvSpPr txBox="1"/>
          <p:nvPr/>
        </p:nvSpPr>
        <p:spPr>
          <a:xfrm>
            <a:off x="548640" y="1691640"/>
            <a:ext cx="6766560" cy="274320"/>
          </a:xfrm>
          <a:prstGeom prst="rect">
            <a:avLst/>
          </a:prstGeom>
          <a:noFill/>
          <a:ln/>
        </p:spPr>
        <p:txBody>
          <a:bodyPr wrap="square" lIns="0" tIns="0" rIns="0" bIns="0" rtlCol="0" anchor="ctr"/>
          <a:lstStyle/>
          <a:p>
            <a:pPr indent="0" marL="0">
              <a:buNone/>
            </a:pPr>
            <a:r>
              <a:rPr lang="en-US" sz="1200" b="1" spc="300" kern="0" dirty="0">
                <a:solidFill>
                  <a:srgbClr val="F2B705"/>
                </a:solidFill>
                <a:latin typeface="Calibri" pitchFamily="34" charset="0"/>
                <a:ea typeface="Calibri" pitchFamily="34" charset="-122"/>
                <a:cs typeface="Calibri" pitchFamily="34" charset="-120"/>
              </a:rPr>
              <a:t>SECCIÓN 12.2 · MANUAL DE CARRETERAS MTC 2014</a:t>
            </a:r>
            <a:endParaRPr lang="en-US" sz="1200" dirty="0"/>
          </a:p>
        </p:txBody>
      </p:sp>
      <p:sp>
        <p:nvSpPr>
          <p:cNvPr id="7" name="Text 3"/>
          <p:cNvSpPr txBox="1"/>
          <p:nvPr/>
        </p:nvSpPr>
        <p:spPr>
          <a:xfrm>
            <a:off x="548640" y="2011680"/>
            <a:ext cx="6766560" cy="16916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Secciones de Estructuras de Pavimento Flexible y Bermas</a:t>
            </a:r>
            <a:endParaRPr lang="en-US" sz="3600" dirty="0"/>
          </a:p>
        </p:txBody>
      </p:sp>
      <p:sp>
        <p:nvSpPr>
          <p:cNvPr id="8" name="Text 4"/>
          <p:cNvSpPr txBox="1"/>
          <p:nvPr/>
        </p:nvSpPr>
        <p:spPr>
          <a:xfrm>
            <a:off x="548640" y="3840480"/>
            <a:ext cx="6583680" cy="365760"/>
          </a:xfrm>
          <a:prstGeom prst="rect">
            <a:avLst/>
          </a:prstGeom>
          <a:noFill/>
          <a:ln/>
        </p:spPr>
        <p:txBody>
          <a:bodyPr wrap="square" lIns="0" tIns="0" rIns="0" bIns="0" rtlCol="0" anchor="ctr"/>
          <a:lstStyle/>
          <a:p>
            <a:pPr indent="0" marL="0">
              <a:buNone/>
            </a:pPr>
            <a:r>
              <a:rPr lang="en-US" sz="1800" i="1" dirty="0">
                <a:solidFill>
                  <a:srgbClr val="C9CED4"/>
                </a:solidFill>
                <a:latin typeface="Cambria" pitchFamily="34" charset="0"/>
                <a:ea typeface="Cambria" pitchFamily="34" charset="-122"/>
                <a:cs typeface="Cambria" pitchFamily="34" charset="-120"/>
              </a:rPr>
              <a:t>Suelos, Geología, Geotecnia y Pavimentos</a:t>
            </a:r>
            <a:endParaRPr lang="en-US" sz="1800" dirty="0"/>
          </a:p>
        </p:txBody>
      </p:sp>
      <p:sp>
        <p:nvSpPr>
          <p:cNvPr id="9" name="Text 5"/>
          <p:cNvSpPr txBox="1"/>
          <p:nvPr/>
        </p:nvSpPr>
        <p:spPr>
          <a:xfrm>
            <a:off x="548640" y="4572000"/>
            <a:ext cx="1737360" cy="329184"/>
          </a:xfrm>
          <a:prstGeom prst="rect">
            <a:avLst/>
          </a:prstGeom>
          <a:noFill/>
          <a:ln/>
        </p:spPr>
        <p:txBody>
          <a:bodyPr wrap="square" lIns="0" tIns="0" rIns="0" bIns="0" rtlCol="0" anchor="ctr"/>
          <a:lstStyle/>
          <a:p>
            <a:pPr indent="0" marL="0">
              <a:buNone/>
            </a:pPr>
            <a:r>
              <a:rPr lang="en-US" sz="1100" b="1" spc="100" kern="0" dirty="0">
                <a:solidFill>
                  <a:srgbClr val="F2B705"/>
                </a:solidFill>
                <a:latin typeface="Calibri" pitchFamily="34" charset="0"/>
                <a:ea typeface="Calibri" pitchFamily="34" charset="-122"/>
                <a:cs typeface="Calibri" pitchFamily="34" charset="-120"/>
              </a:rPr>
              <a:t>MAESTRANTE</a:t>
            </a:r>
            <a:endParaRPr lang="en-US" sz="1100" dirty="0"/>
          </a:p>
        </p:txBody>
      </p:sp>
      <p:sp>
        <p:nvSpPr>
          <p:cNvPr id="10" name="Text 6"/>
          <p:cNvSpPr txBox="1"/>
          <p:nvPr/>
        </p:nvSpPr>
        <p:spPr>
          <a:xfrm>
            <a:off x="2286000" y="4572000"/>
            <a:ext cx="484632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Oscar Javier Mamani Ancco</a:t>
            </a:r>
            <a:endParaRPr lang="en-US" sz="1500" dirty="0"/>
          </a:p>
        </p:txBody>
      </p:sp>
      <p:sp>
        <p:nvSpPr>
          <p:cNvPr id="11" name="Text 7"/>
          <p:cNvSpPr txBox="1"/>
          <p:nvPr/>
        </p:nvSpPr>
        <p:spPr>
          <a:xfrm>
            <a:off x="548640" y="4974336"/>
            <a:ext cx="1737360" cy="329184"/>
          </a:xfrm>
          <a:prstGeom prst="rect">
            <a:avLst/>
          </a:prstGeom>
          <a:noFill/>
          <a:ln/>
        </p:spPr>
        <p:txBody>
          <a:bodyPr wrap="square" lIns="0" tIns="0" rIns="0" bIns="0" rtlCol="0" anchor="ctr"/>
          <a:lstStyle/>
          <a:p>
            <a:pPr indent="0" marL="0">
              <a:buNone/>
            </a:pPr>
            <a:r>
              <a:rPr lang="en-US" sz="1100" b="1" spc="100" kern="0" dirty="0">
                <a:solidFill>
                  <a:srgbClr val="F2B705"/>
                </a:solidFill>
                <a:latin typeface="Calibri" pitchFamily="34" charset="0"/>
                <a:ea typeface="Calibri" pitchFamily="34" charset="-122"/>
                <a:cs typeface="Calibri" pitchFamily="34" charset="-120"/>
              </a:rPr>
              <a:t>PROGRAMA</a:t>
            </a:r>
            <a:endParaRPr lang="en-US" sz="1100" dirty="0"/>
          </a:p>
        </p:txBody>
      </p:sp>
      <p:sp>
        <p:nvSpPr>
          <p:cNvPr id="12" name="Text 8"/>
          <p:cNvSpPr txBox="1"/>
          <p:nvPr/>
        </p:nvSpPr>
        <p:spPr>
          <a:xfrm>
            <a:off x="2286000" y="4974336"/>
            <a:ext cx="4846320" cy="32918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Maestría en Ingeniería Civil</a:t>
            </a:r>
            <a:endParaRPr lang="en-US" sz="1500" dirty="0"/>
          </a:p>
        </p:txBody>
      </p:sp>
      <p:sp>
        <p:nvSpPr>
          <p:cNvPr id="13" name="Text 9"/>
          <p:cNvSpPr txBox="1"/>
          <p:nvPr/>
        </p:nvSpPr>
        <p:spPr>
          <a:xfrm>
            <a:off x="548640" y="5376672"/>
            <a:ext cx="1737360" cy="329184"/>
          </a:xfrm>
          <a:prstGeom prst="rect">
            <a:avLst/>
          </a:prstGeom>
          <a:noFill/>
          <a:ln/>
        </p:spPr>
        <p:txBody>
          <a:bodyPr wrap="square" lIns="0" tIns="0" rIns="0" bIns="0" rtlCol="0" anchor="ctr"/>
          <a:lstStyle/>
          <a:p>
            <a:pPr indent="0" marL="0">
              <a:buNone/>
            </a:pPr>
            <a:r>
              <a:rPr lang="en-US" sz="1100" b="1" spc="100" kern="0" dirty="0">
                <a:solidFill>
                  <a:srgbClr val="F2B705"/>
                </a:solidFill>
                <a:latin typeface="Calibri" pitchFamily="34" charset="0"/>
                <a:ea typeface="Calibri" pitchFamily="34" charset="-122"/>
                <a:cs typeface="Calibri" pitchFamily="34" charset="-120"/>
              </a:rPr>
              <a:t>GRUPO</a:t>
            </a:r>
            <a:endParaRPr lang="en-US" sz="1100" dirty="0"/>
          </a:p>
        </p:txBody>
      </p:sp>
      <p:sp>
        <p:nvSpPr>
          <p:cNvPr id="14" name="Text 10"/>
          <p:cNvSpPr txBox="1"/>
          <p:nvPr/>
        </p:nvSpPr>
        <p:spPr>
          <a:xfrm>
            <a:off x="2286000" y="5376672"/>
            <a:ext cx="4846320" cy="32918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Único</a:t>
            </a:r>
            <a:endParaRPr lang="en-US" sz="1500" dirty="0"/>
          </a:p>
        </p:txBody>
      </p:sp>
      <p:sp>
        <p:nvSpPr>
          <p:cNvPr id="15" name="Text 11"/>
          <p:cNvSpPr txBox="1"/>
          <p:nvPr/>
        </p:nvSpPr>
        <p:spPr>
          <a:xfrm>
            <a:off x="548640" y="5779008"/>
            <a:ext cx="1737360" cy="329184"/>
          </a:xfrm>
          <a:prstGeom prst="rect">
            <a:avLst/>
          </a:prstGeom>
          <a:noFill/>
          <a:ln/>
        </p:spPr>
        <p:txBody>
          <a:bodyPr wrap="square" lIns="0" tIns="0" rIns="0" bIns="0" rtlCol="0" anchor="ctr"/>
          <a:lstStyle/>
          <a:p>
            <a:pPr indent="0" marL="0">
              <a:buNone/>
            </a:pPr>
            <a:r>
              <a:rPr lang="en-US" sz="1100" b="1" spc="100" kern="0" dirty="0">
                <a:solidFill>
                  <a:srgbClr val="F2B705"/>
                </a:solidFill>
                <a:latin typeface="Calibri" pitchFamily="34" charset="0"/>
                <a:ea typeface="Calibri" pitchFamily="34" charset="-122"/>
                <a:cs typeface="Calibri" pitchFamily="34" charset="-120"/>
              </a:rPr>
              <a:t>LUGAR</a:t>
            </a:r>
            <a:endParaRPr lang="en-US" sz="1100" dirty="0"/>
          </a:p>
        </p:txBody>
      </p:sp>
      <p:sp>
        <p:nvSpPr>
          <p:cNvPr id="16" name="Text 12"/>
          <p:cNvSpPr txBox="1"/>
          <p:nvPr/>
        </p:nvSpPr>
        <p:spPr>
          <a:xfrm>
            <a:off x="2286000" y="5779008"/>
            <a:ext cx="4846320" cy="32918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Puno, Perú · 2026</a:t>
            </a:r>
            <a:endParaRPr lang="en-US" sz="1500" dirty="0"/>
          </a:p>
        </p:txBody>
      </p:sp>
      <p:sp>
        <p:nvSpPr>
          <p:cNvPr id="17" name="Shape 13"/>
          <p:cNvSpPr/>
          <p:nvPr/>
        </p:nvSpPr>
        <p:spPr>
          <a:xfrm>
            <a:off x="7726680" y="1737360"/>
            <a:ext cx="3931920" cy="496062"/>
          </a:xfrm>
          <a:prstGeom prst="rect">
            <a:avLst/>
          </a:prstGeom>
          <a:solidFill>
            <a:srgbClr val="33373E"/>
          </a:solidFill>
          <a:ln w="12700">
            <a:solidFill>
              <a:srgbClr val="5A5F68"/>
            </a:solidFill>
            <a:prstDash val="solid"/>
          </a:ln>
        </p:spPr>
      </p:sp>
      <p:sp>
        <p:nvSpPr>
          <p:cNvPr id="18" name="Text 14"/>
          <p:cNvSpPr txBox="1"/>
          <p:nvPr/>
        </p:nvSpPr>
        <p:spPr>
          <a:xfrm>
            <a:off x="7909560" y="1737360"/>
            <a:ext cx="3566160" cy="49606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Carpeta / tratamiento superficial</a:t>
            </a:r>
            <a:endParaRPr lang="en-US" sz="1300" dirty="0"/>
          </a:p>
        </p:txBody>
      </p:sp>
      <p:sp>
        <p:nvSpPr>
          <p:cNvPr id="19" name="Shape 15"/>
          <p:cNvSpPr/>
          <p:nvPr/>
        </p:nvSpPr>
        <p:spPr>
          <a:xfrm>
            <a:off x="7726680" y="2233422"/>
            <a:ext cx="3931920" cy="850392"/>
          </a:xfrm>
          <a:prstGeom prst="rect">
            <a:avLst/>
          </a:prstGeom>
          <a:solidFill>
            <a:srgbClr val="A8845A"/>
          </a:solidFill>
          <a:ln w="12700">
            <a:solidFill>
              <a:srgbClr val="A8845A"/>
            </a:solidFill>
            <a:prstDash val="solid"/>
          </a:ln>
        </p:spPr>
      </p:sp>
      <p:sp>
        <p:nvSpPr>
          <p:cNvPr id="20" name="Text 16"/>
          <p:cNvSpPr txBox="1"/>
          <p:nvPr/>
        </p:nvSpPr>
        <p:spPr>
          <a:xfrm>
            <a:off x="7909560" y="2233422"/>
            <a:ext cx="3566160" cy="8503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Base granular</a:t>
            </a:r>
            <a:endParaRPr lang="en-US" sz="1300" dirty="0"/>
          </a:p>
        </p:txBody>
      </p:sp>
      <p:sp>
        <p:nvSpPr>
          <p:cNvPr id="21" name="Shape 17"/>
          <p:cNvSpPr/>
          <p:nvPr/>
        </p:nvSpPr>
        <p:spPr>
          <a:xfrm>
            <a:off x="7726680" y="3083814"/>
            <a:ext cx="3931920" cy="850392"/>
          </a:xfrm>
          <a:prstGeom prst="rect">
            <a:avLst/>
          </a:prstGeom>
          <a:solidFill>
            <a:srgbClr val="C9AD84"/>
          </a:solidFill>
          <a:ln w="12700">
            <a:solidFill>
              <a:srgbClr val="C9AD84"/>
            </a:solidFill>
            <a:prstDash val="solid"/>
          </a:ln>
        </p:spPr>
      </p:sp>
      <p:sp>
        <p:nvSpPr>
          <p:cNvPr id="22" name="Text 18"/>
          <p:cNvSpPr txBox="1"/>
          <p:nvPr/>
        </p:nvSpPr>
        <p:spPr>
          <a:xfrm>
            <a:off x="7909560" y="3083814"/>
            <a:ext cx="3566160" cy="8503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Subbase granular</a:t>
            </a:r>
            <a:endParaRPr lang="en-US" sz="1300" dirty="0"/>
          </a:p>
        </p:txBody>
      </p:sp>
      <p:sp>
        <p:nvSpPr>
          <p:cNvPr id="23" name="Shape 19"/>
          <p:cNvSpPr/>
          <p:nvPr/>
        </p:nvSpPr>
        <p:spPr>
          <a:xfrm>
            <a:off x="7726680" y="3934206"/>
            <a:ext cx="3931920" cy="1062990"/>
          </a:xfrm>
          <a:prstGeom prst="rect">
            <a:avLst/>
          </a:prstGeom>
          <a:solidFill>
            <a:srgbClr val="8A6F52"/>
          </a:solidFill>
          <a:ln w="12700">
            <a:solidFill>
              <a:srgbClr val="8A6F52"/>
            </a:solidFill>
            <a:prstDash val="solid"/>
          </a:ln>
        </p:spPr>
      </p:sp>
      <p:sp>
        <p:nvSpPr>
          <p:cNvPr id="24" name="Text 20"/>
          <p:cNvSpPr txBox="1"/>
          <p:nvPr/>
        </p:nvSpPr>
        <p:spPr>
          <a:xfrm>
            <a:off x="7909560" y="3934206"/>
            <a:ext cx="3566160" cy="106299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Subrasante (CBR)</a:t>
            </a:r>
            <a:endParaRPr lang="en-US" sz="1300" dirty="0"/>
          </a:p>
        </p:txBody>
      </p:sp>
      <p:sp>
        <p:nvSpPr>
          <p:cNvPr id="25" name="Shape 21"/>
          <p:cNvSpPr/>
          <p:nvPr/>
        </p:nvSpPr>
        <p:spPr>
          <a:xfrm>
            <a:off x="8001000" y="1567282"/>
            <a:ext cx="491490" cy="85039"/>
          </a:xfrm>
          <a:prstGeom prst="rect">
            <a:avLst/>
          </a:prstGeom>
          <a:solidFill>
            <a:srgbClr val="F2B705"/>
          </a:solidFill>
          <a:ln w="12700">
            <a:solidFill>
              <a:srgbClr val="F2B705"/>
            </a:solidFill>
            <a:prstDash val="solid"/>
          </a:ln>
        </p:spPr>
      </p:sp>
      <p:sp>
        <p:nvSpPr>
          <p:cNvPr id="26" name="Shape 22"/>
          <p:cNvSpPr/>
          <p:nvPr/>
        </p:nvSpPr>
        <p:spPr>
          <a:xfrm>
            <a:off x="8983980" y="1567282"/>
            <a:ext cx="491490" cy="85039"/>
          </a:xfrm>
          <a:prstGeom prst="rect">
            <a:avLst/>
          </a:prstGeom>
          <a:solidFill>
            <a:srgbClr val="F2B705"/>
          </a:solidFill>
          <a:ln w="12700">
            <a:solidFill>
              <a:srgbClr val="F2B705"/>
            </a:solidFill>
            <a:prstDash val="solid"/>
          </a:ln>
        </p:spPr>
      </p:sp>
      <p:sp>
        <p:nvSpPr>
          <p:cNvPr id="27" name="Shape 23"/>
          <p:cNvSpPr/>
          <p:nvPr/>
        </p:nvSpPr>
        <p:spPr>
          <a:xfrm>
            <a:off x="9966960" y="1567282"/>
            <a:ext cx="491490" cy="85039"/>
          </a:xfrm>
          <a:prstGeom prst="rect">
            <a:avLst/>
          </a:prstGeom>
          <a:solidFill>
            <a:srgbClr val="F2B705"/>
          </a:solidFill>
          <a:ln w="12700">
            <a:solidFill>
              <a:srgbClr val="F2B705"/>
            </a:solidFill>
            <a:prstDash val="solid"/>
          </a:ln>
        </p:spPr>
      </p:sp>
      <p:sp>
        <p:nvSpPr>
          <p:cNvPr id="28" name="Shape 24"/>
          <p:cNvSpPr/>
          <p:nvPr/>
        </p:nvSpPr>
        <p:spPr>
          <a:xfrm>
            <a:off x="10949940" y="1567282"/>
            <a:ext cx="491490" cy="85039"/>
          </a:xfrm>
          <a:prstGeom prst="rect">
            <a:avLst/>
          </a:prstGeom>
          <a:solidFill>
            <a:srgbClr val="F2B705"/>
          </a:solidFill>
          <a:ln w="12700">
            <a:solidFill>
              <a:srgbClr val="F2B705"/>
            </a:solidFill>
            <a:prstDash val="solid"/>
          </a:ln>
        </p:spPr>
      </p:sp>
      <p:sp>
        <p:nvSpPr>
          <p:cNvPr id="29" name="Text 25"/>
          <p:cNvSpPr txBox="1"/>
          <p:nvPr/>
        </p:nvSpPr>
        <p:spPr>
          <a:xfrm>
            <a:off x="7726680" y="5943600"/>
            <a:ext cx="3931920" cy="274320"/>
          </a:xfrm>
          <a:prstGeom prst="rect">
            <a:avLst/>
          </a:prstGeom>
          <a:noFill/>
          <a:ln/>
        </p:spPr>
        <p:txBody>
          <a:bodyPr wrap="square" lIns="0" tIns="0" rIns="0" bIns="0" rtlCol="0" anchor="ctr"/>
          <a:lstStyle/>
          <a:p>
            <a:pPr algn="ctr" indent="0" marL="0">
              <a:buNone/>
            </a:pPr>
            <a:r>
              <a:rPr lang="en-US" sz="1100" i="1" dirty="0">
                <a:solidFill>
                  <a:srgbClr val="AEB4BC"/>
                </a:solidFill>
                <a:latin typeface="Calibri" pitchFamily="34" charset="0"/>
                <a:ea typeface="Calibri" pitchFamily="34" charset="-122"/>
                <a:cs typeface="Calibri" pitchFamily="34" charset="-120"/>
              </a:rPr>
              <a:t>Sección típica de pavimento flexible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3E6283"/>
                </a:solidFill>
                <a:latin typeface="Calibri" pitchFamily="34" charset="0"/>
                <a:ea typeface="Calibri" pitchFamily="34" charset="-122"/>
                <a:cs typeface="Calibri" pitchFamily="34" charset="-120"/>
              </a:rPr>
              <a:t>CONTENIDO</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indent="0" marL="0">
              <a:buNone/>
            </a:pPr>
            <a:r>
              <a:rPr lang="en-US" sz="3200" b="1" dirty="0">
                <a:solidFill>
                  <a:srgbClr val="1F2328"/>
                </a:solidFill>
                <a:latin typeface="Cambria" pitchFamily="34" charset="0"/>
                <a:ea typeface="Cambria" pitchFamily="34" charset="-122"/>
                <a:cs typeface="Cambria" pitchFamily="34" charset="-120"/>
              </a:rPr>
              <a:t>Agenda de la exposición</a:t>
            </a:r>
            <a:endParaRPr lang="en-US" sz="3200" dirty="0"/>
          </a:p>
        </p:txBody>
      </p:sp>
      <p:sp>
        <p:nvSpPr>
          <p:cNvPr id="4" name="Text 2"/>
          <p:cNvSpPr txBox="1"/>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48640" y="1691640"/>
            <a:ext cx="5394960" cy="1234440"/>
          </a:xfrm>
          <a:prstGeom prst="rect">
            <a:avLst/>
          </a:prstGeom>
          <a:solidFill>
            <a:srgbClr val="FFFFFF"/>
          </a:solidFill>
          <a:ln w="9525">
            <a:solidFill>
              <a:srgbClr val="D5D9DE"/>
            </a:solidFill>
            <a:prstDash val="solid"/>
          </a:ln>
          <a:effectLst>
            <a:outerShdw sx="100000" sy="100000" kx="0" ky="0" algn="bl" rotWithShape="0" blurRad="76200" dist="25400" dir="5400000">
              <a:srgbClr val="000000">
                <a:alpha val="8000"/>
              </a:srgbClr>
            </a:outerShdw>
          </a:effectLst>
        </p:spPr>
      </p:sp>
      <p:sp>
        <p:nvSpPr>
          <p:cNvPr id="6" name="Text 4"/>
          <p:cNvSpPr txBox="1"/>
          <p:nvPr/>
        </p:nvSpPr>
        <p:spPr>
          <a:xfrm>
            <a:off x="822960" y="1691640"/>
            <a:ext cx="731520" cy="1234440"/>
          </a:xfrm>
          <a:prstGeom prst="rect">
            <a:avLst/>
          </a:prstGeom>
          <a:noFill/>
          <a:ln/>
        </p:spPr>
        <p:txBody>
          <a:bodyPr wrap="square" lIns="0" tIns="0" rIns="0" bIns="0" rtlCol="0" anchor="ctr"/>
          <a:lstStyle/>
          <a:p>
            <a:pPr indent="0" marL="0">
              <a:buNone/>
            </a:pPr>
            <a:r>
              <a:rPr lang="en-US" sz="3000" b="1" dirty="0">
                <a:solidFill>
                  <a:srgbClr val="3E6283"/>
                </a:solidFill>
                <a:latin typeface="Cambria" pitchFamily="34" charset="0"/>
                <a:ea typeface="Cambria" pitchFamily="34" charset="-122"/>
                <a:cs typeface="Cambria" pitchFamily="34" charset="-120"/>
              </a:rPr>
              <a:t>01</a:t>
            </a:r>
            <a:endParaRPr lang="en-US" sz="3000" dirty="0"/>
          </a:p>
        </p:txBody>
      </p:sp>
      <p:sp>
        <p:nvSpPr>
          <p:cNvPr id="7" name="Shape 5"/>
          <p:cNvSpPr/>
          <p:nvPr/>
        </p:nvSpPr>
        <p:spPr>
          <a:xfrm>
            <a:off x="1600200" y="2057400"/>
            <a:ext cx="502920" cy="502920"/>
          </a:xfrm>
          <a:prstGeom prst="ellipse">
            <a:avLst/>
          </a:prstGeom>
          <a:solidFill>
            <a:srgbClr val="F2B705"/>
          </a:solidFill>
          <a:ln w="12700">
            <a:solidFill>
              <a:srgbClr val="F2B705"/>
            </a:solidFill>
            <a:prstDash val="solid"/>
          </a:ln>
        </p:spPr>
      </p:sp>
      <p:pic>
        <p:nvPicPr>
          <p:cNvPr id="8" name="Image 0" descr="preencoded.png">    </p:cNvPr>
          <p:cNvPicPr>
            <a:picLocks noChangeAspect="1"/>
          </p:cNvPicPr>
          <p:nvPr/>
        </p:nvPicPr>
        <p:blipFill>
          <a:blip r:embed="rId1"/>
          <a:stretch>
            <a:fillRect/>
          </a:stretch>
        </p:blipFill>
        <p:spPr>
          <a:xfrm>
            <a:off x="1720901" y="2178101"/>
            <a:ext cx="261518" cy="261518"/>
          </a:xfrm>
          <a:prstGeom prst="rect">
            <a:avLst/>
          </a:prstGeom>
        </p:spPr>
      </p:pic>
      <p:sp>
        <p:nvSpPr>
          <p:cNvPr id="9" name="Text 6"/>
          <p:cNvSpPr txBox="1"/>
          <p:nvPr/>
        </p:nvSpPr>
        <p:spPr>
          <a:xfrm>
            <a:off x="2331720" y="1920240"/>
            <a:ext cx="3474720" cy="411480"/>
          </a:xfrm>
          <a:prstGeom prst="rect">
            <a:avLst/>
          </a:prstGeom>
          <a:noFill/>
          <a:ln/>
        </p:spPr>
        <p:txBody>
          <a:bodyPr wrap="square" lIns="0" tIns="0" rIns="0" bIns="0" rtlCol="0" anchor="ctr"/>
          <a:lstStyle/>
          <a:p>
            <a:pPr indent="0" marL="0">
              <a:buNone/>
            </a:pPr>
            <a:r>
              <a:rPr lang="en-US" sz="1800" b="1" dirty="0">
                <a:solidFill>
                  <a:srgbClr val="1F2328"/>
                </a:solidFill>
                <a:latin typeface="Cambria" pitchFamily="34" charset="0"/>
                <a:ea typeface="Cambria" pitchFamily="34" charset="-122"/>
                <a:cs typeface="Cambria" pitchFamily="34" charset="-120"/>
              </a:rPr>
              <a:t>Marco normativo</a:t>
            </a:r>
            <a:endParaRPr lang="en-US" sz="1800" dirty="0"/>
          </a:p>
        </p:txBody>
      </p:sp>
      <p:sp>
        <p:nvSpPr>
          <p:cNvPr id="10" name="Text 7"/>
          <p:cNvSpPr txBox="1"/>
          <p:nvPr/>
        </p:nvSpPr>
        <p:spPr>
          <a:xfrm>
            <a:off x="2331720" y="2331720"/>
            <a:ext cx="3474720" cy="411480"/>
          </a:xfrm>
          <a:prstGeom prst="rect">
            <a:avLst/>
          </a:prstGeom>
          <a:noFill/>
          <a:ln/>
        </p:spPr>
        <p:txBody>
          <a:bodyPr wrap="square" lIns="0" tIns="0" rIns="0" bIns="0" rtlCol="0" anchor="ctr"/>
          <a:lstStyle/>
          <a:p>
            <a:pPr indent="0" marL="0">
              <a:buNone/>
            </a:pPr>
            <a:r>
              <a:rPr lang="en-US" sz="1300" dirty="0">
                <a:solidFill>
                  <a:srgbClr val="5F6670"/>
                </a:solidFill>
                <a:latin typeface="Calibri" pitchFamily="34" charset="0"/>
                <a:ea typeface="Calibri" pitchFamily="34" charset="-122"/>
                <a:cs typeface="Calibri" pitchFamily="34" charset="-120"/>
              </a:rPr>
              <a:t>Documento fuente y variables de diseño (CBR y tráfico)</a:t>
            </a:r>
            <a:endParaRPr lang="en-US" sz="1300" dirty="0"/>
          </a:p>
        </p:txBody>
      </p:sp>
      <p:sp>
        <p:nvSpPr>
          <p:cNvPr id="11" name="Shape 8"/>
          <p:cNvSpPr/>
          <p:nvPr/>
        </p:nvSpPr>
        <p:spPr>
          <a:xfrm>
            <a:off x="6172200" y="1691640"/>
            <a:ext cx="5394960" cy="1234440"/>
          </a:xfrm>
          <a:prstGeom prst="rect">
            <a:avLst/>
          </a:prstGeom>
          <a:solidFill>
            <a:srgbClr val="FFFFFF"/>
          </a:solidFill>
          <a:ln w="9525">
            <a:solidFill>
              <a:srgbClr val="D5D9DE"/>
            </a:solidFill>
            <a:prstDash val="solid"/>
          </a:ln>
          <a:effectLst>
            <a:outerShdw sx="100000" sy="100000" kx="0" ky="0" algn="bl" rotWithShape="0" blurRad="76200" dist="25400" dir="5400000">
              <a:srgbClr val="000000">
                <a:alpha val="8000"/>
              </a:srgbClr>
            </a:outerShdw>
          </a:effectLst>
        </p:spPr>
      </p:sp>
      <p:sp>
        <p:nvSpPr>
          <p:cNvPr id="12" name="Text 9"/>
          <p:cNvSpPr txBox="1"/>
          <p:nvPr/>
        </p:nvSpPr>
        <p:spPr>
          <a:xfrm>
            <a:off x="6446520" y="1691640"/>
            <a:ext cx="731520" cy="1234440"/>
          </a:xfrm>
          <a:prstGeom prst="rect">
            <a:avLst/>
          </a:prstGeom>
          <a:noFill/>
          <a:ln/>
        </p:spPr>
        <p:txBody>
          <a:bodyPr wrap="square" lIns="0" tIns="0" rIns="0" bIns="0" rtlCol="0" anchor="ctr"/>
          <a:lstStyle/>
          <a:p>
            <a:pPr indent="0" marL="0">
              <a:buNone/>
            </a:pPr>
            <a:r>
              <a:rPr lang="en-US" sz="3000" b="1" dirty="0">
                <a:solidFill>
                  <a:srgbClr val="3E6283"/>
                </a:solidFill>
                <a:latin typeface="Cambria" pitchFamily="34" charset="0"/>
                <a:ea typeface="Cambria" pitchFamily="34" charset="-122"/>
                <a:cs typeface="Cambria" pitchFamily="34" charset="-120"/>
              </a:rPr>
              <a:t>02</a:t>
            </a:r>
            <a:endParaRPr lang="en-US" sz="3000" dirty="0"/>
          </a:p>
        </p:txBody>
      </p:sp>
      <p:sp>
        <p:nvSpPr>
          <p:cNvPr id="13" name="Shape 10"/>
          <p:cNvSpPr/>
          <p:nvPr/>
        </p:nvSpPr>
        <p:spPr>
          <a:xfrm>
            <a:off x="7223760" y="2057400"/>
            <a:ext cx="502920" cy="502920"/>
          </a:xfrm>
          <a:prstGeom prst="ellipse">
            <a:avLst/>
          </a:prstGeom>
          <a:solidFill>
            <a:srgbClr val="F2B705"/>
          </a:solidFill>
          <a:ln w="12700">
            <a:solidFill>
              <a:srgbClr val="F2B705"/>
            </a:solidFill>
            <a:prstDash val="solid"/>
          </a:ln>
        </p:spPr>
      </p:sp>
      <p:pic>
        <p:nvPicPr>
          <p:cNvPr id="14" name="Image 1" descr="preencoded.png">    </p:cNvPr>
          <p:cNvPicPr>
            <a:picLocks noChangeAspect="1"/>
          </p:cNvPicPr>
          <p:nvPr/>
        </p:nvPicPr>
        <p:blipFill>
          <a:blip r:embed="rId2"/>
          <a:stretch>
            <a:fillRect/>
          </a:stretch>
        </p:blipFill>
        <p:spPr>
          <a:xfrm>
            <a:off x="7344461" y="2178101"/>
            <a:ext cx="261518" cy="261518"/>
          </a:xfrm>
          <a:prstGeom prst="rect">
            <a:avLst/>
          </a:prstGeom>
        </p:spPr>
      </p:pic>
      <p:sp>
        <p:nvSpPr>
          <p:cNvPr id="15" name="Text 11"/>
          <p:cNvSpPr txBox="1"/>
          <p:nvPr/>
        </p:nvSpPr>
        <p:spPr>
          <a:xfrm>
            <a:off x="7955280" y="1920240"/>
            <a:ext cx="3474720" cy="411480"/>
          </a:xfrm>
          <a:prstGeom prst="rect">
            <a:avLst/>
          </a:prstGeom>
          <a:noFill/>
          <a:ln/>
        </p:spPr>
        <p:txBody>
          <a:bodyPr wrap="square" lIns="0" tIns="0" rIns="0" bIns="0" rtlCol="0" anchor="ctr"/>
          <a:lstStyle/>
          <a:p>
            <a:pPr indent="0" marL="0">
              <a:buNone/>
            </a:pPr>
            <a:r>
              <a:rPr lang="en-US" sz="1800" b="1" dirty="0">
                <a:solidFill>
                  <a:srgbClr val="1F2328"/>
                </a:solidFill>
                <a:latin typeface="Cambria" pitchFamily="34" charset="0"/>
                <a:ea typeface="Cambria" pitchFamily="34" charset="-122"/>
                <a:cs typeface="Cambria" pitchFamily="34" charset="-120"/>
              </a:rPr>
              <a:t>Espesores mínimos</a:t>
            </a:r>
            <a:endParaRPr lang="en-US" sz="1800" dirty="0"/>
          </a:p>
        </p:txBody>
      </p:sp>
      <p:sp>
        <p:nvSpPr>
          <p:cNvPr id="16" name="Text 12"/>
          <p:cNvSpPr txBox="1"/>
          <p:nvPr/>
        </p:nvSpPr>
        <p:spPr>
          <a:xfrm>
            <a:off x="7955280" y="2331720"/>
            <a:ext cx="3474720" cy="411480"/>
          </a:xfrm>
          <a:prstGeom prst="rect">
            <a:avLst/>
          </a:prstGeom>
          <a:noFill/>
          <a:ln/>
        </p:spPr>
        <p:txBody>
          <a:bodyPr wrap="square" lIns="0" tIns="0" rIns="0" bIns="0" rtlCol="0" anchor="ctr"/>
          <a:lstStyle/>
          <a:p>
            <a:pPr indent="0" marL="0">
              <a:buNone/>
            </a:pPr>
            <a:r>
              <a:rPr lang="en-US" sz="1300" dirty="0">
                <a:solidFill>
                  <a:srgbClr val="5F6670"/>
                </a:solidFill>
                <a:latin typeface="Calibri" pitchFamily="34" charset="0"/>
                <a:ea typeface="Calibri" pitchFamily="34" charset="-122"/>
                <a:cs typeface="Calibri" pitchFamily="34" charset="-120"/>
              </a:rPr>
              <a:t>Cuadro 12.17 — calzada según tráfico</a:t>
            </a:r>
            <a:endParaRPr lang="en-US" sz="1300" dirty="0"/>
          </a:p>
        </p:txBody>
      </p:sp>
      <p:sp>
        <p:nvSpPr>
          <p:cNvPr id="17" name="Shape 13"/>
          <p:cNvSpPr/>
          <p:nvPr/>
        </p:nvSpPr>
        <p:spPr>
          <a:xfrm>
            <a:off x="548640" y="3154680"/>
            <a:ext cx="5394960" cy="1234440"/>
          </a:xfrm>
          <a:prstGeom prst="rect">
            <a:avLst/>
          </a:prstGeom>
          <a:solidFill>
            <a:srgbClr val="FFFFFF"/>
          </a:solidFill>
          <a:ln w="9525">
            <a:solidFill>
              <a:srgbClr val="D5D9DE"/>
            </a:solidFill>
            <a:prstDash val="solid"/>
          </a:ln>
          <a:effectLst>
            <a:outerShdw sx="100000" sy="100000" kx="0" ky="0" algn="bl" rotWithShape="0" blurRad="76200" dist="25400" dir="5400000">
              <a:srgbClr val="000000">
                <a:alpha val="8000"/>
              </a:srgbClr>
            </a:outerShdw>
          </a:effectLst>
        </p:spPr>
      </p:sp>
      <p:sp>
        <p:nvSpPr>
          <p:cNvPr id="18" name="Text 14"/>
          <p:cNvSpPr txBox="1"/>
          <p:nvPr/>
        </p:nvSpPr>
        <p:spPr>
          <a:xfrm>
            <a:off x="822960" y="3154680"/>
            <a:ext cx="731520" cy="1234440"/>
          </a:xfrm>
          <a:prstGeom prst="rect">
            <a:avLst/>
          </a:prstGeom>
          <a:noFill/>
          <a:ln/>
        </p:spPr>
        <p:txBody>
          <a:bodyPr wrap="square" lIns="0" tIns="0" rIns="0" bIns="0" rtlCol="0" anchor="ctr"/>
          <a:lstStyle/>
          <a:p>
            <a:pPr indent="0" marL="0">
              <a:buNone/>
            </a:pPr>
            <a:r>
              <a:rPr lang="en-US" sz="3000" b="1" dirty="0">
                <a:solidFill>
                  <a:srgbClr val="3E6283"/>
                </a:solidFill>
                <a:latin typeface="Cambria" pitchFamily="34" charset="0"/>
                <a:ea typeface="Cambria" pitchFamily="34" charset="-122"/>
                <a:cs typeface="Cambria" pitchFamily="34" charset="-120"/>
              </a:rPr>
              <a:t>03</a:t>
            </a:r>
            <a:endParaRPr lang="en-US" sz="3000" dirty="0"/>
          </a:p>
        </p:txBody>
      </p:sp>
      <p:sp>
        <p:nvSpPr>
          <p:cNvPr id="19" name="Shape 15"/>
          <p:cNvSpPr/>
          <p:nvPr/>
        </p:nvSpPr>
        <p:spPr>
          <a:xfrm>
            <a:off x="1600200" y="3520440"/>
            <a:ext cx="502920" cy="502920"/>
          </a:xfrm>
          <a:prstGeom prst="ellipse">
            <a:avLst/>
          </a:prstGeom>
          <a:solidFill>
            <a:srgbClr val="F2B705"/>
          </a:solidFill>
          <a:ln w="12700">
            <a:solidFill>
              <a:srgbClr val="F2B705"/>
            </a:solidFill>
            <a:prstDash val="solid"/>
          </a:ln>
        </p:spPr>
      </p:sp>
      <p:pic>
        <p:nvPicPr>
          <p:cNvPr id="20" name="Image 2" descr="preencoded.png">    </p:cNvPr>
          <p:cNvPicPr>
            <a:picLocks noChangeAspect="1"/>
          </p:cNvPicPr>
          <p:nvPr/>
        </p:nvPicPr>
        <p:blipFill>
          <a:blip r:embed="rId3"/>
          <a:stretch>
            <a:fillRect/>
          </a:stretch>
        </p:blipFill>
        <p:spPr>
          <a:xfrm>
            <a:off x="1720901" y="3641141"/>
            <a:ext cx="261518" cy="261518"/>
          </a:xfrm>
          <a:prstGeom prst="rect">
            <a:avLst/>
          </a:prstGeom>
        </p:spPr>
      </p:pic>
      <p:sp>
        <p:nvSpPr>
          <p:cNvPr id="21" name="Text 16"/>
          <p:cNvSpPr txBox="1"/>
          <p:nvPr/>
        </p:nvSpPr>
        <p:spPr>
          <a:xfrm>
            <a:off x="2331720" y="3383280"/>
            <a:ext cx="3474720" cy="411480"/>
          </a:xfrm>
          <a:prstGeom prst="rect">
            <a:avLst/>
          </a:prstGeom>
          <a:noFill/>
          <a:ln/>
        </p:spPr>
        <p:txBody>
          <a:bodyPr wrap="square" lIns="0" tIns="0" rIns="0" bIns="0" rtlCol="0" anchor="ctr"/>
          <a:lstStyle/>
          <a:p>
            <a:pPr indent="0" marL="0">
              <a:buNone/>
            </a:pPr>
            <a:r>
              <a:rPr lang="en-US" sz="1800" b="1" dirty="0">
                <a:solidFill>
                  <a:srgbClr val="1F2328"/>
                </a:solidFill>
                <a:latin typeface="Cambria" pitchFamily="34" charset="0"/>
                <a:ea typeface="Cambria" pitchFamily="34" charset="-122"/>
                <a:cs typeface="Cambria" pitchFamily="34" charset="-120"/>
              </a:rPr>
              <a:t>Números Estructurales (SN)</a:t>
            </a:r>
            <a:endParaRPr lang="en-US" sz="1800" dirty="0"/>
          </a:p>
        </p:txBody>
      </p:sp>
      <p:sp>
        <p:nvSpPr>
          <p:cNvPr id="22" name="Text 17"/>
          <p:cNvSpPr txBox="1"/>
          <p:nvPr/>
        </p:nvSpPr>
        <p:spPr>
          <a:xfrm>
            <a:off x="2331720" y="3794760"/>
            <a:ext cx="3474720" cy="411480"/>
          </a:xfrm>
          <a:prstGeom prst="rect">
            <a:avLst/>
          </a:prstGeom>
          <a:noFill/>
          <a:ln/>
        </p:spPr>
        <p:txBody>
          <a:bodyPr wrap="square" lIns="0" tIns="0" rIns="0" bIns="0" rtlCol="0" anchor="ctr"/>
          <a:lstStyle/>
          <a:p>
            <a:pPr indent="0" marL="0">
              <a:buNone/>
            </a:pPr>
            <a:r>
              <a:rPr lang="en-US" sz="1300" dirty="0">
                <a:solidFill>
                  <a:srgbClr val="5F6670"/>
                </a:solidFill>
                <a:latin typeface="Calibri" pitchFamily="34" charset="0"/>
                <a:ea typeface="Calibri" pitchFamily="34" charset="-122"/>
                <a:cs typeface="Calibri" pitchFamily="34" charset="-120"/>
              </a:rPr>
              <a:t>Catálogos por tráfico y subrasante</a:t>
            </a:r>
            <a:endParaRPr lang="en-US" sz="1300" dirty="0"/>
          </a:p>
        </p:txBody>
      </p:sp>
      <p:sp>
        <p:nvSpPr>
          <p:cNvPr id="23" name="Shape 18"/>
          <p:cNvSpPr/>
          <p:nvPr/>
        </p:nvSpPr>
        <p:spPr>
          <a:xfrm>
            <a:off x="6172200" y="3154680"/>
            <a:ext cx="5394960" cy="1234440"/>
          </a:xfrm>
          <a:prstGeom prst="rect">
            <a:avLst/>
          </a:prstGeom>
          <a:solidFill>
            <a:srgbClr val="FFFFFF"/>
          </a:solidFill>
          <a:ln w="9525">
            <a:solidFill>
              <a:srgbClr val="D5D9DE"/>
            </a:solidFill>
            <a:prstDash val="solid"/>
          </a:ln>
          <a:effectLst>
            <a:outerShdw sx="100000" sy="100000" kx="0" ky="0" algn="bl" rotWithShape="0" blurRad="76200" dist="25400" dir="5400000">
              <a:srgbClr val="000000">
                <a:alpha val="8000"/>
              </a:srgbClr>
            </a:outerShdw>
          </a:effectLst>
        </p:spPr>
      </p:sp>
      <p:sp>
        <p:nvSpPr>
          <p:cNvPr id="24" name="Text 19"/>
          <p:cNvSpPr txBox="1"/>
          <p:nvPr/>
        </p:nvSpPr>
        <p:spPr>
          <a:xfrm>
            <a:off x="6446520" y="3154680"/>
            <a:ext cx="731520" cy="1234440"/>
          </a:xfrm>
          <a:prstGeom prst="rect">
            <a:avLst/>
          </a:prstGeom>
          <a:noFill/>
          <a:ln/>
        </p:spPr>
        <p:txBody>
          <a:bodyPr wrap="square" lIns="0" tIns="0" rIns="0" bIns="0" rtlCol="0" anchor="ctr"/>
          <a:lstStyle/>
          <a:p>
            <a:pPr indent="0" marL="0">
              <a:buNone/>
            </a:pPr>
            <a:r>
              <a:rPr lang="en-US" sz="3000" b="1" dirty="0">
                <a:solidFill>
                  <a:srgbClr val="3E6283"/>
                </a:solidFill>
                <a:latin typeface="Cambria" pitchFamily="34" charset="0"/>
                <a:ea typeface="Cambria" pitchFamily="34" charset="-122"/>
                <a:cs typeface="Cambria" pitchFamily="34" charset="-120"/>
              </a:rPr>
              <a:t>04</a:t>
            </a:r>
            <a:endParaRPr lang="en-US" sz="3000" dirty="0"/>
          </a:p>
        </p:txBody>
      </p:sp>
      <p:sp>
        <p:nvSpPr>
          <p:cNvPr id="25" name="Shape 20"/>
          <p:cNvSpPr/>
          <p:nvPr/>
        </p:nvSpPr>
        <p:spPr>
          <a:xfrm>
            <a:off x="7223760" y="3520440"/>
            <a:ext cx="502920" cy="502920"/>
          </a:xfrm>
          <a:prstGeom prst="ellipse">
            <a:avLst/>
          </a:prstGeom>
          <a:solidFill>
            <a:srgbClr val="F2B705"/>
          </a:solidFill>
          <a:ln w="12700">
            <a:solidFill>
              <a:srgbClr val="F2B705"/>
            </a:solidFill>
            <a:prstDash val="solid"/>
          </a:ln>
        </p:spPr>
      </p:sp>
      <p:pic>
        <p:nvPicPr>
          <p:cNvPr id="26" name="Image 3" descr="preencoded.png">    </p:cNvPr>
          <p:cNvPicPr>
            <a:picLocks noChangeAspect="1"/>
          </p:cNvPicPr>
          <p:nvPr/>
        </p:nvPicPr>
        <p:blipFill>
          <a:blip r:embed="rId4"/>
          <a:stretch>
            <a:fillRect/>
          </a:stretch>
        </p:blipFill>
        <p:spPr>
          <a:xfrm>
            <a:off x="7344461" y="3641141"/>
            <a:ext cx="261518" cy="261518"/>
          </a:xfrm>
          <a:prstGeom prst="rect">
            <a:avLst/>
          </a:prstGeom>
        </p:spPr>
      </p:pic>
      <p:sp>
        <p:nvSpPr>
          <p:cNvPr id="27" name="Text 21"/>
          <p:cNvSpPr txBox="1"/>
          <p:nvPr/>
        </p:nvSpPr>
        <p:spPr>
          <a:xfrm>
            <a:off x="7955280" y="3383280"/>
            <a:ext cx="3474720" cy="411480"/>
          </a:xfrm>
          <a:prstGeom prst="rect">
            <a:avLst/>
          </a:prstGeom>
          <a:noFill/>
          <a:ln/>
        </p:spPr>
        <p:txBody>
          <a:bodyPr wrap="square" lIns="0" tIns="0" rIns="0" bIns="0" rtlCol="0" anchor="ctr"/>
          <a:lstStyle/>
          <a:p>
            <a:pPr indent="0" marL="0">
              <a:buNone/>
            </a:pPr>
            <a:r>
              <a:rPr lang="en-US" sz="1800" b="1" dirty="0">
                <a:solidFill>
                  <a:srgbClr val="1F2328"/>
                </a:solidFill>
                <a:latin typeface="Cambria" pitchFamily="34" charset="0"/>
                <a:ea typeface="Cambria" pitchFamily="34" charset="-122"/>
                <a:cs typeface="Cambria" pitchFamily="34" charset="-120"/>
              </a:rPr>
              <a:t>Limitaciones de uso</a:t>
            </a:r>
            <a:endParaRPr lang="en-US" sz="1800" dirty="0"/>
          </a:p>
        </p:txBody>
      </p:sp>
      <p:sp>
        <p:nvSpPr>
          <p:cNvPr id="28" name="Text 22"/>
          <p:cNvSpPr txBox="1"/>
          <p:nvPr/>
        </p:nvSpPr>
        <p:spPr>
          <a:xfrm>
            <a:off x="7955280" y="3794760"/>
            <a:ext cx="3474720" cy="411480"/>
          </a:xfrm>
          <a:prstGeom prst="rect">
            <a:avLst/>
          </a:prstGeom>
          <a:noFill/>
          <a:ln/>
        </p:spPr>
        <p:txBody>
          <a:bodyPr wrap="square" lIns="0" tIns="0" rIns="0" bIns="0" rtlCol="0" anchor="ctr"/>
          <a:lstStyle/>
          <a:p>
            <a:pPr indent="0" marL="0">
              <a:buNone/>
            </a:pPr>
            <a:r>
              <a:rPr lang="en-US" sz="1300" dirty="0">
                <a:solidFill>
                  <a:srgbClr val="5F6670"/>
                </a:solidFill>
                <a:latin typeface="Calibri" pitchFamily="34" charset="0"/>
                <a:ea typeface="Calibri" pitchFamily="34" charset="-122"/>
                <a:cs typeface="Calibri" pitchFamily="34" charset="-120"/>
              </a:rPr>
              <a:t>Cuadro 12.18 — tránsito y geometría</a:t>
            </a:r>
            <a:endParaRPr lang="en-US" sz="1300" dirty="0"/>
          </a:p>
        </p:txBody>
      </p:sp>
      <p:sp>
        <p:nvSpPr>
          <p:cNvPr id="29" name="Shape 23"/>
          <p:cNvSpPr/>
          <p:nvPr/>
        </p:nvSpPr>
        <p:spPr>
          <a:xfrm>
            <a:off x="548640" y="4617720"/>
            <a:ext cx="5394960" cy="1234440"/>
          </a:xfrm>
          <a:prstGeom prst="rect">
            <a:avLst/>
          </a:prstGeom>
          <a:solidFill>
            <a:srgbClr val="FFFFFF"/>
          </a:solidFill>
          <a:ln w="9525">
            <a:solidFill>
              <a:srgbClr val="D5D9DE"/>
            </a:solidFill>
            <a:prstDash val="solid"/>
          </a:ln>
          <a:effectLst>
            <a:outerShdw sx="100000" sy="100000" kx="0" ky="0" algn="bl" rotWithShape="0" blurRad="76200" dist="25400" dir="5400000">
              <a:srgbClr val="000000">
                <a:alpha val="8000"/>
              </a:srgbClr>
            </a:outerShdw>
          </a:effectLst>
        </p:spPr>
      </p:sp>
      <p:sp>
        <p:nvSpPr>
          <p:cNvPr id="30" name="Text 24"/>
          <p:cNvSpPr txBox="1"/>
          <p:nvPr/>
        </p:nvSpPr>
        <p:spPr>
          <a:xfrm>
            <a:off x="822960" y="4617720"/>
            <a:ext cx="731520" cy="1234440"/>
          </a:xfrm>
          <a:prstGeom prst="rect">
            <a:avLst/>
          </a:prstGeom>
          <a:noFill/>
          <a:ln/>
        </p:spPr>
        <p:txBody>
          <a:bodyPr wrap="square" lIns="0" tIns="0" rIns="0" bIns="0" rtlCol="0" anchor="ctr"/>
          <a:lstStyle/>
          <a:p>
            <a:pPr indent="0" marL="0">
              <a:buNone/>
            </a:pPr>
            <a:r>
              <a:rPr lang="en-US" sz="3000" b="1" dirty="0">
                <a:solidFill>
                  <a:srgbClr val="3E6283"/>
                </a:solidFill>
                <a:latin typeface="Cambria" pitchFamily="34" charset="0"/>
                <a:ea typeface="Cambria" pitchFamily="34" charset="-122"/>
                <a:cs typeface="Cambria" pitchFamily="34" charset="-120"/>
              </a:rPr>
              <a:t>05</a:t>
            </a:r>
            <a:endParaRPr lang="en-US" sz="3000" dirty="0"/>
          </a:p>
        </p:txBody>
      </p:sp>
      <p:sp>
        <p:nvSpPr>
          <p:cNvPr id="31" name="Shape 25"/>
          <p:cNvSpPr/>
          <p:nvPr/>
        </p:nvSpPr>
        <p:spPr>
          <a:xfrm>
            <a:off x="1600200" y="4983480"/>
            <a:ext cx="502920" cy="502920"/>
          </a:xfrm>
          <a:prstGeom prst="ellipse">
            <a:avLst/>
          </a:prstGeom>
          <a:solidFill>
            <a:srgbClr val="F2B705"/>
          </a:solidFill>
          <a:ln w="12700">
            <a:solidFill>
              <a:srgbClr val="F2B705"/>
            </a:solidFill>
            <a:prstDash val="solid"/>
          </a:ln>
        </p:spPr>
      </p:sp>
      <p:pic>
        <p:nvPicPr>
          <p:cNvPr id="32" name="Image 4" descr="preencoded.png">    </p:cNvPr>
          <p:cNvPicPr>
            <a:picLocks noChangeAspect="1"/>
          </p:cNvPicPr>
          <p:nvPr/>
        </p:nvPicPr>
        <p:blipFill>
          <a:blip r:embed="rId5"/>
          <a:stretch>
            <a:fillRect/>
          </a:stretch>
        </p:blipFill>
        <p:spPr>
          <a:xfrm>
            <a:off x="1720901" y="5104181"/>
            <a:ext cx="261518" cy="261518"/>
          </a:xfrm>
          <a:prstGeom prst="rect">
            <a:avLst/>
          </a:prstGeom>
        </p:spPr>
      </p:pic>
      <p:sp>
        <p:nvSpPr>
          <p:cNvPr id="33" name="Text 26"/>
          <p:cNvSpPr txBox="1"/>
          <p:nvPr/>
        </p:nvSpPr>
        <p:spPr>
          <a:xfrm>
            <a:off x="2331720" y="4846320"/>
            <a:ext cx="3474720" cy="411480"/>
          </a:xfrm>
          <a:prstGeom prst="rect">
            <a:avLst/>
          </a:prstGeom>
          <a:noFill/>
          <a:ln/>
        </p:spPr>
        <p:txBody>
          <a:bodyPr wrap="square" lIns="0" tIns="0" rIns="0" bIns="0" rtlCol="0" anchor="ctr"/>
          <a:lstStyle/>
          <a:p>
            <a:pPr indent="0" marL="0">
              <a:buNone/>
            </a:pPr>
            <a:r>
              <a:rPr lang="en-US" sz="1800" b="1" dirty="0">
                <a:solidFill>
                  <a:srgbClr val="1F2328"/>
                </a:solidFill>
                <a:latin typeface="Cambria" pitchFamily="34" charset="0"/>
                <a:ea typeface="Cambria" pitchFamily="34" charset="-122"/>
                <a:cs typeface="Cambria" pitchFamily="34" charset="-120"/>
              </a:rPr>
              <a:t>Periodos de diseño</a:t>
            </a:r>
            <a:endParaRPr lang="en-US" sz="1800" dirty="0"/>
          </a:p>
        </p:txBody>
      </p:sp>
      <p:sp>
        <p:nvSpPr>
          <p:cNvPr id="34" name="Text 27"/>
          <p:cNvSpPr txBox="1"/>
          <p:nvPr/>
        </p:nvSpPr>
        <p:spPr>
          <a:xfrm>
            <a:off x="2331720" y="5257800"/>
            <a:ext cx="3474720" cy="411480"/>
          </a:xfrm>
          <a:prstGeom prst="rect">
            <a:avLst/>
          </a:prstGeom>
          <a:noFill/>
          <a:ln/>
        </p:spPr>
        <p:txBody>
          <a:bodyPr wrap="square" lIns="0" tIns="0" rIns="0" bIns="0" rtlCol="0" anchor="ctr"/>
          <a:lstStyle/>
          <a:p>
            <a:pPr indent="0" marL="0">
              <a:buNone/>
            </a:pPr>
            <a:r>
              <a:rPr lang="en-US" sz="1300" dirty="0">
                <a:solidFill>
                  <a:srgbClr val="5F6670"/>
                </a:solidFill>
                <a:latin typeface="Calibri" pitchFamily="34" charset="0"/>
                <a:ea typeface="Calibri" pitchFamily="34" charset="-122"/>
                <a:cs typeface="Calibri" pitchFamily="34" charset="-120"/>
              </a:rPr>
              <a:t>10 años, 20 años en 2 etapas, 20 años en 1 etapa</a:t>
            </a:r>
            <a:endParaRPr lang="en-US" sz="1300" dirty="0"/>
          </a:p>
        </p:txBody>
      </p:sp>
      <p:sp>
        <p:nvSpPr>
          <p:cNvPr id="35" name="Shape 28"/>
          <p:cNvSpPr/>
          <p:nvPr/>
        </p:nvSpPr>
        <p:spPr>
          <a:xfrm>
            <a:off x="6172200" y="4617720"/>
            <a:ext cx="5394960" cy="1234440"/>
          </a:xfrm>
          <a:prstGeom prst="rect">
            <a:avLst/>
          </a:prstGeom>
          <a:solidFill>
            <a:srgbClr val="FFFFFF"/>
          </a:solidFill>
          <a:ln w="9525">
            <a:solidFill>
              <a:srgbClr val="D5D9DE"/>
            </a:solidFill>
            <a:prstDash val="solid"/>
          </a:ln>
          <a:effectLst>
            <a:outerShdw sx="100000" sy="100000" kx="0" ky="0" algn="bl" rotWithShape="0" blurRad="76200" dist="25400" dir="5400000">
              <a:srgbClr val="000000">
                <a:alpha val="8000"/>
              </a:srgbClr>
            </a:outerShdw>
          </a:effectLst>
        </p:spPr>
      </p:sp>
      <p:sp>
        <p:nvSpPr>
          <p:cNvPr id="36" name="Text 29"/>
          <p:cNvSpPr txBox="1"/>
          <p:nvPr/>
        </p:nvSpPr>
        <p:spPr>
          <a:xfrm>
            <a:off x="6446520" y="4617720"/>
            <a:ext cx="731520" cy="1234440"/>
          </a:xfrm>
          <a:prstGeom prst="rect">
            <a:avLst/>
          </a:prstGeom>
          <a:noFill/>
          <a:ln/>
        </p:spPr>
        <p:txBody>
          <a:bodyPr wrap="square" lIns="0" tIns="0" rIns="0" bIns="0" rtlCol="0" anchor="ctr"/>
          <a:lstStyle/>
          <a:p>
            <a:pPr indent="0" marL="0">
              <a:buNone/>
            </a:pPr>
            <a:r>
              <a:rPr lang="en-US" sz="3000" b="1" dirty="0">
                <a:solidFill>
                  <a:srgbClr val="3E6283"/>
                </a:solidFill>
                <a:latin typeface="Cambria" pitchFamily="34" charset="0"/>
                <a:ea typeface="Cambria" pitchFamily="34" charset="-122"/>
                <a:cs typeface="Cambria" pitchFamily="34" charset="-120"/>
              </a:rPr>
              <a:t>06</a:t>
            </a:r>
            <a:endParaRPr lang="en-US" sz="3000" dirty="0"/>
          </a:p>
        </p:txBody>
      </p:sp>
      <p:sp>
        <p:nvSpPr>
          <p:cNvPr id="37" name="Shape 30"/>
          <p:cNvSpPr/>
          <p:nvPr/>
        </p:nvSpPr>
        <p:spPr>
          <a:xfrm>
            <a:off x="7223760" y="4983480"/>
            <a:ext cx="502920" cy="502920"/>
          </a:xfrm>
          <a:prstGeom prst="ellipse">
            <a:avLst/>
          </a:prstGeom>
          <a:solidFill>
            <a:srgbClr val="F2B705"/>
          </a:solidFill>
          <a:ln w="12700">
            <a:solidFill>
              <a:srgbClr val="F2B705"/>
            </a:solidFill>
            <a:prstDash val="solid"/>
          </a:ln>
        </p:spPr>
      </p:sp>
      <p:pic>
        <p:nvPicPr>
          <p:cNvPr id="38" name="Image 5" descr="preencoded.png">    </p:cNvPr>
          <p:cNvPicPr>
            <a:picLocks noChangeAspect="1"/>
          </p:cNvPicPr>
          <p:nvPr/>
        </p:nvPicPr>
        <p:blipFill>
          <a:blip r:embed="rId6"/>
          <a:stretch>
            <a:fillRect/>
          </a:stretch>
        </p:blipFill>
        <p:spPr>
          <a:xfrm>
            <a:off x="7344461" y="5104181"/>
            <a:ext cx="261518" cy="261518"/>
          </a:xfrm>
          <a:prstGeom prst="rect">
            <a:avLst/>
          </a:prstGeom>
        </p:spPr>
      </p:pic>
      <p:sp>
        <p:nvSpPr>
          <p:cNvPr id="39" name="Text 31"/>
          <p:cNvSpPr txBox="1"/>
          <p:nvPr/>
        </p:nvSpPr>
        <p:spPr>
          <a:xfrm>
            <a:off x="7955280" y="4846320"/>
            <a:ext cx="3474720" cy="411480"/>
          </a:xfrm>
          <a:prstGeom prst="rect">
            <a:avLst/>
          </a:prstGeom>
          <a:noFill/>
          <a:ln/>
        </p:spPr>
        <p:txBody>
          <a:bodyPr wrap="square" lIns="0" tIns="0" rIns="0" bIns="0" rtlCol="0" anchor="ctr"/>
          <a:lstStyle/>
          <a:p>
            <a:pPr indent="0" marL="0">
              <a:buNone/>
            </a:pPr>
            <a:r>
              <a:rPr lang="en-US" sz="1800" b="1" dirty="0">
                <a:solidFill>
                  <a:srgbClr val="1F2328"/>
                </a:solidFill>
                <a:latin typeface="Cambria" pitchFamily="34" charset="0"/>
                <a:ea typeface="Cambria" pitchFamily="34" charset="-122"/>
                <a:cs typeface="Cambria" pitchFamily="34" charset="-120"/>
              </a:rPr>
              <a:t>Bermas</a:t>
            </a:r>
            <a:endParaRPr lang="en-US" sz="1800" dirty="0"/>
          </a:p>
        </p:txBody>
      </p:sp>
      <p:sp>
        <p:nvSpPr>
          <p:cNvPr id="40" name="Text 32"/>
          <p:cNvSpPr txBox="1"/>
          <p:nvPr/>
        </p:nvSpPr>
        <p:spPr>
          <a:xfrm>
            <a:off x="7955280" y="5257800"/>
            <a:ext cx="3474720" cy="411480"/>
          </a:xfrm>
          <a:prstGeom prst="rect">
            <a:avLst/>
          </a:prstGeom>
          <a:noFill/>
          <a:ln/>
        </p:spPr>
        <p:txBody>
          <a:bodyPr wrap="square" lIns="0" tIns="0" rIns="0" bIns="0" rtlCol="0" anchor="ctr"/>
          <a:lstStyle/>
          <a:p>
            <a:pPr indent="0" marL="0">
              <a:buNone/>
            </a:pPr>
            <a:r>
              <a:rPr lang="en-US" sz="1300" dirty="0">
                <a:solidFill>
                  <a:srgbClr val="5F6670"/>
                </a:solidFill>
                <a:latin typeface="Calibri" pitchFamily="34" charset="0"/>
                <a:ea typeface="Calibri" pitchFamily="34" charset="-122"/>
                <a:cs typeface="Calibri" pitchFamily="34" charset="-120"/>
              </a:rPr>
              <a:t>Criterios de diseño y Cuadro 12.19</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3E6283"/>
                </a:solidFill>
                <a:latin typeface="Calibri" pitchFamily="34" charset="0"/>
                <a:ea typeface="Calibri" pitchFamily="34" charset="-122"/>
                <a:cs typeface="Calibri" pitchFamily="34" charset="-120"/>
              </a:rPr>
              <a:t>MARCO NORMATIVO · VARIABLES DE DISEÑO</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indent="0" marL="0">
              <a:buNone/>
            </a:pPr>
            <a:r>
              <a:rPr lang="en-US" sz="3200" b="1" dirty="0">
                <a:solidFill>
                  <a:srgbClr val="1F2328"/>
                </a:solidFill>
                <a:latin typeface="Cambria" pitchFamily="34" charset="0"/>
                <a:ea typeface="Cambria" pitchFamily="34" charset="-122"/>
                <a:cs typeface="Cambria" pitchFamily="34" charset="-120"/>
              </a:rPr>
              <a:t>De dónde viene y qué gobierna la sección</a:t>
            </a:r>
            <a:endParaRPr lang="en-US" sz="3200" dirty="0"/>
          </a:p>
        </p:txBody>
      </p:sp>
      <p:sp>
        <p:nvSpPr>
          <p:cNvPr id="4" name="Text 2"/>
          <p:cNvSpPr txBox="1"/>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548640" y="1554480"/>
            <a:ext cx="3291840" cy="4480560"/>
          </a:xfrm>
          <a:prstGeom prst="rect">
            <a:avLst/>
          </a:prstGeom>
          <a:solidFill>
            <a:srgbClr val="23262B"/>
          </a:solidFill>
          <a:ln w="9525">
            <a:solidFill>
              <a:srgbClr val="23262B"/>
            </a:solidFill>
            <a:prstDash val="solid"/>
          </a:ln>
          <a:effectLst>
            <a:outerShdw sx="100000" sy="100000" kx="0" ky="0" algn="bl" rotWithShape="0" blurRad="76200" dist="25400" dir="5400000">
              <a:srgbClr val="000000">
                <a:alpha val="8000"/>
              </a:srgbClr>
            </a:outerShdw>
          </a:effectLst>
        </p:spPr>
      </p:sp>
      <p:sp>
        <p:nvSpPr>
          <p:cNvPr id="6" name="Shape 4"/>
          <p:cNvSpPr/>
          <p:nvPr/>
        </p:nvSpPr>
        <p:spPr>
          <a:xfrm>
            <a:off x="822960" y="1783080"/>
            <a:ext cx="548640" cy="548640"/>
          </a:xfrm>
          <a:prstGeom prst="ellipse">
            <a:avLst/>
          </a:prstGeom>
          <a:solidFill>
            <a:srgbClr val="F2B705"/>
          </a:solidFill>
          <a:ln w="12700">
            <a:solidFill>
              <a:srgbClr val="F2B705"/>
            </a:solidFill>
            <a:prstDash val="solid"/>
          </a:ln>
        </p:spPr>
      </p:sp>
      <p:pic>
        <p:nvPicPr>
          <p:cNvPr id="7" name="Image 0" descr="preencoded.png">    </p:cNvPr>
          <p:cNvPicPr>
            <a:picLocks noChangeAspect="1"/>
          </p:cNvPicPr>
          <p:nvPr/>
        </p:nvPicPr>
        <p:blipFill>
          <a:blip r:embed="rId1"/>
          <a:stretch>
            <a:fillRect/>
          </a:stretch>
        </p:blipFill>
        <p:spPr>
          <a:xfrm>
            <a:off x="954634" y="1914754"/>
            <a:ext cx="285293" cy="285293"/>
          </a:xfrm>
          <a:prstGeom prst="rect">
            <a:avLst/>
          </a:prstGeom>
        </p:spPr>
      </p:pic>
      <p:sp>
        <p:nvSpPr>
          <p:cNvPr id="8" name="Text 5"/>
          <p:cNvSpPr txBox="1"/>
          <p:nvPr/>
        </p:nvSpPr>
        <p:spPr>
          <a:xfrm>
            <a:off x="822960" y="2514600"/>
            <a:ext cx="2743200" cy="3291840"/>
          </a:xfrm>
          <a:prstGeom prst="rect">
            <a:avLst/>
          </a:prstGeom>
          <a:noFill/>
          <a:ln/>
        </p:spPr>
        <p:txBody>
          <a:bodyPr wrap="square" lIns="0" tIns="0" rIns="0" bIns="0" rtlCol="0" anchor="t"/>
          <a:lstStyle/>
          <a:p>
            <a:pPr indent="0" marL="0">
              <a:buNone/>
            </a:pPr>
            <a:r>
              <a:rPr lang="en-US" sz="1200" b="1" dirty="0">
                <a:solidFill>
                  <a:srgbClr val="F2B705"/>
                </a:solidFill>
                <a:latin typeface="Calibri" pitchFamily="34" charset="0"/>
                <a:ea typeface="Calibri" pitchFamily="34" charset="-122"/>
                <a:cs typeface="Calibri" pitchFamily="34" charset="-120"/>
              </a:rPr>
              <a:t>Documento</a:t>
            </a:r>
            <a:endParaRPr lang="en-US" sz="1200" dirty="0"/>
          </a:p>
          <a:p>
            <a:pPr indent="0" marL="0">
              <a:buNone/>
            </a:pPr>
            <a:r>
              <a:rPr lang="en-US" sz="1400" dirty="0">
                <a:solidFill>
                  <a:srgbClr val="FFFFFF"/>
                </a:solidFill>
                <a:latin typeface="Calibri" pitchFamily="34" charset="0"/>
                <a:ea typeface="Calibri" pitchFamily="34" charset="-122"/>
                <a:cs typeface="Calibri" pitchFamily="34" charset="-120"/>
              </a:rPr>
              <a:t>Manual de Carreteras: Suelos, Geología, Geotecnia y Pavimentos</a:t>
            </a:r>
            <a:endParaRPr lang="en-US" sz="1200" dirty="0"/>
          </a:p>
          <a:p>
            <a:pPr indent="0" marL="0">
              <a:buNone/>
            </a:pPr>
            <a:r>
              <a:rPr lang="en-US" sz="1200" dirty="0">
                <a:solidFill>
                  <a:srgbClr val="AEB4BC"/>
                </a:solidFill>
                <a:latin typeface="Calibri" pitchFamily="34" charset="0"/>
                <a:ea typeface="Calibri" pitchFamily="34" charset="-122"/>
                <a:cs typeface="Calibri" pitchFamily="34" charset="-120"/>
              </a:rPr>
              <a:t>MTC – DGCF, abril 2014</a:t>
            </a:r>
            <a:endParaRPr lang="en-US" sz="12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F2B705"/>
                </a:solidFill>
                <a:latin typeface="Calibri" pitchFamily="34" charset="0"/>
                <a:ea typeface="Calibri" pitchFamily="34" charset="-122"/>
                <a:cs typeface="Calibri" pitchFamily="34" charset="-120"/>
              </a:rPr>
              <a:t>Ubicación</a:t>
            </a:r>
            <a:endParaRPr lang="en-US" sz="1200" dirty="0"/>
          </a:p>
          <a:p>
            <a:pPr indent="0" marL="0">
              <a:buNone/>
            </a:pPr>
            <a:r>
              <a:rPr lang="en-US" sz="1400" dirty="0">
                <a:solidFill>
                  <a:srgbClr val="FFFFFF"/>
                </a:solidFill>
                <a:latin typeface="Calibri" pitchFamily="34" charset="0"/>
                <a:ea typeface="Calibri" pitchFamily="34" charset="-122"/>
                <a:cs typeface="Calibri" pitchFamily="34" charset="-120"/>
              </a:rPr>
              <a:t>Capítulo 12 — Estructuras de Pavimento Flexible</a:t>
            </a:r>
            <a:endParaRPr lang="en-US" sz="1200" dirty="0"/>
          </a:p>
          <a:p>
            <a:pPr indent="0" marL="0">
              <a:buNone/>
            </a:pPr>
            <a:r>
              <a:rPr lang="en-US" sz="1200" dirty="0">
                <a:solidFill>
                  <a:srgbClr val="AEB4BC"/>
                </a:solidFill>
                <a:latin typeface="Calibri" pitchFamily="34" charset="0"/>
                <a:ea typeface="Calibri" pitchFamily="34" charset="-122"/>
                <a:cs typeface="Calibri" pitchFamily="34" charset="-120"/>
              </a:rPr>
              <a:t>págs. 145 – 165</a:t>
            </a:r>
            <a:endParaRPr lang="en-US" sz="1200" dirty="0"/>
          </a:p>
        </p:txBody>
      </p:sp>
      <p:sp>
        <p:nvSpPr>
          <p:cNvPr id="9" name="Text 6"/>
          <p:cNvSpPr txBox="1"/>
          <p:nvPr/>
        </p:nvSpPr>
        <p:spPr>
          <a:xfrm>
            <a:off x="4160520" y="1554480"/>
            <a:ext cx="7132320" cy="320040"/>
          </a:xfrm>
          <a:prstGeom prst="rect">
            <a:avLst/>
          </a:prstGeom>
          <a:noFill/>
          <a:ln/>
        </p:spPr>
        <p:txBody>
          <a:bodyPr wrap="square" lIns="0" tIns="0" rIns="0" bIns="0" rtlCol="0" anchor="ctr"/>
          <a:lstStyle/>
          <a:p>
            <a:pPr indent="0" marL="0">
              <a:buNone/>
            </a:pPr>
            <a:r>
              <a:rPr lang="en-US" sz="1500" dirty="0">
                <a:solidFill>
                  <a:srgbClr val="1F2328"/>
                </a:solidFill>
                <a:latin typeface="Calibri" pitchFamily="34" charset="0"/>
                <a:ea typeface="Calibri" pitchFamily="34" charset="-122"/>
                <a:cs typeface="Calibri" pitchFamily="34" charset="-120"/>
              </a:rPr>
              <a:t>Dos variables gobiernan la sección:</a:t>
            </a:r>
            <a:endParaRPr lang="en-US" sz="1500" dirty="0"/>
          </a:p>
        </p:txBody>
      </p:sp>
      <p:sp>
        <p:nvSpPr>
          <p:cNvPr id="10" name="Text 7"/>
          <p:cNvSpPr txBox="1"/>
          <p:nvPr/>
        </p:nvSpPr>
        <p:spPr>
          <a:xfrm>
            <a:off x="4160520" y="1965960"/>
            <a:ext cx="3566160" cy="320040"/>
          </a:xfrm>
          <a:prstGeom prst="rect">
            <a:avLst/>
          </a:prstGeom>
          <a:noFill/>
          <a:ln/>
        </p:spPr>
        <p:txBody>
          <a:bodyPr wrap="square" lIns="0" tIns="0" rIns="0" bIns="0" rtlCol="0" anchor="ctr"/>
          <a:lstStyle/>
          <a:p>
            <a:pPr indent="0" marL="0">
              <a:buNone/>
            </a:pPr>
            <a:r>
              <a:rPr lang="en-US" sz="1600" b="1" dirty="0">
                <a:solidFill>
                  <a:srgbClr val="3E6283"/>
                </a:solidFill>
                <a:latin typeface="Cambria" pitchFamily="34" charset="0"/>
                <a:ea typeface="Cambria" pitchFamily="34" charset="-122"/>
                <a:cs typeface="Cambria" pitchFamily="34" charset="-120"/>
              </a:rPr>
              <a:t>① Subrasante (CBR)</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60520" y="2331720"/>
          <a:ext cx="9144000" cy="914400"/>
        </p:xfrm>
        <a:graphic>
          <a:graphicData uri="http://schemas.openxmlformats.org/drawingml/2006/table">
            <a:tbl>
              <a:tblPr/>
              <a:tblGrid>
                <a:gridCol w="1463040"/>
                <a:gridCol w="1920240"/>
              </a:tblGrid>
              <a:tr h="34747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Categoría</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3E628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Rango CBR</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3E6283"/>
                    </a:solidFill>
                  </a:tcPr>
                </a:tc>
              </a:tr>
              <a:tr h="347472">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Inadecuada</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CBR &lt; 3 %</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Pobre</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3 % ≤ CBR &lt; 6 %</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r>
              <a:tr h="347472">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Regular</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6 % ≤ CBR &lt; 10 %</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Buena</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10 % ≤ CBR &lt; 20 %</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r>
              <a:tr h="347472">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Muy buena</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20 % ≤ CBR &lt; 30 %</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Excelente</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CBR ≥ 30 %</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r>
            </a:tbl>
          </a:graphicData>
        </a:graphic>
      </p:graphicFrame>
      <p:sp>
        <p:nvSpPr>
          <p:cNvPr id="12" name="Text 8"/>
          <p:cNvSpPr txBox="1"/>
          <p:nvPr/>
        </p:nvSpPr>
        <p:spPr>
          <a:xfrm>
            <a:off x="7818120" y="1965960"/>
            <a:ext cx="3749040" cy="320040"/>
          </a:xfrm>
          <a:prstGeom prst="rect">
            <a:avLst/>
          </a:prstGeom>
          <a:noFill/>
          <a:ln/>
        </p:spPr>
        <p:txBody>
          <a:bodyPr wrap="square" lIns="0" tIns="0" rIns="0" bIns="0" rtlCol="0" anchor="ctr"/>
          <a:lstStyle/>
          <a:p>
            <a:pPr indent="0" marL="0">
              <a:buNone/>
            </a:pPr>
            <a:r>
              <a:rPr lang="en-US" sz="1600" b="1" dirty="0">
                <a:solidFill>
                  <a:srgbClr val="3E6283"/>
                </a:solidFill>
                <a:latin typeface="Cambria" pitchFamily="34" charset="0"/>
                <a:ea typeface="Cambria" pitchFamily="34" charset="-122"/>
                <a:cs typeface="Cambria" pitchFamily="34" charset="-120"/>
              </a:rPr>
              <a:t>② Tráfico (Ejes Equivalentes)</a:t>
            </a:r>
            <a:endParaRPr lang="en-US" sz="16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7818120" y="2331720"/>
          <a:ext cx="9144000" cy="914400"/>
        </p:xfrm>
        <a:graphic>
          <a:graphicData uri="http://schemas.openxmlformats.org/drawingml/2006/table">
            <a:tbl>
              <a:tblPr/>
              <a:tblGrid>
                <a:gridCol w="1234440"/>
                <a:gridCol w="2240280"/>
              </a:tblGrid>
              <a:tr h="34747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Tipo</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3E628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EE carril de diseño</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3E6283"/>
                    </a:solidFill>
                  </a:tcPr>
                </a:tc>
              </a:tr>
              <a:tr h="347472">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TP0</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75,001 – 150,000</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TP1 – TP4</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150,001 – 1'000,000</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r>
              <a:tr h="347472">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TP5 – TP9</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1'000,001 – 10'000,000</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TP10 – TP14</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10'000,001 – 30'000,000</a:t>
                      </a:r>
                      <a:endParaRPr lang="en-US" sz="13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r>
            </a:tbl>
          </a:graphicData>
        </a:graphic>
      </p:graphicFrame>
      <p:sp>
        <p:nvSpPr>
          <p:cNvPr id="14" name="Text 9"/>
          <p:cNvSpPr txBox="1"/>
          <p:nvPr/>
        </p:nvSpPr>
        <p:spPr>
          <a:xfrm>
            <a:off x="7818120" y="4114800"/>
            <a:ext cx="3474720" cy="274320"/>
          </a:xfrm>
          <a:prstGeom prst="rect">
            <a:avLst/>
          </a:prstGeom>
          <a:noFill/>
          <a:ln/>
        </p:spPr>
        <p:txBody>
          <a:bodyPr wrap="square" lIns="0" tIns="0" rIns="0" bIns="0" rtlCol="0" anchor="ctr"/>
          <a:lstStyle/>
          <a:p>
            <a:pPr indent="0" marL="0">
              <a:buNone/>
            </a:pPr>
            <a:r>
              <a:rPr lang="en-US" sz="1100" i="1" dirty="0">
                <a:solidFill>
                  <a:srgbClr val="5F6670"/>
                </a:solidFill>
                <a:latin typeface="Calibri" pitchFamily="34" charset="0"/>
                <a:ea typeface="Calibri" pitchFamily="34" charset="-122"/>
                <a:cs typeface="Calibri" pitchFamily="34" charset="-120"/>
              </a:rPr>
              <a:t>TP1 – TP4 = caminos de bajo volumen de tránsito</a:t>
            </a:r>
            <a:endParaRPr lang="en-US" sz="1100" dirty="0"/>
          </a:p>
        </p:txBody>
      </p:sp>
      <p:sp>
        <p:nvSpPr>
          <p:cNvPr id="15" name="Shape 10"/>
          <p:cNvSpPr/>
          <p:nvPr/>
        </p:nvSpPr>
        <p:spPr>
          <a:xfrm>
            <a:off x="4160520" y="4983480"/>
            <a:ext cx="7132320" cy="1051560"/>
          </a:xfrm>
          <a:prstGeom prst="rect">
            <a:avLst/>
          </a:prstGeom>
          <a:solidFill>
            <a:srgbClr val="DCE5EE"/>
          </a:solidFill>
          <a:ln w="12700">
            <a:solidFill>
              <a:srgbClr val="DCE5EE"/>
            </a:solidFill>
            <a:prstDash val="solid"/>
          </a:ln>
        </p:spPr>
      </p:sp>
      <p:sp>
        <p:nvSpPr>
          <p:cNvPr id="16" name="Text 11"/>
          <p:cNvSpPr txBox="1"/>
          <p:nvPr/>
        </p:nvSpPr>
        <p:spPr>
          <a:xfrm>
            <a:off x="4434840" y="4983480"/>
            <a:ext cx="6675120" cy="1051560"/>
          </a:xfrm>
          <a:prstGeom prst="rect">
            <a:avLst/>
          </a:prstGeom>
          <a:noFill/>
          <a:ln/>
        </p:spPr>
        <p:txBody>
          <a:bodyPr wrap="square" lIns="0" tIns="0" rIns="0" bIns="0" rtlCol="0" anchor="ctr"/>
          <a:lstStyle/>
          <a:p>
            <a:pPr indent="0" marL="0">
              <a:buNone/>
            </a:pPr>
            <a:r>
              <a:rPr lang="en-US" sz="1600" b="1" dirty="0">
                <a:solidFill>
                  <a:srgbClr val="3E6283"/>
                </a:solidFill>
                <a:latin typeface="Calibri" pitchFamily="34" charset="0"/>
                <a:ea typeface="Calibri" pitchFamily="34" charset="-122"/>
                <a:cs typeface="Calibri" pitchFamily="34" charset="-120"/>
              </a:rPr>
              <a:t>Regla práctica: </a:t>
            </a:r>
            <a:pPr indent="0" marL="0">
              <a:buNone/>
            </a:pPr>
            <a:r>
              <a:rPr lang="en-US" sz="1600" dirty="0">
                <a:solidFill>
                  <a:srgbClr val="1F2328"/>
                </a:solidFill>
                <a:latin typeface="Calibri" pitchFamily="34" charset="0"/>
                <a:ea typeface="Calibri" pitchFamily="34" charset="-122"/>
                <a:cs typeface="Calibri" pitchFamily="34" charset="-120"/>
              </a:rPr>
              <a:t>a mayor CBR y menor tráfico → menor espesor estructural requerido, y viceversa.</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3E6283"/>
                </a:solidFill>
                <a:latin typeface="Calibri" pitchFamily="34" charset="0"/>
                <a:ea typeface="Calibri" pitchFamily="34" charset="-122"/>
                <a:cs typeface="Calibri" pitchFamily="34" charset="-120"/>
              </a:rPr>
              <a:t>CUADRO 12.17</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indent="0" marL="0">
              <a:buNone/>
            </a:pPr>
            <a:r>
              <a:rPr lang="en-US" sz="3200" b="1" dirty="0">
                <a:solidFill>
                  <a:srgbClr val="1F2328"/>
                </a:solidFill>
                <a:latin typeface="Cambria" pitchFamily="34" charset="0"/>
                <a:ea typeface="Cambria" pitchFamily="34" charset="-122"/>
                <a:cs typeface="Cambria" pitchFamily="34" charset="-120"/>
              </a:rPr>
              <a:t>Espesores mínimos recomendados</a:t>
            </a:r>
            <a:endParaRPr lang="en-US" sz="3200" dirty="0"/>
          </a:p>
        </p:txBody>
      </p:sp>
      <p:sp>
        <p:nvSpPr>
          <p:cNvPr id="4" name="Text 2"/>
          <p:cNvSpPr txBox="1"/>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548640" y="1554480"/>
            <a:ext cx="5394960" cy="3246120"/>
          </a:xfrm>
          <a:prstGeom prst="rect">
            <a:avLst/>
          </a:prstGeom>
          <a:solidFill>
            <a:srgbClr val="FFFFFF"/>
          </a:solidFill>
          <a:ln w="9525">
            <a:solidFill>
              <a:srgbClr val="D5D9DE"/>
            </a:solidFill>
            <a:prstDash val="solid"/>
          </a:ln>
          <a:effectLst>
            <a:outerShdw sx="100000" sy="100000" kx="0" ky="0" algn="bl" rotWithShape="0" blurRad="76200" dist="25400" dir="5400000">
              <a:srgbClr val="000000">
                <a:alpha val="8000"/>
              </a:srgbClr>
            </a:outerShdw>
          </a:effectLst>
        </p:spPr>
      </p:sp>
      <p:sp>
        <p:nvSpPr>
          <p:cNvPr id="6" name="Shape 4"/>
          <p:cNvSpPr/>
          <p:nvPr/>
        </p:nvSpPr>
        <p:spPr>
          <a:xfrm>
            <a:off x="822960" y="1783080"/>
            <a:ext cx="1188720" cy="365760"/>
          </a:xfrm>
          <a:prstGeom prst="roundRect">
            <a:avLst>
              <a:gd name="adj" fmla="val 50000"/>
            </a:avLst>
          </a:prstGeom>
          <a:solidFill>
            <a:srgbClr val="3E6283"/>
          </a:solidFill>
          <a:ln w="12700">
            <a:solidFill>
              <a:srgbClr val="3E6283"/>
            </a:solidFill>
            <a:prstDash val="solid"/>
          </a:ln>
        </p:spPr>
      </p:sp>
      <p:sp>
        <p:nvSpPr>
          <p:cNvPr id="7" name="Text 5"/>
          <p:cNvSpPr txBox="1"/>
          <p:nvPr/>
        </p:nvSpPr>
        <p:spPr>
          <a:xfrm>
            <a:off x="822960" y="1783080"/>
            <a:ext cx="11887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1M EE</a:t>
            </a:r>
            <a:endParaRPr lang="en-US" sz="1300" dirty="0"/>
          </a:p>
        </p:txBody>
      </p:sp>
      <p:sp>
        <p:nvSpPr>
          <p:cNvPr id="8" name="Text 6"/>
          <p:cNvSpPr txBox="1"/>
          <p:nvPr/>
        </p:nvSpPr>
        <p:spPr>
          <a:xfrm>
            <a:off x="2194560" y="1783080"/>
            <a:ext cx="3566160" cy="365760"/>
          </a:xfrm>
          <a:prstGeom prst="rect">
            <a:avLst/>
          </a:prstGeom>
          <a:noFill/>
          <a:ln/>
        </p:spPr>
        <p:txBody>
          <a:bodyPr wrap="square" lIns="0" tIns="0" rIns="0" bIns="0" rtlCol="0" anchor="ctr"/>
          <a:lstStyle/>
          <a:p>
            <a:pPr indent="0" marL="0">
              <a:buNone/>
            </a:pPr>
            <a:r>
              <a:rPr lang="en-US" sz="1800" b="1" dirty="0">
                <a:solidFill>
                  <a:srgbClr val="1F2328"/>
                </a:solidFill>
                <a:latin typeface="Cambria" pitchFamily="34" charset="0"/>
                <a:ea typeface="Cambria" pitchFamily="34" charset="-122"/>
                <a:cs typeface="Cambria" pitchFamily="34" charset="-120"/>
              </a:rPr>
              <a:t>Caminos de bajo volumen</a:t>
            </a:r>
            <a:endParaRPr lang="en-US" sz="1800" dirty="0"/>
          </a:p>
        </p:txBody>
      </p:sp>
      <p:sp>
        <p:nvSpPr>
          <p:cNvPr id="9" name="Text 7"/>
          <p:cNvSpPr txBox="1"/>
          <p:nvPr/>
        </p:nvSpPr>
        <p:spPr>
          <a:xfrm>
            <a:off x="822960" y="2240280"/>
            <a:ext cx="4846320" cy="274320"/>
          </a:xfrm>
          <a:prstGeom prst="rect">
            <a:avLst/>
          </a:prstGeom>
          <a:noFill/>
          <a:ln/>
        </p:spPr>
        <p:txBody>
          <a:bodyPr wrap="square" lIns="0" tIns="0" rIns="0" bIns="0" rtlCol="0" anchor="ctr"/>
          <a:lstStyle/>
          <a:p>
            <a:pPr indent="0" marL="0">
              <a:buNone/>
            </a:pPr>
            <a:r>
              <a:rPr lang="en-US" sz="1200" dirty="0">
                <a:solidFill>
                  <a:srgbClr val="5F6670"/>
                </a:solidFill>
                <a:latin typeface="Calibri" pitchFamily="34" charset="0"/>
                <a:ea typeface="Calibri" pitchFamily="34" charset="-122"/>
                <a:cs typeface="Calibri" pitchFamily="34" charset="-120"/>
              </a:rPr>
              <a:t>TP1 – TP4 · 150,001 a 1'000,000 EE</a:t>
            </a:r>
            <a:endParaRPr lang="en-US" sz="1200" dirty="0"/>
          </a:p>
        </p:txBody>
      </p:sp>
      <p:sp>
        <p:nvSpPr>
          <p:cNvPr id="10" name="Text 8"/>
          <p:cNvSpPr txBox="1"/>
          <p:nvPr/>
        </p:nvSpPr>
        <p:spPr>
          <a:xfrm>
            <a:off x="822960" y="2606040"/>
            <a:ext cx="4846320" cy="20116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1F2328"/>
                </a:solidFill>
                <a:latin typeface="Calibri" pitchFamily="34" charset="0"/>
                <a:ea typeface="Calibri" pitchFamily="34" charset="-122"/>
                <a:cs typeface="Calibri" pitchFamily="34" charset="-120"/>
              </a:rPr>
              <a:t>TSB o lechada asfáltica — 12 mm</a:t>
            </a:r>
            <a:endParaRPr lang="en-US" sz="1500" dirty="0"/>
          </a:p>
          <a:p>
            <a:pPr marL="342900" indent="-342900">
              <a:spcAft>
                <a:spcPts val="400"/>
              </a:spcAft>
              <a:buSzPct val="100000"/>
              <a:buChar char="•"/>
            </a:pPr>
            <a:r>
              <a:rPr lang="en-US" sz="1500" dirty="0">
                <a:solidFill>
                  <a:srgbClr val="1F2328"/>
                </a:solidFill>
                <a:latin typeface="Calibri" pitchFamily="34" charset="0"/>
                <a:ea typeface="Calibri" pitchFamily="34" charset="-122"/>
                <a:cs typeface="Calibri" pitchFamily="34" charset="-120"/>
              </a:rPr>
              <a:t>Micropavimento — 25 mm</a:t>
            </a:r>
            <a:endParaRPr lang="en-US" sz="1500" dirty="0"/>
          </a:p>
          <a:p>
            <a:pPr marL="342900" indent="-342900">
              <a:spcAft>
                <a:spcPts val="400"/>
              </a:spcAft>
              <a:buSzPct val="100000"/>
              <a:buChar char="•"/>
            </a:pPr>
            <a:r>
              <a:rPr lang="en-US" sz="1500" dirty="0">
                <a:solidFill>
                  <a:srgbClr val="1F2328"/>
                </a:solidFill>
                <a:latin typeface="Calibri" pitchFamily="34" charset="0"/>
                <a:ea typeface="Calibri" pitchFamily="34" charset="-122"/>
                <a:cs typeface="Calibri" pitchFamily="34" charset="-120"/>
              </a:rPr>
              <a:t>Carpeta asfáltica en frío — 50 a 70 mm</a:t>
            </a:r>
            <a:endParaRPr lang="en-US" sz="1500" dirty="0"/>
          </a:p>
          <a:p>
            <a:pPr marL="342900" indent="-342900">
              <a:spcAft>
                <a:spcPts val="400"/>
              </a:spcAft>
              <a:buSzPct val="100000"/>
              <a:buChar char="•"/>
            </a:pPr>
            <a:r>
              <a:rPr lang="en-US" sz="1500" dirty="0">
                <a:solidFill>
                  <a:srgbClr val="1F2328"/>
                </a:solidFill>
                <a:latin typeface="Calibri" pitchFamily="34" charset="0"/>
                <a:ea typeface="Calibri" pitchFamily="34" charset="-122"/>
                <a:cs typeface="Calibri" pitchFamily="34" charset="-120"/>
              </a:rPr>
              <a:t>Carpeta asfáltica en caliente — 50 a 80 mm</a:t>
            </a:r>
            <a:endParaRPr lang="en-US" sz="1500" dirty="0"/>
          </a:p>
          <a:p>
            <a:pPr marL="342900" indent="-342900">
              <a:spcAft>
                <a:spcPts val="400"/>
              </a:spcAft>
              <a:buSzPct val="100000"/>
              <a:buChar char="•"/>
            </a:pPr>
            <a:r>
              <a:rPr lang="en-US" sz="1500" b="1" dirty="0">
                <a:solidFill>
                  <a:srgbClr val="3E6283"/>
                </a:solidFill>
                <a:latin typeface="Calibri" pitchFamily="34" charset="0"/>
                <a:ea typeface="Calibri" pitchFamily="34" charset="-122"/>
                <a:cs typeface="Calibri" pitchFamily="34" charset="-120"/>
              </a:rPr>
              <a:t>Base granular: 150 mm (200 mm en TP4)</a:t>
            </a:r>
            <a:endParaRPr lang="en-US" sz="1500" dirty="0"/>
          </a:p>
        </p:txBody>
      </p:sp>
      <p:sp>
        <p:nvSpPr>
          <p:cNvPr id="11" name="Shape 9"/>
          <p:cNvSpPr/>
          <p:nvPr/>
        </p:nvSpPr>
        <p:spPr>
          <a:xfrm>
            <a:off x="6263640" y="1554480"/>
            <a:ext cx="5394960" cy="3246120"/>
          </a:xfrm>
          <a:prstGeom prst="rect">
            <a:avLst/>
          </a:prstGeom>
          <a:solidFill>
            <a:srgbClr val="23262B"/>
          </a:solidFill>
          <a:ln w="9525">
            <a:solidFill>
              <a:srgbClr val="23262B"/>
            </a:solidFill>
            <a:prstDash val="solid"/>
          </a:ln>
          <a:effectLst>
            <a:outerShdw sx="100000" sy="100000" kx="0" ky="0" algn="bl" rotWithShape="0" blurRad="76200" dist="25400" dir="5400000">
              <a:srgbClr val="000000">
                <a:alpha val="8000"/>
              </a:srgbClr>
            </a:outerShdw>
          </a:effectLst>
        </p:spPr>
      </p:sp>
      <p:sp>
        <p:nvSpPr>
          <p:cNvPr id="12" name="Shape 10"/>
          <p:cNvSpPr/>
          <p:nvPr/>
        </p:nvSpPr>
        <p:spPr>
          <a:xfrm>
            <a:off x="6537960" y="1783080"/>
            <a:ext cx="1188720" cy="365760"/>
          </a:xfrm>
          <a:prstGeom prst="roundRect">
            <a:avLst>
              <a:gd name="adj" fmla="val 50000"/>
            </a:avLst>
          </a:prstGeom>
          <a:solidFill>
            <a:srgbClr val="F2B705"/>
          </a:solidFill>
          <a:ln w="12700">
            <a:solidFill>
              <a:srgbClr val="F2B705"/>
            </a:solidFill>
            <a:prstDash val="solid"/>
          </a:ln>
        </p:spPr>
      </p:sp>
      <p:sp>
        <p:nvSpPr>
          <p:cNvPr id="13" name="Text 11"/>
          <p:cNvSpPr txBox="1"/>
          <p:nvPr/>
        </p:nvSpPr>
        <p:spPr>
          <a:xfrm>
            <a:off x="6537960" y="1783080"/>
            <a:ext cx="1188720" cy="365760"/>
          </a:xfrm>
          <a:prstGeom prst="rect">
            <a:avLst/>
          </a:prstGeom>
          <a:noFill/>
          <a:ln/>
        </p:spPr>
        <p:txBody>
          <a:bodyPr wrap="square" lIns="0" tIns="0" rIns="0" bIns="0" rtlCol="0" anchor="ctr"/>
          <a:lstStyle/>
          <a:p>
            <a:pPr algn="ctr" indent="0" marL="0">
              <a:buNone/>
            </a:pPr>
            <a:r>
              <a:rPr lang="en-US" sz="1300" b="1" dirty="0">
                <a:solidFill>
                  <a:srgbClr val="23262B"/>
                </a:solidFill>
                <a:latin typeface="Calibri" pitchFamily="34" charset="0"/>
                <a:ea typeface="Calibri" pitchFamily="34" charset="-122"/>
                <a:cs typeface="Calibri" pitchFamily="34" charset="-120"/>
              </a:rPr>
              <a:t>&gt; 1M EE</a:t>
            </a:r>
            <a:endParaRPr lang="en-US" sz="1300" dirty="0"/>
          </a:p>
        </p:txBody>
      </p:sp>
      <p:sp>
        <p:nvSpPr>
          <p:cNvPr id="14" name="Text 12"/>
          <p:cNvSpPr txBox="1"/>
          <p:nvPr/>
        </p:nvSpPr>
        <p:spPr>
          <a:xfrm>
            <a:off x="7909560" y="1783080"/>
            <a:ext cx="356616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Resto de caminos</a:t>
            </a:r>
            <a:endParaRPr lang="en-US" sz="1800" dirty="0"/>
          </a:p>
        </p:txBody>
      </p:sp>
      <p:sp>
        <p:nvSpPr>
          <p:cNvPr id="15" name="Text 13"/>
          <p:cNvSpPr txBox="1"/>
          <p:nvPr/>
        </p:nvSpPr>
        <p:spPr>
          <a:xfrm>
            <a:off x="6537960" y="2240280"/>
            <a:ext cx="4846320" cy="274320"/>
          </a:xfrm>
          <a:prstGeom prst="rect">
            <a:avLst/>
          </a:prstGeom>
          <a:noFill/>
          <a:ln/>
        </p:spPr>
        <p:txBody>
          <a:bodyPr wrap="square" lIns="0" tIns="0" rIns="0" bIns="0" rtlCol="0" anchor="ctr"/>
          <a:lstStyle/>
          <a:p>
            <a:pPr indent="0" marL="0">
              <a:buNone/>
            </a:pPr>
            <a:r>
              <a:rPr lang="en-US" sz="1200" dirty="0">
                <a:solidFill>
                  <a:srgbClr val="AEB4BC"/>
                </a:solidFill>
                <a:latin typeface="Calibri" pitchFamily="34" charset="0"/>
                <a:ea typeface="Calibri" pitchFamily="34" charset="-122"/>
                <a:cs typeface="Calibri" pitchFamily="34" charset="-120"/>
              </a:rPr>
              <a:t>TP5 – TP14 · 1'000,001 a 30'000,000 EE</a:t>
            </a:r>
            <a:endParaRPr lang="en-US" sz="1200" dirty="0"/>
          </a:p>
        </p:txBody>
      </p:sp>
      <p:sp>
        <p:nvSpPr>
          <p:cNvPr id="16" name="Text 14"/>
          <p:cNvSpPr txBox="1"/>
          <p:nvPr/>
        </p:nvSpPr>
        <p:spPr>
          <a:xfrm>
            <a:off x="6537960" y="2606040"/>
            <a:ext cx="4846320" cy="20116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FFFFFF"/>
                </a:solidFill>
                <a:latin typeface="Calibri" pitchFamily="34" charset="0"/>
                <a:ea typeface="Calibri" pitchFamily="34" charset="-122"/>
                <a:cs typeface="Calibri" pitchFamily="34" charset="-120"/>
              </a:rPr>
              <a:t>Capa única: carpeta asfáltica en caliente</a:t>
            </a:r>
            <a:endParaRPr lang="en-US" sz="1500" dirty="0"/>
          </a:p>
          <a:p>
            <a:pPr marL="342900" indent="-342900">
              <a:spcAft>
                <a:spcPts val="400"/>
              </a:spcAft>
              <a:buSzPct val="100000"/>
              <a:buChar char="•"/>
            </a:pPr>
            <a:r>
              <a:rPr lang="en-US" sz="1500" dirty="0">
                <a:solidFill>
                  <a:srgbClr val="FFFFFF"/>
                </a:solidFill>
                <a:latin typeface="Calibri" pitchFamily="34" charset="0"/>
                <a:ea typeface="Calibri" pitchFamily="34" charset="-122"/>
                <a:cs typeface="Calibri" pitchFamily="34" charset="-120"/>
              </a:rPr>
              <a:t>Espesor: 80 mm (TP5) → 150 mm (TP13–TP14)</a:t>
            </a:r>
            <a:endParaRPr lang="en-US" sz="1500" dirty="0"/>
          </a:p>
          <a:p>
            <a:pPr marL="342900" indent="-342900">
              <a:spcAft>
                <a:spcPts val="400"/>
              </a:spcAft>
              <a:buSzPct val="100000"/>
              <a:buChar char="•"/>
            </a:pPr>
            <a:r>
              <a:rPr lang="en-US" sz="1500" dirty="0">
                <a:solidFill>
                  <a:srgbClr val="FFFFFF"/>
                </a:solidFill>
                <a:latin typeface="Calibri" pitchFamily="34" charset="0"/>
                <a:ea typeface="Calibri" pitchFamily="34" charset="-122"/>
                <a:cs typeface="Calibri" pitchFamily="34" charset="-120"/>
              </a:rPr>
              <a:t>Base granular: 200 mm (TP5–TP7) → 300 mm (TP13–TP14)</a:t>
            </a:r>
            <a:endParaRPr lang="en-US" sz="1500" dirty="0"/>
          </a:p>
          <a:p>
            <a:pPr marL="342900" indent="-342900">
              <a:spcAft>
                <a:spcPts val="400"/>
              </a:spcAft>
              <a:buSzPct val="100000"/>
              <a:buChar char="•"/>
            </a:pPr>
            <a:r>
              <a:rPr lang="en-US" sz="1500" dirty="0">
                <a:solidFill>
                  <a:srgbClr val="F2B705"/>
                </a:solidFill>
                <a:latin typeface="Calibri" pitchFamily="34" charset="0"/>
                <a:ea typeface="Calibri" pitchFamily="34" charset="-122"/>
                <a:cs typeface="Calibri" pitchFamily="34" charset="-120"/>
              </a:rPr>
              <a:t>Crece de forma continua con el tráfico</a:t>
            </a:r>
            <a:endParaRPr lang="en-US" sz="1500" dirty="0"/>
          </a:p>
        </p:txBody>
      </p:sp>
      <p:sp>
        <p:nvSpPr>
          <p:cNvPr id="17" name="Text 15"/>
          <p:cNvSpPr txBox="1"/>
          <p:nvPr/>
        </p:nvSpPr>
        <p:spPr>
          <a:xfrm>
            <a:off x="548640" y="5120640"/>
            <a:ext cx="3108960" cy="914400"/>
          </a:xfrm>
          <a:prstGeom prst="rect">
            <a:avLst/>
          </a:prstGeom>
          <a:noFill/>
          <a:ln/>
        </p:spPr>
        <p:txBody>
          <a:bodyPr wrap="square" lIns="0" tIns="0" rIns="0" bIns="0" rtlCol="0" anchor="ctr"/>
          <a:lstStyle/>
          <a:p>
            <a:pPr indent="0" marL="0">
              <a:buNone/>
            </a:pPr>
            <a:r>
              <a:rPr lang="en-US" sz="1300" b="1" spc="200" kern="0" dirty="0">
                <a:solidFill>
                  <a:srgbClr val="3E6283"/>
                </a:solidFill>
                <a:latin typeface="Calibri" pitchFamily="34" charset="0"/>
                <a:ea typeface="Calibri" pitchFamily="34" charset="-122"/>
                <a:cs typeface="Calibri" pitchFamily="34" charset="-120"/>
              </a:rPr>
              <a:t>ESPESOR MÍNIMO CONSTRUCTIVO</a:t>
            </a:r>
            <a:endParaRPr lang="en-US" sz="1300" dirty="0"/>
          </a:p>
        </p:txBody>
      </p:sp>
      <p:sp>
        <p:nvSpPr>
          <p:cNvPr id="18" name="Text 16"/>
          <p:cNvSpPr txBox="1"/>
          <p:nvPr/>
        </p:nvSpPr>
        <p:spPr>
          <a:xfrm>
            <a:off x="3657600" y="5074920"/>
            <a:ext cx="2286000" cy="914400"/>
          </a:xfrm>
          <a:prstGeom prst="rect">
            <a:avLst/>
          </a:prstGeom>
          <a:noFill/>
          <a:ln/>
        </p:spPr>
        <p:txBody>
          <a:bodyPr wrap="square" lIns="0" tIns="0" rIns="0" bIns="0" rtlCol="0" anchor="ctr"/>
          <a:lstStyle/>
          <a:p>
            <a:pPr indent="0" marL="0">
              <a:buNone/>
            </a:pPr>
            <a:r>
              <a:rPr lang="en-US" sz="3400" b="1" dirty="0">
                <a:solidFill>
                  <a:srgbClr val="1F2328"/>
                </a:solidFill>
                <a:latin typeface="Cambria" pitchFamily="34" charset="0"/>
                <a:ea typeface="Cambria" pitchFamily="34" charset="-122"/>
                <a:cs typeface="Cambria" pitchFamily="34" charset="-120"/>
              </a:rPr>
              <a:t>40 mm</a:t>
            </a:r>
            <a:endParaRPr lang="en-US" sz="3400" dirty="0"/>
          </a:p>
        </p:txBody>
      </p:sp>
      <p:sp>
        <p:nvSpPr>
          <p:cNvPr id="19" name="Text 17"/>
          <p:cNvSpPr txBox="1"/>
          <p:nvPr/>
        </p:nvSpPr>
        <p:spPr>
          <a:xfrm>
            <a:off x="5943600" y="5074920"/>
            <a:ext cx="1737360" cy="914400"/>
          </a:xfrm>
          <a:prstGeom prst="rect">
            <a:avLst/>
          </a:prstGeom>
          <a:noFill/>
          <a:ln/>
        </p:spPr>
        <p:txBody>
          <a:bodyPr wrap="square" lIns="0" tIns="0" rIns="0" bIns="0" rtlCol="0" anchor="ctr"/>
          <a:lstStyle/>
          <a:p>
            <a:pPr indent="0" marL="0">
              <a:buNone/>
            </a:pPr>
            <a:r>
              <a:rPr lang="en-US" sz="1300" dirty="0">
                <a:solidFill>
                  <a:srgbClr val="5F6670"/>
                </a:solidFill>
                <a:latin typeface="Calibri" pitchFamily="34" charset="0"/>
                <a:ea typeface="Calibri" pitchFamily="34" charset="-122"/>
                <a:cs typeface="Calibri" pitchFamily="34" charset="-120"/>
              </a:rPr>
              <a:t>capa superficial (carpeta en caliente)</a:t>
            </a:r>
            <a:endParaRPr lang="en-US" sz="1300" dirty="0"/>
          </a:p>
        </p:txBody>
      </p:sp>
      <p:sp>
        <p:nvSpPr>
          <p:cNvPr id="20" name="Text 18"/>
          <p:cNvSpPr txBox="1"/>
          <p:nvPr/>
        </p:nvSpPr>
        <p:spPr>
          <a:xfrm>
            <a:off x="7772400" y="5074920"/>
            <a:ext cx="2286000" cy="914400"/>
          </a:xfrm>
          <a:prstGeom prst="rect">
            <a:avLst/>
          </a:prstGeom>
          <a:noFill/>
          <a:ln/>
        </p:spPr>
        <p:txBody>
          <a:bodyPr wrap="square" lIns="0" tIns="0" rIns="0" bIns="0" rtlCol="0" anchor="ctr"/>
          <a:lstStyle/>
          <a:p>
            <a:pPr indent="0" marL="0">
              <a:buNone/>
            </a:pPr>
            <a:r>
              <a:rPr lang="en-US" sz="3400" b="1" dirty="0">
                <a:solidFill>
                  <a:srgbClr val="1F2328"/>
                </a:solidFill>
                <a:latin typeface="Cambria" pitchFamily="34" charset="0"/>
                <a:ea typeface="Cambria" pitchFamily="34" charset="-122"/>
                <a:cs typeface="Cambria" pitchFamily="34" charset="-120"/>
              </a:rPr>
              <a:t>150 mm</a:t>
            </a:r>
            <a:endParaRPr lang="en-US" sz="3400" dirty="0"/>
          </a:p>
        </p:txBody>
      </p:sp>
      <p:sp>
        <p:nvSpPr>
          <p:cNvPr id="21" name="Text 19"/>
          <p:cNvSpPr txBox="1"/>
          <p:nvPr/>
        </p:nvSpPr>
        <p:spPr>
          <a:xfrm>
            <a:off x="10058400" y="5074920"/>
            <a:ext cx="1737360" cy="914400"/>
          </a:xfrm>
          <a:prstGeom prst="rect">
            <a:avLst/>
          </a:prstGeom>
          <a:noFill/>
          <a:ln/>
        </p:spPr>
        <p:txBody>
          <a:bodyPr wrap="square" lIns="0" tIns="0" rIns="0" bIns="0" rtlCol="0" anchor="ctr"/>
          <a:lstStyle/>
          <a:p>
            <a:pPr indent="0" marL="0">
              <a:buNone/>
            </a:pPr>
            <a:r>
              <a:rPr lang="en-US" sz="1300" dirty="0">
                <a:solidFill>
                  <a:srgbClr val="5F6670"/>
                </a:solidFill>
                <a:latin typeface="Calibri" pitchFamily="34" charset="0"/>
                <a:ea typeface="Calibri" pitchFamily="34" charset="-122"/>
                <a:cs typeface="Calibri" pitchFamily="34" charset="-120"/>
              </a:rPr>
              <a:t>capas granulares (base y subbase)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3E6283"/>
                </a:solidFill>
                <a:latin typeface="Calibri" pitchFamily="34" charset="0"/>
                <a:ea typeface="Calibri" pitchFamily="34" charset="-122"/>
                <a:cs typeface="Calibri" pitchFamily="34" charset="-120"/>
              </a:rPr>
              <a:t>12.2.1</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indent="0" marL="0">
              <a:buNone/>
            </a:pPr>
            <a:r>
              <a:rPr lang="en-US" sz="3200" b="1" dirty="0">
                <a:solidFill>
                  <a:srgbClr val="1F2328"/>
                </a:solidFill>
                <a:latin typeface="Cambria" pitchFamily="34" charset="0"/>
                <a:ea typeface="Cambria" pitchFamily="34" charset="-122"/>
                <a:cs typeface="Cambria" pitchFamily="34" charset="-120"/>
              </a:rPr>
              <a:t>Catálogos de Números Estructurales (SN)</a:t>
            </a:r>
            <a:endParaRPr lang="en-US" sz="3200" dirty="0"/>
          </a:p>
        </p:txBody>
      </p:sp>
      <p:sp>
        <p:nvSpPr>
          <p:cNvPr id="4" name="Text 2"/>
          <p:cNvSpPr txBox="1"/>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548640" y="1508760"/>
            <a:ext cx="4206240" cy="640080"/>
          </a:xfrm>
          <a:prstGeom prst="rect">
            <a:avLst/>
          </a:prstGeom>
          <a:noFill/>
          <a:ln/>
        </p:spPr>
        <p:txBody>
          <a:bodyPr wrap="square" lIns="0" tIns="0" rIns="0" bIns="0" rtlCol="0" anchor="ctr"/>
          <a:lstStyle/>
          <a:p>
            <a:pPr indent="0" marL="0">
              <a:buNone/>
            </a:pPr>
            <a:r>
              <a:rPr lang="en-US" sz="1400" dirty="0">
                <a:solidFill>
                  <a:srgbClr val="1F2328"/>
                </a:solidFill>
                <a:latin typeface="Calibri" pitchFamily="34" charset="0"/>
                <a:ea typeface="Calibri" pitchFamily="34" charset="-122"/>
                <a:cs typeface="Calibri" pitchFamily="34" charset="-120"/>
              </a:rPr>
              <a:t>SN requerido tabulado por tráfico (TP) y subrasante, para 5 alternativas de capa superficial:</a:t>
            </a:r>
            <a:endParaRPr lang="en-US" sz="1400" dirty="0"/>
          </a:p>
        </p:txBody>
      </p:sp>
      <p:sp>
        <p:nvSpPr>
          <p:cNvPr id="6" name="Shape 4"/>
          <p:cNvSpPr/>
          <p:nvPr/>
        </p:nvSpPr>
        <p:spPr>
          <a:xfrm>
            <a:off x="548640" y="2322576"/>
            <a:ext cx="384048" cy="384048"/>
          </a:xfrm>
          <a:prstGeom prst="ellipse">
            <a:avLst/>
          </a:prstGeom>
          <a:solidFill>
            <a:srgbClr val="3E6283"/>
          </a:solidFill>
          <a:ln w="12700">
            <a:solidFill>
              <a:srgbClr val="3E6283"/>
            </a:solidFill>
            <a:prstDash val="solid"/>
          </a:ln>
        </p:spPr>
      </p:sp>
      <p:sp>
        <p:nvSpPr>
          <p:cNvPr id="7" name="Text 5"/>
          <p:cNvSpPr txBox="1"/>
          <p:nvPr/>
        </p:nvSpPr>
        <p:spPr>
          <a:xfrm>
            <a:off x="548640" y="23225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97280" y="2286000"/>
            <a:ext cx="3657600" cy="502920"/>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Mortero asfáltico</a:t>
            </a:r>
            <a:endParaRPr lang="en-US" sz="1400" dirty="0"/>
          </a:p>
          <a:p>
            <a:pPr indent="0" marL="0">
              <a:buNone/>
            </a:pPr>
            <a:r>
              <a:rPr lang="en-US" sz="1100" dirty="0">
                <a:solidFill>
                  <a:srgbClr val="5F6670"/>
                </a:solidFill>
                <a:latin typeface="Calibri" pitchFamily="34" charset="0"/>
                <a:ea typeface="Calibri" pitchFamily="34" charset="-122"/>
                <a:cs typeface="Calibri" pitchFamily="34" charset="-120"/>
              </a:rPr>
              <a:t>+ base + subbase granular</a:t>
            </a:r>
            <a:endParaRPr lang="en-US" sz="1400" dirty="0"/>
          </a:p>
        </p:txBody>
      </p:sp>
      <p:sp>
        <p:nvSpPr>
          <p:cNvPr id="9" name="Shape 7"/>
          <p:cNvSpPr/>
          <p:nvPr/>
        </p:nvSpPr>
        <p:spPr>
          <a:xfrm>
            <a:off x="548640" y="2944368"/>
            <a:ext cx="384048" cy="384048"/>
          </a:xfrm>
          <a:prstGeom prst="ellipse">
            <a:avLst/>
          </a:prstGeom>
          <a:solidFill>
            <a:srgbClr val="3E6283"/>
          </a:solidFill>
          <a:ln w="12700">
            <a:solidFill>
              <a:srgbClr val="3E6283"/>
            </a:solidFill>
            <a:prstDash val="solid"/>
          </a:ln>
        </p:spPr>
      </p:sp>
      <p:sp>
        <p:nvSpPr>
          <p:cNvPr id="10" name="Text 8"/>
          <p:cNvSpPr txBox="1"/>
          <p:nvPr/>
        </p:nvSpPr>
        <p:spPr>
          <a:xfrm>
            <a:off x="548640" y="2944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097280" y="2907792"/>
            <a:ext cx="3657600" cy="502920"/>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Tratamiento superficial bicapa (TSB)</a:t>
            </a:r>
            <a:endParaRPr lang="en-US" sz="1400" dirty="0"/>
          </a:p>
          <a:p>
            <a:pPr indent="0" marL="0">
              <a:buNone/>
            </a:pPr>
            <a:r>
              <a:rPr lang="en-US" sz="1100" dirty="0">
                <a:solidFill>
                  <a:srgbClr val="5F6670"/>
                </a:solidFill>
                <a:latin typeface="Calibri" pitchFamily="34" charset="0"/>
                <a:ea typeface="Calibri" pitchFamily="34" charset="-122"/>
                <a:cs typeface="Calibri" pitchFamily="34" charset="-120"/>
              </a:rPr>
              <a:t>+ base + subbase granular</a:t>
            </a:r>
            <a:endParaRPr lang="en-US" sz="1400" dirty="0"/>
          </a:p>
        </p:txBody>
      </p:sp>
      <p:sp>
        <p:nvSpPr>
          <p:cNvPr id="12" name="Shape 10"/>
          <p:cNvSpPr/>
          <p:nvPr/>
        </p:nvSpPr>
        <p:spPr>
          <a:xfrm>
            <a:off x="548640" y="3566160"/>
            <a:ext cx="384048" cy="384048"/>
          </a:xfrm>
          <a:prstGeom prst="ellipse">
            <a:avLst/>
          </a:prstGeom>
          <a:solidFill>
            <a:srgbClr val="3E6283"/>
          </a:solidFill>
          <a:ln w="12700">
            <a:solidFill>
              <a:srgbClr val="3E6283"/>
            </a:solidFill>
            <a:prstDash val="solid"/>
          </a:ln>
        </p:spPr>
      </p:sp>
      <p:sp>
        <p:nvSpPr>
          <p:cNvPr id="13" name="Text 11"/>
          <p:cNvSpPr txBox="1"/>
          <p:nvPr/>
        </p:nvSpPr>
        <p:spPr>
          <a:xfrm>
            <a:off x="548640" y="3566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097280" y="3529584"/>
            <a:ext cx="3657600" cy="502920"/>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Micropavimento</a:t>
            </a:r>
            <a:endParaRPr lang="en-US" sz="1400" dirty="0"/>
          </a:p>
          <a:p>
            <a:pPr indent="0" marL="0">
              <a:buNone/>
            </a:pPr>
            <a:r>
              <a:rPr lang="en-US" sz="1100" dirty="0">
                <a:solidFill>
                  <a:srgbClr val="5F6670"/>
                </a:solidFill>
                <a:latin typeface="Calibri" pitchFamily="34" charset="0"/>
                <a:ea typeface="Calibri" pitchFamily="34" charset="-122"/>
                <a:cs typeface="Calibri" pitchFamily="34" charset="-120"/>
              </a:rPr>
              <a:t>+ base + subbase granular</a:t>
            </a:r>
            <a:endParaRPr lang="en-US" sz="1400" dirty="0"/>
          </a:p>
        </p:txBody>
      </p:sp>
      <p:sp>
        <p:nvSpPr>
          <p:cNvPr id="15" name="Shape 13"/>
          <p:cNvSpPr/>
          <p:nvPr/>
        </p:nvSpPr>
        <p:spPr>
          <a:xfrm>
            <a:off x="548640" y="4187952"/>
            <a:ext cx="384048" cy="384048"/>
          </a:xfrm>
          <a:prstGeom prst="ellipse">
            <a:avLst/>
          </a:prstGeom>
          <a:solidFill>
            <a:srgbClr val="3E6283"/>
          </a:solidFill>
          <a:ln w="12700">
            <a:solidFill>
              <a:srgbClr val="3E6283"/>
            </a:solidFill>
            <a:prstDash val="solid"/>
          </a:ln>
        </p:spPr>
      </p:sp>
      <p:sp>
        <p:nvSpPr>
          <p:cNvPr id="16" name="Text 14"/>
          <p:cNvSpPr txBox="1"/>
          <p:nvPr/>
        </p:nvSpPr>
        <p:spPr>
          <a:xfrm>
            <a:off x="548640" y="4187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097280" y="4151376"/>
            <a:ext cx="3657600" cy="502920"/>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Carpeta asfáltica en frío</a:t>
            </a:r>
            <a:endParaRPr lang="en-US" sz="1400" dirty="0"/>
          </a:p>
          <a:p>
            <a:pPr indent="0" marL="0">
              <a:buNone/>
            </a:pPr>
            <a:r>
              <a:rPr lang="en-US" sz="1100" dirty="0">
                <a:solidFill>
                  <a:srgbClr val="5F6670"/>
                </a:solidFill>
                <a:latin typeface="Calibri" pitchFamily="34" charset="0"/>
                <a:ea typeface="Calibri" pitchFamily="34" charset="-122"/>
                <a:cs typeface="Calibri" pitchFamily="34" charset="-120"/>
              </a:rPr>
              <a:t>+ base + subbase granular</a:t>
            </a:r>
            <a:endParaRPr lang="en-US" sz="1400" dirty="0"/>
          </a:p>
        </p:txBody>
      </p:sp>
      <p:sp>
        <p:nvSpPr>
          <p:cNvPr id="18" name="Shape 16"/>
          <p:cNvSpPr/>
          <p:nvPr/>
        </p:nvSpPr>
        <p:spPr>
          <a:xfrm>
            <a:off x="548640" y="4809744"/>
            <a:ext cx="384048" cy="384048"/>
          </a:xfrm>
          <a:prstGeom prst="ellipse">
            <a:avLst/>
          </a:prstGeom>
          <a:solidFill>
            <a:srgbClr val="F2B705"/>
          </a:solidFill>
          <a:ln w="12700">
            <a:solidFill>
              <a:srgbClr val="F2B705"/>
            </a:solidFill>
            <a:prstDash val="solid"/>
          </a:ln>
        </p:spPr>
      </p:sp>
      <p:sp>
        <p:nvSpPr>
          <p:cNvPr id="19" name="Text 17"/>
          <p:cNvSpPr txBox="1"/>
          <p:nvPr/>
        </p:nvSpPr>
        <p:spPr>
          <a:xfrm>
            <a:off x="548640" y="4809744"/>
            <a:ext cx="384048" cy="384048"/>
          </a:xfrm>
          <a:prstGeom prst="rect">
            <a:avLst/>
          </a:prstGeom>
          <a:noFill/>
          <a:ln/>
        </p:spPr>
        <p:txBody>
          <a:bodyPr wrap="square" lIns="0" tIns="0" rIns="0" bIns="0" rtlCol="0" anchor="ctr"/>
          <a:lstStyle/>
          <a:p>
            <a:pPr algn="ctr" indent="0" marL="0">
              <a:buNone/>
            </a:pPr>
            <a:r>
              <a:rPr lang="en-US" sz="1300" b="1" dirty="0">
                <a:solidFill>
                  <a:srgbClr val="23262B"/>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1097280" y="4773168"/>
            <a:ext cx="3657600" cy="502920"/>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Carpeta asfáltica en caliente</a:t>
            </a:r>
            <a:endParaRPr lang="en-US" sz="1400" dirty="0"/>
          </a:p>
          <a:p>
            <a:pPr indent="0" marL="0">
              <a:buNone/>
            </a:pPr>
            <a:r>
              <a:rPr lang="en-US" sz="1100" dirty="0">
                <a:solidFill>
                  <a:srgbClr val="5F6670"/>
                </a:solidFill>
                <a:latin typeface="Calibri" pitchFamily="34" charset="0"/>
                <a:ea typeface="Calibri" pitchFamily="34" charset="-122"/>
                <a:cs typeface="Calibri" pitchFamily="34" charset="-120"/>
              </a:rPr>
              <a:t>+ base + subbase · rango completo TP0–TP14</a:t>
            </a:r>
            <a:endParaRPr lang="en-US" sz="1400" dirty="0"/>
          </a:p>
        </p:txBody>
      </p:sp>
      <p:sp>
        <p:nvSpPr>
          <p:cNvPr id="21" name="Shape 19"/>
          <p:cNvSpPr/>
          <p:nvPr/>
        </p:nvSpPr>
        <p:spPr>
          <a:xfrm>
            <a:off x="5029200" y="1508760"/>
            <a:ext cx="6611112" cy="4617720"/>
          </a:xfrm>
          <a:prstGeom prst="rect">
            <a:avLst/>
          </a:prstGeom>
          <a:solidFill>
            <a:srgbClr val="FFFFFF"/>
          </a:solidFill>
          <a:ln w="9525">
            <a:solidFill>
              <a:srgbClr val="D5D9DE"/>
            </a:solidFill>
            <a:prstDash val="solid"/>
          </a:ln>
          <a:effectLst>
            <a:outerShdw sx="100000" sy="100000" kx="0" ky="0" algn="bl" rotWithShape="0" blurRad="76200" dist="25400" dir="5400000">
              <a:srgbClr val="000000">
                <a:alpha val="8000"/>
              </a:srgbClr>
            </a:outerShdw>
          </a:effectLst>
        </p:spPr>
      </p:sp>
      <p:graphicFrame>
        <p:nvGraphicFramePr>
          <p:cNvPr id="22" name="Chart 0" descr=""/>
          <p:cNvGraphicFramePr/>
          <p:nvPr/>
        </p:nvGraphicFramePr>
        <p:xfrm>
          <a:off x="5166360" y="1600200"/>
          <a:ext cx="6355080" cy="4160520"/>
        </p:xfrm>
        <a:graphic xmlns:a="http://schemas.openxmlformats.org/drawingml/2006/main">
          <a:graphicData uri="http://schemas.openxmlformats.org/drawingml/2006/chart">
            <c:chart xmlns:c="http://schemas.openxmlformats.org/drawingml/2006/chart" r:id="rId1"/>
          </a:graphicData>
        </a:graphic>
      </p:graphicFrame>
      <p:sp>
        <p:nvSpPr>
          <p:cNvPr id="23" name="Text 20"/>
          <p:cNvSpPr txBox="1"/>
          <p:nvPr/>
        </p:nvSpPr>
        <p:spPr>
          <a:xfrm>
            <a:off x="5166360" y="5760720"/>
            <a:ext cx="6355080" cy="27432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Filas intermedias siguen la misma progresión — ver Manual para el catálogo completo TP0–TP14.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3E6283"/>
                </a:solidFill>
                <a:latin typeface="Calibri" pitchFamily="34" charset="0"/>
                <a:ea typeface="Calibri" pitchFamily="34" charset="-122"/>
                <a:cs typeface="Calibri" pitchFamily="34" charset="-120"/>
              </a:rPr>
              <a:t>CUADRO 12.18</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indent="0" marL="0">
              <a:buNone/>
            </a:pPr>
            <a:r>
              <a:rPr lang="en-US" sz="3200" b="1" dirty="0">
                <a:solidFill>
                  <a:srgbClr val="1F2328"/>
                </a:solidFill>
                <a:latin typeface="Cambria" pitchFamily="34" charset="0"/>
                <a:ea typeface="Cambria" pitchFamily="34" charset="-122"/>
                <a:cs typeface="Cambria" pitchFamily="34" charset="-120"/>
              </a:rPr>
              <a:t>Limitaciones de tránsito y geometría vial</a:t>
            </a:r>
            <a:endParaRPr lang="en-US" sz="3200" dirty="0"/>
          </a:p>
        </p:txBody>
      </p:sp>
      <p:sp>
        <p:nvSpPr>
          <p:cNvPr id="4" name="Text 2"/>
          <p:cNvSpPr txBox="1"/>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6</a:t>
            </a:r>
            <a:endParaRPr lang="en-US" sz="1000" dirty="0"/>
          </a:p>
        </p:txBody>
      </p:sp>
      <p:sp>
        <p:nvSpPr>
          <p:cNvPr id="5" name="Text 3"/>
          <p:cNvSpPr txBox="1"/>
          <p:nvPr/>
        </p:nvSpPr>
        <p:spPr>
          <a:xfrm>
            <a:off x="548640" y="1463040"/>
            <a:ext cx="10972800" cy="320040"/>
          </a:xfrm>
          <a:prstGeom prst="rect">
            <a:avLst/>
          </a:prstGeom>
          <a:noFill/>
          <a:ln/>
        </p:spPr>
        <p:txBody>
          <a:bodyPr wrap="square" lIns="0" tIns="0" rIns="0" bIns="0" rtlCol="0" anchor="ctr"/>
          <a:lstStyle/>
          <a:p>
            <a:pPr indent="0" marL="0">
              <a:buNone/>
            </a:pPr>
            <a:r>
              <a:rPr lang="en-US" sz="1500" dirty="0">
                <a:solidFill>
                  <a:srgbClr val="1F2328"/>
                </a:solidFill>
                <a:latin typeface="Calibri" pitchFamily="34" charset="0"/>
                <a:ea typeface="Calibri" pitchFamily="34" charset="-122"/>
                <a:cs typeface="Calibri" pitchFamily="34" charset="-120"/>
              </a:rPr>
              <a:t>Cada capa superficial tiene un límite de aplicación por tráfico, pendiente y curvatura.</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9144000" cy="914400"/>
        </p:xfrm>
        <a:graphic>
          <a:graphicData uri="http://schemas.openxmlformats.org/drawingml/2006/table">
            <a:tbl>
              <a:tblPr/>
              <a:tblGrid>
                <a:gridCol w="3291840"/>
                <a:gridCol w="1920240"/>
                <a:gridCol w="2011680"/>
                <a:gridCol w="3867912"/>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Capa superficial</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3E6283"/>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Tráfico (EE)</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3E6283"/>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Pendiente máxima</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3E6283"/>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Curvatura horizontal</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3E6283"/>
                    </a:solidFill>
                  </a:tcPr>
                </a:tc>
              </a:tr>
              <a:tr h="566928">
                <a:tc>
                  <a:txBody>
                    <a:bodyPr/>
                    <a:lstStyle/>
                    <a:p>
                      <a:pPr indent="0" marL="0">
                        <a:buNone/>
                      </a:pPr>
                      <a:r>
                        <a:rPr lang="en-US" sz="1400" b="1" dirty="0">
                          <a:solidFill>
                            <a:srgbClr val="1F2328"/>
                          </a:solidFill>
                          <a:latin typeface="Calibri" pitchFamily="34" charset="0"/>
                          <a:ea typeface="Calibri" pitchFamily="34" charset="-122"/>
                          <a:cs typeface="Calibri" pitchFamily="34" charset="-120"/>
                        </a:rPr>
                        <a:t>Carpeta asfáltica en caliente</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400" dirty="0">
                          <a:solidFill>
                            <a:srgbClr val="2E7D4F"/>
                          </a:solidFill>
                          <a:latin typeface="Calibri" pitchFamily="34" charset="0"/>
                          <a:ea typeface="Calibri" pitchFamily="34" charset="-122"/>
                          <a:cs typeface="Calibri" pitchFamily="34" charset="-120"/>
                        </a:rPr>
                        <a:t>Sin restricción</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400" dirty="0">
                          <a:solidFill>
                            <a:srgbClr val="2E7D4F"/>
                          </a:solidFill>
                          <a:latin typeface="Calibri" pitchFamily="34" charset="0"/>
                          <a:ea typeface="Calibri" pitchFamily="34" charset="-122"/>
                          <a:cs typeface="Calibri" pitchFamily="34" charset="-120"/>
                        </a:rPr>
                        <a:t>Sin restricción</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400" dirty="0">
                          <a:solidFill>
                            <a:srgbClr val="2E7D4F"/>
                          </a:solidFill>
                          <a:latin typeface="Calibri" pitchFamily="34" charset="0"/>
                          <a:ea typeface="Calibri" pitchFamily="34" charset="-122"/>
                          <a:cs typeface="Calibri" pitchFamily="34" charset="-120"/>
                        </a:rPr>
                        <a:t>Sin restricción</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F2328"/>
                          </a:solidFill>
                          <a:latin typeface="Calibri" pitchFamily="34" charset="0"/>
                          <a:ea typeface="Calibri" pitchFamily="34" charset="-122"/>
                          <a:cs typeface="Calibri" pitchFamily="34" charset="-120"/>
                        </a:rPr>
                        <a:t>Carpeta asfáltica en frío / mezcla con emulsión</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 1'000,000 EE</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c>
                  <a:txBody>
                    <a:bodyPr/>
                    <a:lstStyle/>
                    <a:p>
                      <a:pPr indent="0" marL="0">
                        <a:buNone/>
                      </a:pPr>
                      <a:r>
                        <a:rPr lang="en-US" sz="1400" dirty="0">
                          <a:solidFill>
                            <a:srgbClr val="2E7D4F"/>
                          </a:solidFill>
                          <a:latin typeface="Calibri" pitchFamily="34" charset="0"/>
                          <a:ea typeface="Calibri" pitchFamily="34" charset="-122"/>
                          <a:cs typeface="Calibri" pitchFamily="34" charset="-120"/>
                        </a:rPr>
                        <a:t>Sin restricción</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c>
                  <a:txBody>
                    <a:bodyPr/>
                    <a:lstStyle/>
                    <a:p>
                      <a:pPr indent="0" marL="0">
                        <a:buNone/>
                      </a:pPr>
                      <a:r>
                        <a:rPr lang="en-US" sz="1400" dirty="0">
                          <a:solidFill>
                            <a:srgbClr val="2E7D4F"/>
                          </a:solidFill>
                          <a:latin typeface="Calibri" pitchFamily="34" charset="0"/>
                          <a:ea typeface="Calibri" pitchFamily="34" charset="-122"/>
                          <a:cs typeface="Calibri" pitchFamily="34" charset="-120"/>
                        </a:rPr>
                        <a:t>Sin restricción</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r>
              <a:tr h="566928">
                <a:tc>
                  <a:txBody>
                    <a:bodyPr/>
                    <a:lstStyle/>
                    <a:p>
                      <a:pPr indent="0" marL="0">
                        <a:buNone/>
                      </a:pPr>
                      <a:r>
                        <a:rPr lang="en-US" sz="1400" b="1" dirty="0">
                          <a:solidFill>
                            <a:srgbClr val="1F2328"/>
                          </a:solidFill>
                          <a:latin typeface="Calibri" pitchFamily="34" charset="0"/>
                          <a:ea typeface="Calibri" pitchFamily="34" charset="-122"/>
                          <a:cs typeface="Calibri" pitchFamily="34" charset="-120"/>
                        </a:rPr>
                        <a:t>Micropavimento 25 mm</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 1'000,000 EE</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400" dirty="0">
                          <a:solidFill>
                            <a:srgbClr val="2E7D4F"/>
                          </a:solidFill>
                          <a:latin typeface="Calibri" pitchFamily="34" charset="0"/>
                          <a:ea typeface="Calibri" pitchFamily="34" charset="-122"/>
                          <a:cs typeface="Calibri" pitchFamily="34" charset="-120"/>
                        </a:rPr>
                        <a:t>Sin restricción</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400" dirty="0">
                          <a:solidFill>
                            <a:srgbClr val="2E7D4F"/>
                          </a:solidFill>
                          <a:latin typeface="Calibri" pitchFamily="34" charset="0"/>
                          <a:ea typeface="Calibri" pitchFamily="34" charset="-122"/>
                          <a:cs typeface="Calibri" pitchFamily="34" charset="-120"/>
                        </a:rPr>
                        <a:t>Sin restricción</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r>
              <a:tr h="685800">
                <a:tc>
                  <a:txBody>
                    <a:bodyPr/>
                    <a:lstStyle/>
                    <a:p>
                      <a:pPr indent="0" marL="0">
                        <a:buNone/>
                      </a:pPr>
                      <a:r>
                        <a:rPr lang="en-US" sz="1400" b="1" dirty="0">
                          <a:solidFill>
                            <a:srgbClr val="1F2328"/>
                          </a:solidFill>
                          <a:latin typeface="Calibri" pitchFamily="34" charset="0"/>
                          <a:ea typeface="Calibri" pitchFamily="34" charset="-122"/>
                          <a:cs typeface="Calibri" pitchFamily="34" charset="-120"/>
                        </a:rPr>
                        <a:t>Tratamiento superficial bicapa (TSB)</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 500,000 EE</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c>
                  <a:txBody>
                    <a:bodyPr/>
                    <a:lstStyle/>
                    <a:p>
                      <a:pPr indent="0" marL="0">
                        <a:buNone/>
                      </a:pPr>
                      <a:r>
                        <a:rPr lang="en-US" sz="1400" b="1" dirty="0">
                          <a:solidFill>
                            <a:srgbClr val="B3261E"/>
                          </a:solidFill>
                          <a:latin typeface="Calibri" pitchFamily="34" charset="0"/>
                          <a:ea typeface="Calibri" pitchFamily="34" charset="-122"/>
                          <a:cs typeface="Calibri" pitchFamily="34" charset="-120"/>
                        </a:rPr>
                        <a:t>No aplica &gt; 8 %</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c>
                  <a:txBody>
                    <a:bodyPr/>
                    <a:lstStyle/>
                    <a:p>
                      <a:pPr indent="0" marL="0">
                        <a:buNone/>
                      </a:pPr>
                      <a:r>
                        <a:rPr lang="en-US" sz="1400" dirty="0">
                          <a:solidFill>
                            <a:srgbClr val="B3261E"/>
                          </a:solidFill>
                          <a:latin typeface="Calibri" pitchFamily="34" charset="0"/>
                          <a:ea typeface="Calibri" pitchFamily="34" charset="-122"/>
                          <a:cs typeface="Calibri" pitchFamily="34" charset="-120"/>
                        </a:rPr>
                        <a:t>No aplica en curvas pronunciadas, de volteo, contracurvas ni zonas de frenado</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r>
              <a:tr h="566928">
                <a:tc>
                  <a:txBody>
                    <a:bodyPr/>
                    <a:lstStyle/>
                    <a:p>
                      <a:pPr indent="0" marL="0">
                        <a:buNone/>
                      </a:pPr>
                      <a:r>
                        <a:rPr lang="en-US" sz="1400" b="1" dirty="0">
                          <a:solidFill>
                            <a:srgbClr val="1F2328"/>
                          </a:solidFill>
                          <a:latin typeface="Calibri" pitchFamily="34" charset="0"/>
                          <a:ea typeface="Calibri" pitchFamily="34" charset="-122"/>
                          <a:cs typeface="Calibri" pitchFamily="34" charset="-120"/>
                        </a:rPr>
                        <a:t>Lechada asfáltica (slurry seal) 12 mm</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 500,000 EE</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400" b="1" dirty="0">
                          <a:solidFill>
                            <a:srgbClr val="B3261E"/>
                          </a:solidFill>
                          <a:latin typeface="Calibri" pitchFamily="34" charset="0"/>
                          <a:ea typeface="Calibri" pitchFamily="34" charset="-122"/>
                          <a:cs typeface="Calibri" pitchFamily="34" charset="-120"/>
                        </a:rPr>
                        <a:t>No aplica &gt; 8 %</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400" dirty="0">
                          <a:solidFill>
                            <a:srgbClr val="B3261E"/>
                          </a:solidFill>
                          <a:latin typeface="Calibri" pitchFamily="34" charset="0"/>
                          <a:ea typeface="Calibri" pitchFamily="34" charset="-122"/>
                          <a:cs typeface="Calibri" pitchFamily="34" charset="-120"/>
                        </a:rPr>
                        <a:t>No aplica en tramos que obliguen al frenado</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532120"/>
            <a:ext cx="502920" cy="502920"/>
          </a:xfrm>
          <a:prstGeom prst="ellipse">
            <a:avLst/>
          </a:prstGeom>
          <a:solidFill>
            <a:srgbClr val="F2B705"/>
          </a:solidFill>
          <a:ln w="12700">
            <a:solidFill>
              <a:srgbClr val="F2B705"/>
            </a:solidFill>
            <a:prstDash val="solid"/>
          </a:ln>
        </p:spPr>
      </p:sp>
      <p:pic>
        <p:nvPicPr>
          <p:cNvPr id="8" name="Image 0" descr="preencoded.png">    </p:cNvPr>
          <p:cNvPicPr>
            <a:picLocks noChangeAspect="1"/>
          </p:cNvPicPr>
          <p:nvPr/>
        </p:nvPicPr>
        <p:blipFill>
          <a:blip r:embed="rId1"/>
          <a:stretch>
            <a:fillRect/>
          </a:stretch>
        </p:blipFill>
        <p:spPr>
          <a:xfrm>
            <a:off x="669341" y="5652821"/>
            <a:ext cx="261518" cy="261518"/>
          </a:xfrm>
          <a:prstGeom prst="rect">
            <a:avLst/>
          </a:prstGeom>
        </p:spPr>
      </p:pic>
      <p:sp>
        <p:nvSpPr>
          <p:cNvPr id="9" name="Text 5"/>
          <p:cNvSpPr txBox="1"/>
          <p:nvPr/>
        </p:nvSpPr>
        <p:spPr>
          <a:xfrm>
            <a:off x="1234440" y="5486400"/>
            <a:ext cx="10332720" cy="594360"/>
          </a:xfrm>
          <a:prstGeom prst="rect">
            <a:avLst/>
          </a:prstGeom>
          <a:noFill/>
          <a:ln/>
        </p:spPr>
        <p:txBody>
          <a:bodyPr wrap="square" lIns="0" tIns="0" rIns="0" bIns="0" rtlCol="0" anchor="ctr"/>
          <a:lstStyle/>
          <a:p>
            <a:pPr indent="0" marL="0">
              <a:buNone/>
            </a:pPr>
            <a:r>
              <a:rPr lang="en-US" sz="1500" b="1" dirty="0">
                <a:solidFill>
                  <a:srgbClr val="1F2328"/>
                </a:solidFill>
                <a:latin typeface="Calibri" pitchFamily="34" charset="0"/>
                <a:ea typeface="Calibri" pitchFamily="34" charset="-122"/>
                <a:cs typeface="Calibri" pitchFamily="34" charset="-120"/>
              </a:rPr>
              <a:t>Clave: </a:t>
            </a:r>
            <a:pPr indent="0" marL="0">
              <a:buNone/>
            </a:pPr>
            <a:r>
              <a:rPr lang="en-US" sz="1500" dirty="0">
                <a:solidFill>
                  <a:srgbClr val="1F2328"/>
                </a:solidFill>
                <a:latin typeface="Calibri" pitchFamily="34" charset="0"/>
                <a:ea typeface="Calibri" pitchFamily="34" charset="-122"/>
                <a:cs typeface="Calibri" pitchFamily="34" charset="-120"/>
              </a:rPr>
              <a:t>los tratamientos delgados (TSB y lechada) no resisten esfuerzos tangenciales de frenado ni pendientes fuertes.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3E6283"/>
                </a:solidFill>
                <a:latin typeface="Calibri" pitchFamily="34" charset="0"/>
                <a:ea typeface="Calibri" pitchFamily="34" charset="-122"/>
                <a:cs typeface="Calibri" pitchFamily="34" charset="-120"/>
              </a:rPr>
              <a:t>12.2.2 · 12.2.3 · 12.2.4</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indent="0" marL="0">
              <a:buNone/>
            </a:pPr>
            <a:r>
              <a:rPr lang="en-US" sz="3200" b="1" dirty="0">
                <a:solidFill>
                  <a:srgbClr val="1F2328"/>
                </a:solidFill>
                <a:latin typeface="Cambria" pitchFamily="34" charset="0"/>
                <a:ea typeface="Cambria" pitchFamily="34" charset="-122"/>
                <a:cs typeface="Cambria" pitchFamily="34" charset="-120"/>
              </a:rPr>
              <a:t>Tres enfoques de periodo de diseño</a:t>
            </a:r>
            <a:endParaRPr lang="en-US" sz="3200" dirty="0"/>
          </a:p>
        </p:txBody>
      </p:sp>
      <p:sp>
        <p:nvSpPr>
          <p:cNvPr id="4" name="Text 2"/>
          <p:cNvSpPr txBox="1"/>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548640" y="1554480"/>
            <a:ext cx="3520440" cy="4526280"/>
          </a:xfrm>
          <a:prstGeom prst="rect">
            <a:avLst/>
          </a:prstGeom>
          <a:solidFill>
            <a:srgbClr val="FFFFFF"/>
          </a:solidFill>
          <a:ln w="9525">
            <a:solidFill>
              <a:srgbClr val="D5D9DE"/>
            </a:solidFill>
            <a:prstDash val="solid"/>
          </a:ln>
          <a:effectLst>
            <a:outerShdw sx="100000" sy="100000" kx="0" ky="0" algn="bl" rotWithShape="0" blurRad="76200" dist="25400" dir="5400000">
              <a:srgbClr val="000000">
                <a:alpha val="8000"/>
              </a:srgbClr>
            </a:outerShdw>
          </a:effectLst>
        </p:spPr>
      </p:sp>
      <p:sp>
        <p:nvSpPr>
          <p:cNvPr id="6" name="Text 4"/>
          <p:cNvSpPr txBox="1"/>
          <p:nvPr/>
        </p:nvSpPr>
        <p:spPr>
          <a:xfrm>
            <a:off x="822960" y="1737360"/>
            <a:ext cx="2971800" cy="640080"/>
          </a:xfrm>
          <a:prstGeom prst="rect">
            <a:avLst/>
          </a:prstGeom>
          <a:noFill/>
          <a:ln/>
        </p:spPr>
        <p:txBody>
          <a:bodyPr wrap="square" lIns="0" tIns="0" rIns="0" bIns="0" rtlCol="0" anchor="ctr"/>
          <a:lstStyle/>
          <a:p>
            <a:pPr indent="0" marL="0">
              <a:buNone/>
            </a:pPr>
            <a:r>
              <a:rPr lang="en-US" sz="2200" b="1" dirty="0">
                <a:solidFill>
                  <a:srgbClr val="3E6283"/>
                </a:solidFill>
                <a:latin typeface="Cambria" pitchFamily="34" charset="0"/>
                <a:ea typeface="Cambria" pitchFamily="34" charset="-122"/>
                <a:cs typeface="Cambria" pitchFamily="34" charset="-120"/>
              </a:rPr>
              <a:t>10 años</a:t>
            </a:r>
            <a:endParaRPr lang="en-US" sz="2200" dirty="0"/>
          </a:p>
        </p:txBody>
      </p:sp>
      <p:sp>
        <p:nvSpPr>
          <p:cNvPr id="7" name="Text 5"/>
          <p:cNvSpPr txBox="1"/>
          <p:nvPr/>
        </p:nvSpPr>
        <p:spPr>
          <a:xfrm>
            <a:off x="822960" y="2377440"/>
            <a:ext cx="2971800" cy="365760"/>
          </a:xfrm>
          <a:prstGeom prst="rect">
            <a:avLst/>
          </a:prstGeom>
          <a:noFill/>
          <a:ln/>
        </p:spPr>
        <p:txBody>
          <a:bodyPr wrap="square" lIns="0" tIns="0" rIns="0" bIns="0" rtlCol="0" anchor="ctr"/>
          <a:lstStyle/>
          <a:p>
            <a:pPr indent="0" marL="0">
              <a:buNone/>
            </a:pPr>
            <a:r>
              <a:rPr lang="en-US" sz="1600" b="1" dirty="0">
                <a:solidFill>
                  <a:srgbClr val="1F2328"/>
                </a:solidFill>
                <a:latin typeface="Calibri" pitchFamily="34" charset="0"/>
                <a:ea typeface="Calibri" pitchFamily="34" charset="-122"/>
                <a:cs typeface="Calibri" pitchFamily="34" charset="-120"/>
              </a:rPr>
              <a:t>Bajo volumen de tránsito</a:t>
            </a:r>
            <a:endParaRPr lang="en-US" sz="1600" dirty="0"/>
          </a:p>
        </p:txBody>
      </p:sp>
      <p:sp>
        <p:nvSpPr>
          <p:cNvPr id="8" name="Shape 6"/>
          <p:cNvSpPr/>
          <p:nvPr/>
        </p:nvSpPr>
        <p:spPr>
          <a:xfrm>
            <a:off x="822960" y="2926080"/>
            <a:ext cx="2971800" cy="384048"/>
          </a:xfrm>
          <a:prstGeom prst="rect">
            <a:avLst/>
          </a:prstGeom>
          <a:solidFill>
            <a:srgbClr val="E6E9ED"/>
          </a:solidFill>
          <a:ln w="12700">
            <a:solidFill>
              <a:srgbClr val="E6E9ED"/>
            </a:solidFill>
            <a:prstDash val="solid"/>
          </a:ln>
        </p:spPr>
      </p:sp>
      <p:sp>
        <p:nvSpPr>
          <p:cNvPr id="9" name="Shape 7"/>
          <p:cNvSpPr/>
          <p:nvPr/>
        </p:nvSpPr>
        <p:spPr>
          <a:xfrm>
            <a:off x="822960" y="2926080"/>
            <a:ext cx="1458468" cy="384048"/>
          </a:xfrm>
          <a:prstGeom prst="rect">
            <a:avLst/>
          </a:prstGeom>
          <a:solidFill>
            <a:srgbClr val="3E6283"/>
          </a:solidFill>
          <a:ln w="12700">
            <a:solidFill>
              <a:srgbClr val="3E6283"/>
            </a:solidFill>
            <a:prstDash val="solid"/>
          </a:ln>
        </p:spPr>
      </p:sp>
      <p:sp>
        <p:nvSpPr>
          <p:cNvPr id="10" name="Text 8"/>
          <p:cNvSpPr txBox="1"/>
          <p:nvPr/>
        </p:nvSpPr>
        <p:spPr>
          <a:xfrm>
            <a:off x="822960" y="2926080"/>
            <a:ext cx="14859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Año 0 → 10</a:t>
            </a:r>
            <a:endParaRPr lang="en-US" sz="1100" dirty="0"/>
          </a:p>
        </p:txBody>
      </p:sp>
      <p:sp>
        <p:nvSpPr>
          <p:cNvPr id="11" name="Text 9"/>
          <p:cNvSpPr txBox="1"/>
          <p:nvPr/>
        </p:nvSpPr>
        <p:spPr>
          <a:xfrm>
            <a:off x="822960" y="3355848"/>
            <a:ext cx="731520" cy="228600"/>
          </a:xfrm>
          <a:prstGeom prst="rect">
            <a:avLst/>
          </a:prstGeom>
          <a:noFill/>
          <a:ln/>
        </p:spPr>
        <p:txBody>
          <a:bodyPr wrap="square" lIns="0" tIns="0" rIns="0" bIns="0" rtlCol="0" anchor="ctr"/>
          <a:lstStyle/>
          <a:p>
            <a:pPr algn="l" indent="0" marL="0">
              <a:buNone/>
            </a:pPr>
            <a:r>
              <a:rPr lang="en-US" sz="1000" dirty="0">
                <a:solidFill>
                  <a:srgbClr val="5F6670"/>
                </a:solidFill>
                <a:latin typeface="Calibri" pitchFamily="34" charset="0"/>
                <a:ea typeface="Calibri" pitchFamily="34" charset="-122"/>
                <a:cs typeface="Calibri" pitchFamily="34" charset="-120"/>
              </a:rPr>
              <a:t>0</a:t>
            </a:r>
            <a:endParaRPr lang="en-US" sz="1000" dirty="0"/>
          </a:p>
        </p:txBody>
      </p:sp>
      <p:sp>
        <p:nvSpPr>
          <p:cNvPr id="12" name="Text 10"/>
          <p:cNvSpPr txBox="1"/>
          <p:nvPr/>
        </p:nvSpPr>
        <p:spPr>
          <a:xfrm>
            <a:off x="1943100" y="3355848"/>
            <a:ext cx="731520" cy="228600"/>
          </a:xfrm>
          <a:prstGeom prst="rect">
            <a:avLst/>
          </a:prstGeom>
          <a:noFill/>
          <a:ln/>
        </p:spPr>
        <p:txBody>
          <a:bodyPr wrap="square" lIns="0" tIns="0" rIns="0" bIns="0" rtlCol="0" anchor="ctr"/>
          <a:lstStyle/>
          <a:p>
            <a:pPr algn="ctr" indent="0" marL="0">
              <a:buNone/>
            </a:pPr>
            <a:r>
              <a:rPr lang="en-US" sz="1000" dirty="0">
                <a:solidFill>
                  <a:srgbClr val="5F6670"/>
                </a:solidFill>
                <a:latin typeface="Calibri" pitchFamily="34" charset="0"/>
                <a:ea typeface="Calibri" pitchFamily="34" charset="-122"/>
                <a:cs typeface="Calibri" pitchFamily="34" charset="-120"/>
              </a:rPr>
              <a:t>10</a:t>
            </a:r>
            <a:endParaRPr lang="en-US" sz="1000" dirty="0"/>
          </a:p>
        </p:txBody>
      </p:sp>
      <p:sp>
        <p:nvSpPr>
          <p:cNvPr id="13" name="Text 11"/>
          <p:cNvSpPr txBox="1"/>
          <p:nvPr/>
        </p:nvSpPr>
        <p:spPr>
          <a:xfrm>
            <a:off x="3063240" y="3355848"/>
            <a:ext cx="731520" cy="22860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20 años</a:t>
            </a:r>
            <a:endParaRPr lang="en-US" sz="1000" dirty="0"/>
          </a:p>
        </p:txBody>
      </p:sp>
      <p:sp>
        <p:nvSpPr>
          <p:cNvPr id="14" name="Text 12"/>
          <p:cNvSpPr txBox="1"/>
          <p:nvPr/>
        </p:nvSpPr>
        <p:spPr>
          <a:xfrm>
            <a:off x="822960" y="3749040"/>
            <a:ext cx="297180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 1'000,000 EE (TP0 – TP4)</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4 alternativas: mortero asfáltico, TSB, micropavimento, carpeta en frío</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Figuras 12.2 – 12.5</a:t>
            </a:r>
            <a:endParaRPr lang="en-US" sz="1500" dirty="0"/>
          </a:p>
        </p:txBody>
      </p:sp>
      <p:sp>
        <p:nvSpPr>
          <p:cNvPr id="15" name="Shape 13"/>
          <p:cNvSpPr/>
          <p:nvPr/>
        </p:nvSpPr>
        <p:spPr>
          <a:xfrm>
            <a:off x="4334256" y="1554480"/>
            <a:ext cx="3520440" cy="4526280"/>
          </a:xfrm>
          <a:prstGeom prst="rect">
            <a:avLst/>
          </a:prstGeom>
          <a:solidFill>
            <a:srgbClr val="23262B"/>
          </a:solidFill>
          <a:ln w="9525">
            <a:solidFill>
              <a:srgbClr val="23262B"/>
            </a:solidFill>
            <a:prstDash val="solid"/>
          </a:ln>
          <a:effectLst>
            <a:outerShdw sx="100000" sy="100000" kx="0" ky="0" algn="bl" rotWithShape="0" blurRad="76200" dist="25400" dir="5400000">
              <a:srgbClr val="000000">
                <a:alpha val="8000"/>
              </a:srgbClr>
            </a:outerShdw>
          </a:effectLst>
        </p:spPr>
      </p:sp>
      <p:sp>
        <p:nvSpPr>
          <p:cNvPr id="16" name="Text 14"/>
          <p:cNvSpPr txBox="1"/>
          <p:nvPr/>
        </p:nvSpPr>
        <p:spPr>
          <a:xfrm>
            <a:off x="4608576" y="1737360"/>
            <a:ext cx="2971800" cy="640080"/>
          </a:xfrm>
          <a:prstGeom prst="rect">
            <a:avLst/>
          </a:prstGeom>
          <a:noFill/>
          <a:ln/>
        </p:spPr>
        <p:txBody>
          <a:bodyPr wrap="square" lIns="0" tIns="0" rIns="0" bIns="0" rtlCol="0" anchor="ctr"/>
          <a:lstStyle/>
          <a:p>
            <a:pPr indent="0" marL="0">
              <a:buNone/>
            </a:pPr>
            <a:r>
              <a:rPr lang="en-US" sz="2200" b="1" dirty="0">
                <a:solidFill>
                  <a:srgbClr val="F2B705"/>
                </a:solidFill>
                <a:latin typeface="Cambria" pitchFamily="34" charset="0"/>
                <a:ea typeface="Cambria" pitchFamily="34" charset="-122"/>
                <a:cs typeface="Cambria" pitchFamily="34" charset="-120"/>
              </a:rPr>
              <a:t>20 años · 2 etapas</a:t>
            </a:r>
            <a:endParaRPr lang="en-US" sz="2200" dirty="0"/>
          </a:p>
        </p:txBody>
      </p:sp>
      <p:sp>
        <p:nvSpPr>
          <p:cNvPr id="17" name="Text 15"/>
          <p:cNvSpPr txBox="1"/>
          <p:nvPr/>
        </p:nvSpPr>
        <p:spPr>
          <a:xfrm>
            <a:off x="4608576" y="2377440"/>
            <a:ext cx="29718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Con refuerzo intermedio</a:t>
            </a:r>
            <a:endParaRPr lang="en-US" sz="1600" dirty="0"/>
          </a:p>
        </p:txBody>
      </p:sp>
      <p:sp>
        <p:nvSpPr>
          <p:cNvPr id="18" name="Shape 16"/>
          <p:cNvSpPr/>
          <p:nvPr/>
        </p:nvSpPr>
        <p:spPr>
          <a:xfrm>
            <a:off x="4608576" y="2926080"/>
            <a:ext cx="2971800" cy="384048"/>
          </a:xfrm>
          <a:prstGeom prst="rect">
            <a:avLst/>
          </a:prstGeom>
          <a:solidFill>
            <a:srgbClr val="33373E"/>
          </a:solidFill>
          <a:ln w="12700">
            <a:solidFill>
              <a:srgbClr val="33373E"/>
            </a:solidFill>
            <a:prstDash val="solid"/>
          </a:ln>
        </p:spPr>
      </p:sp>
      <p:sp>
        <p:nvSpPr>
          <p:cNvPr id="19" name="Shape 17"/>
          <p:cNvSpPr/>
          <p:nvPr/>
        </p:nvSpPr>
        <p:spPr>
          <a:xfrm>
            <a:off x="4608576" y="2926080"/>
            <a:ext cx="1458468" cy="384048"/>
          </a:xfrm>
          <a:prstGeom prst="rect">
            <a:avLst/>
          </a:prstGeom>
          <a:solidFill>
            <a:srgbClr val="3E6283"/>
          </a:solidFill>
          <a:ln w="12700">
            <a:solidFill>
              <a:srgbClr val="3E6283"/>
            </a:solidFill>
            <a:prstDash val="solid"/>
          </a:ln>
        </p:spPr>
      </p:sp>
      <p:sp>
        <p:nvSpPr>
          <p:cNvPr id="20" name="Text 18"/>
          <p:cNvSpPr txBox="1"/>
          <p:nvPr/>
        </p:nvSpPr>
        <p:spPr>
          <a:xfrm>
            <a:off x="4608576" y="2926080"/>
            <a:ext cx="14859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Etapa 1</a:t>
            </a:r>
            <a:endParaRPr lang="en-US" sz="1100" dirty="0"/>
          </a:p>
        </p:txBody>
      </p:sp>
      <p:sp>
        <p:nvSpPr>
          <p:cNvPr id="21" name="Shape 19"/>
          <p:cNvSpPr/>
          <p:nvPr/>
        </p:nvSpPr>
        <p:spPr>
          <a:xfrm>
            <a:off x="6094476" y="2926080"/>
            <a:ext cx="1458468" cy="384048"/>
          </a:xfrm>
          <a:prstGeom prst="rect">
            <a:avLst/>
          </a:prstGeom>
          <a:solidFill>
            <a:srgbClr val="F2B705"/>
          </a:solidFill>
          <a:ln w="12700">
            <a:solidFill>
              <a:srgbClr val="F2B705"/>
            </a:solidFill>
            <a:prstDash val="solid"/>
          </a:ln>
        </p:spPr>
      </p:sp>
      <p:sp>
        <p:nvSpPr>
          <p:cNvPr id="22" name="Text 20"/>
          <p:cNvSpPr txBox="1"/>
          <p:nvPr/>
        </p:nvSpPr>
        <p:spPr>
          <a:xfrm>
            <a:off x="6094476" y="2926080"/>
            <a:ext cx="1485900" cy="384048"/>
          </a:xfrm>
          <a:prstGeom prst="rect">
            <a:avLst/>
          </a:prstGeom>
          <a:noFill/>
          <a:ln/>
        </p:spPr>
        <p:txBody>
          <a:bodyPr wrap="square" lIns="0" tIns="0" rIns="0" bIns="0" rtlCol="0" anchor="ctr"/>
          <a:lstStyle/>
          <a:p>
            <a:pPr algn="ctr" indent="0" marL="0">
              <a:buNone/>
            </a:pPr>
            <a:r>
              <a:rPr lang="en-US" sz="1100" b="1" dirty="0">
                <a:solidFill>
                  <a:srgbClr val="23262B"/>
                </a:solidFill>
                <a:latin typeface="Calibri" pitchFamily="34" charset="0"/>
                <a:ea typeface="Calibri" pitchFamily="34" charset="-122"/>
                <a:cs typeface="Calibri" pitchFamily="34" charset="-120"/>
              </a:rPr>
              <a:t>Refuerzo</a:t>
            </a:r>
            <a:endParaRPr lang="en-US" sz="1100" dirty="0"/>
          </a:p>
        </p:txBody>
      </p:sp>
      <p:sp>
        <p:nvSpPr>
          <p:cNvPr id="23" name="Text 21"/>
          <p:cNvSpPr txBox="1"/>
          <p:nvPr/>
        </p:nvSpPr>
        <p:spPr>
          <a:xfrm>
            <a:off x="4608576" y="3355848"/>
            <a:ext cx="731520" cy="228600"/>
          </a:xfrm>
          <a:prstGeom prst="rect">
            <a:avLst/>
          </a:prstGeom>
          <a:noFill/>
          <a:ln/>
        </p:spPr>
        <p:txBody>
          <a:bodyPr wrap="square" lIns="0" tIns="0" rIns="0" bIns="0" rtlCol="0" anchor="ctr"/>
          <a:lstStyle/>
          <a:p>
            <a:pPr algn="l" indent="0" marL="0">
              <a:buNone/>
            </a:pPr>
            <a:r>
              <a:rPr lang="en-US" sz="1000" dirty="0">
                <a:solidFill>
                  <a:srgbClr val="AEB4BC"/>
                </a:solidFill>
                <a:latin typeface="Calibri" pitchFamily="34" charset="0"/>
                <a:ea typeface="Calibri" pitchFamily="34" charset="-122"/>
                <a:cs typeface="Calibri" pitchFamily="34" charset="-120"/>
              </a:rPr>
              <a:t>0</a:t>
            </a:r>
            <a:endParaRPr lang="en-US" sz="1000" dirty="0"/>
          </a:p>
        </p:txBody>
      </p:sp>
      <p:sp>
        <p:nvSpPr>
          <p:cNvPr id="24" name="Text 22"/>
          <p:cNvSpPr txBox="1"/>
          <p:nvPr/>
        </p:nvSpPr>
        <p:spPr>
          <a:xfrm>
            <a:off x="5728716" y="3355848"/>
            <a:ext cx="731520" cy="228600"/>
          </a:xfrm>
          <a:prstGeom prst="rect">
            <a:avLst/>
          </a:prstGeom>
          <a:noFill/>
          <a:ln/>
        </p:spPr>
        <p:txBody>
          <a:bodyPr wrap="square" lIns="0" tIns="0" rIns="0" bIns="0" rtlCol="0" anchor="ctr"/>
          <a:lstStyle/>
          <a:p>
            <a:pPr algn="ctr" indent="0" marL="0">
              <a:buNone/>
            </a:pPr>
            <a:r>
              <a:rPr lang="en-US" sz="1000" dirty="0">
                <a:solidFill>
                  <a:srgbClr val="AEB4BC"/>
                </a:solidFill>
                <a:latin typeface="Calibri" pitchFamily="34" charset="0"/>
                <a:ea typeface="Calibri" pitchFamily="34" charset="-122"/>
                <a:cs typeface="Calibri" pitchFamily="34" charset="-120"/>
              </a:rPr>
              <a:t>10</a:t>
            </a:r>
            <a:endParaRPr lang="en-US" sz="1000" dirty="0"/>
          </a:p>
        </p:txBody>
      </p:sp>
      <p:sp>
        <p:nvSpPr>
          <p:cNvPr id="25" name="Text 23"/>
          <p:cNvSpPr txBox="1"/>
          <p:nvPr/>
        </p:nvSpPr>
        <p:spPr>
          <a:xfrm>
            <a:off x="6848856" y="3355848"/>
            <a:ext cx="731520" cy="228600"/>
          </a:xfrm>
          <a:prstGeom prst="rect">
            <a:avLst/>
          </a:prstGeom>
          <a:noFill/>
          <a:ln/>
        </p:spPr>
        <p:txBody>
          <a:bodyPr wrap="square" lIns="0" tIns="0" rIns="0" bIns="0" rtlCol="0" anchor="ctr"/>
          <a:lstStyle/>
          <a:p>
            <a:pPr algn="r" indent="0" marL="0">
              <a:buNone/>
            </a:pPr>
            <a:r>
              <a:rPr lang="en-US" sz="1000" dirty="0">
                <a:solidFill>
                  <a:srgbClr val="AEB4BC"/>
                </a:solidFill>
                <a:latin typeface="Calibri" pitchFamily="34" charset="0"/>
                <a:ea typeface="Calibri" pitchFamily="34" charset="-122"/>
                <a:cs typeface="Calibri" pitchFamily="34" charset="-120"/>
              </a:rPr>
              <a:t>20 años</a:t>
            </a:r>
            <a:endParaRPr lang="en-US" sz="1000" dirty="0"/>
          </a:p>
        </p:txBody>
      </p:sp>
      <p:sp>
        <p:nvSpPr>
          <p:cNvPr id="26" name="Text 24"/>
          <p:cNvSpPr txBox="1"/>
          <p:nvPr/>
        </p:nvSpPr>
        <p:spPr>
          <a:xfrm>
            <a:off x="4608576" y="3749040"/>
            <a:ext cx="297180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&gt; 1'000,000 EE, hasta TP14</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1.ª etapa (año 0) + refuerzo asfáltico al año 10</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Figuras 12.6 – 12.7</a:t>
            </a:r>
            <a:endParaRPr lang="en-US" sz="1500" dirty="0"/>
          </a:p>
        </p:txBody>
      </p:sp>
      <p:sp>
        <p:nvSpPr>
          <p:cNvPr id="27" name="Shape 25"/>
          <p:cNvSpPr/>
          <p:nvPr/>
        </p:nvSpPr>
        <p:spPr>
          <a:xfrm>
            <a:off x="8119872" y="1554480"/>
            <a:ext cx="3520440" cy="4526280"/>
          </a:xfrm>
          <a:prstGeom prst="rect">
            <a:avLst/>
          </a:prstGeom>
          <a:solidFill>
            <a:srgbClr val="FFFFFF"/>
          </a:solidFill>
          <a:ln w="9525">
            <a:solidFill>
              <a:srgbClr val="D5D9DE"/>
            </a:solidFill>
            <a:prstDash val="solid"/>
          </a:ln>
          <a:effectLst>
            <a:outerShdw sx="100000" sy="100000" kx="0" ky="0" algn="bl" rotWithShape="0" blurRad="76200" dist="25400" dir="5400000">
              <a:srgbClr val="000000">
                <a:alpha val="8000"/>
              </a:srgbClr>
            </a:outerShdw>
          </a:effectLst>
        </p:spPr>
      </p:sp>
      <p:sp>
        <p:nvSpPr>
          <p:cNvPr id="28" name="Text 26"/>
          <p:cNvSpPr txBox="1"/>
          <p:nvPr/>
        </p:nvSpPr>
        <p:spPr>
          <a:xfrm>
            <a:off x="8394192" y="1737360"/>
            <a:ext cx="2971800" cy="640080"/>
          </a:xfrm>
          <a:prstGeom prst="rect">
            <a:avLst/>
          </a:prstGeom>
          <a:noFill/>
          <a:ln/>
        </p:spPr>
        <p:txBody>
          <a:bodyPr wrap="square" lIns="0" tIns="0" rIns="0" bIns="0" rtlCol="0" anchor="ctr"/>
          <a:lstStyle/>
          <a:p>
            <a:pPr indent="0" marL="0">
              <a:buNone/>
            </a:pPr>
            <a:r>
              <a:rPr lang="en-US" sz="2200" b="1" dirty="0">
                <a:solidFill>
                  <a:srgbClr val="3E6283"/>
                </a:solidFill>
                <a:latin typeface="Cambria" pitchFamily="34" charset="0"/>
                <a:ea typeface="Cambria" pitchFamily="34" charset="-122"/>
                <a:cs typeface="Cambria" pitchFamily="34" charset="-120"/>
              </a:rPr>
              <a:t>20 años · 1 etapa</a:t>
            </a:r>
            <a:endParaRPr lang="en-US" sz="2200" dirty="0"/>
          </a:p>
        </p:txBody>
      </p:sp>
      <p:sp>
        <p:nvSpPr>
          <p:cNvPr id="29" name="Text 27"/>
          <p:cNvSpPr txBox="1"/>
          <p:nvPr/>
        </p:nvSpPr>
        <p:spPr>
          <a:xfrm>
            <a:off x="8394192" y="2377440"/>
            <a:ext cx="2971800" cy="365760"/>
          </a:xfrm>
          <a:prstGeom prst="rect">
            <a:avLst/>
          </a:prstGeom>
          <a:noFill/>
          <a:ln/>
        </p:spPr>
        <p:txBody>
          <a:bodyPr wrap="square" lIns="0" tIns="0" rIns="0" bIns="0" rtlCol="0" anchor="ctr"/>
          <a:lstStyle/>
          <a:p>
            <a:pPr indent="0" marL="0">
              <a:buNone/>
            </a:pPr>
            <a:r>
              <a:rPr lang="en-US" sz="1600" b="1" dirty="0">
                <a:solidFill>
                  <a:srgbClr val="1F2328"/>
                </a:solidFill>
                <a:latin typeface="Calibri" pitchFamily="34" charset="0"/>
                <a:ea typeface="Calibri" pitchFamily="34" charset="-122"/>
                <a:cs typeface="Calibri" pitchFamily="34" charset="-120"/>
              </a:rPr>
              <a:t>Carpeta en caliente única</a:t>
            </a:r>
            <a:endParaRPr lang="en-US" sz="1600" dirty="0"/>
          </a:p>
        </p:txBody>
      </p:sp>
      <p:sp>
        <p:nvSpPr>
          <p:cNvPr id="30" name="Shape 28"/>
          <p:cNvSpPr/>
          <p:nvPr/>
        </p:nvSpPr>
        <p:spPr>
          <a:xfrm>
            <a:off x="8394192" y="2926080"/>
            <a:ext cx="2971800" cy="384048"/>
          </a:xfrm>
          <a:prstGeom prst="rect">
            <a:avLst/>
          </a:prstGeom>
          <a:solidFill>
            <a:srgbClr val="E6E9ED"/>
          </a:solidFill>
          <a:ln w="12700">
            <a:solidFill>
              <a:srgbClr val="E6E9ED"/>
            </a:solidFill>
            <a:prstDash val="solid"/>
          </a:ln>
        </p:spPr>
      </p:sp>
      <p:sp>
        <p:nvSpPr>
          <p:cNvPr id="31" name="Shape 29"/>
          <p:cNvSpPr/>
          <p:nvPr/>
        </p:nvSpPr>
        <p:spPr>
          <a:xfrm>
            <a:off x="8394192" y="2926080"/>
            <a:ext cx="2944368" cy="384048"/>
          </a:xfrm>
          <a:prstGeom prst="rect">
            <a:avLst/>
          </a:prstGeom>
          <a:solidFill>
            <a:srgbClr val="3E6283"/>
          </a:solidFill>
          <a:ln w="12700">
            <a:solidFill>
              <a:srgbClr val="3E6283"/>
            </a:solidFill>
            <a:prstDash val="solid"/>
          </a:ln>
        </p:spPr>
      </p:sp>
      <p:sp>
        <p:nvSpPr>
          <p:cNvPr id="32" name="Text 30"/>
          <p:cNvSpPr txBox="1"/>
          <p:nvPr/>
        </p:nvSpPr>
        <p:spPr>
          <a:xfrm>
            <a:off x="8394192" y="2926080"/>
            <a:ext cx="29718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Año 0 → 20</a:t>
            </a:r>
            <a:endParaRPr lang="en-US" sz="1100" dirty="0"/>
          </a:p>
        </p:txBody>
      </p:sp>
      <p:sp>
        <p:nvSpPr>
          <p:cNvPr id="33" name="Text 31"/>
          <p:cNvSpPr txBox="1"/>
          <p:nvPr/>
        </p:nvSpPr>
        <p:spPr>
          <a:xfrm>
            <a:off x="8394192" y="3355848"/>
            <a:ext cx="731520" cy="228600"/>
          </a:xfrm>
          <a:prstGeom prst="rect">
            <a:avLst/>
          </a:prstGeom>
          <a:noFill/>
          <a:ln/>
        </p:spPr>
        <p:txBody>
          <a:bodyPr wrap="square" lIns="0" tIns="0" rIns="0" bIns="0" rtlCol="0" anchor="ctr"/>
          <a:lstStyle/>
          <a:p>
            <a:pPr algn="l" indent="0" marL="0">
              <a:buNone/>
            </a:pPr>
            <a:r>
              <a:rPr lang="en-US" sz="1000" dirty="0">
                <a:solidFill>
                  <a:srgbClr val="5F6670"/>
                </a:solidFill>
                <a:latin typeface="Calibri" pitchFamily="34" charset="0"/>
                <a:ea typeface="Calibri" pitchFamily="34" charset="-122"/>
                <a:cs typeface="Calibri" pitchFamily="34" charset="-120"/>
              </a:rPr>
              <a:t>0</a:t>
            </a:r>
            <a:endParaRPr lang="en-US" sz="1000" dirty="0"/>
          </a:p>
        </p:txBody>
      </p:sp>
      <p:sp>
        <p:nvSpPr>
          <p:cNvPr id="34" name="Text 32"/>
          <p:cNvSpPr txBox="1"/>
          <p:nvPr/>
        </p:nvSpPr>
        <p:spPr>
          <a:xfrm>
            <a:off x="9514332" y="3355848"/>
            <a:ext cx="731520" cy="228600"/>
          </a:xfrm>
          <a:prstGeom prst="rect">
            <a:avLst/>
          </a:prstGeom>
          <a:noFill/>
          <a:ln/>
        </p:spPr>
        <p:txBody>
          <a:bodyPr wrap="square" lIns="0" tIns="0" rIns="0" bIns="0" rtlCol="0" anchor="ctr"/>
          <a:lstStyle/>
          <a:p>
            <a:pPr algn="ctr" indent="0" marL="0">
              <a:buNone/>
            </a:pPr>
            <a:r>
              <a:rPr lang="en-US" sz="1000" dirty="0">
                <a:solidFill>
                  <a:srgbClr val="5F6670"/>
                </a:solidFill>
                <a:latin typeface="Calibri" pitchFamily="34" charset="0"/>
                <a:ea typeface="Calibri" pitchFamily="34" charset="-122"/>
                <a:cs typeface="Calibri" pitchFamily="34" charset="-120"/>
              </a:rPr>
              <a:t>10</a:t>
            </a:r>
            <a:endParaRPr lang="en-US" sz="1000" dirty="0"/>
          </a:p>
        </p:txBody>
      </p:sp>
      <p:sp>
        <p:nvSpPr>
          <p:cNvPr id="35" name="Text 33"/>
          <p:cNvSpPr txBox="1"/>
          <p:nvPr/>
        </p:nvSpPr>
        <p:spPr>
          <a:xfrm>
            <a:off x="10634472" y="3355848"/>
            <a:ext cx="731520" cy="22860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20 años</a:t>
            </a:r>
            <a:endParaRPr lang="en-US" sz="1000" dirty="0"/>
          </a:p>
        </p:txBody>
      </p:sp>
      <p:sp>
        <p:nvSpPr>
          <p:cNvPr id="36" name="Text 34"/>
          <p:cNvSpPr txBox="1"/>
          <p:nvPr/>
        </p:nvSpPr>
        <p:spPr>
          <a:xfrm>
            <a:off x="8394192" y="3749040"/>
            <a:ext cx="297180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Todo el rango TP0 – TP14 (75,000 a 30'000,000 EE)</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Sin refuerzo; conservación con sellos asfálticos</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Figuras 12.8 – 12.9</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3E6283"/>
                </a:solidFill>
                <a:latin typeface="Calibri" pitchFamily="34" charset="0"/>
                <a:ea typeface="Calibri" pitchFamily="34" charset="-122"/>
                <a:cs typeface="Calibri" pitchFamily="34" charset="-120"/>
              </a:rPr>
              <a:t>12.3</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indent="0" marL="0">
              <a:buNone/>
            </a:pPr>
            <a:r>
              <a:rPr lang="en-US" sz="3200" b="1" dirty="0">
                <a:solidFill>
                  <a:srgbClr val="1F2328"/>
                </a:solidFill>
                <a:latin typeface="Cambria" pitchFamily="34" charset="0"/>
                <a:ea typeface="Cambria" pitchFamily="34" charset="-122"/>
                <a:cs typeface="Cambria" pitchFamily="34" charset="-120"/>
              </a:rPr>
              <a:t>Bermas del pavimento flexible</a:t>
            </a:r>
            <a:endParaRPr lang="en-US" sz="3200" dirty="0"/>
          </a:p>
        </p:txBody>
      </p:sp>
      <p:sp>
        <p:nvSpPr>
          <p:cNvPr id="4" name="Text 2"/>
          <p:cNvSpPr txBox="1"/>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548640" y="1463040"/>
            <a:ext cx="10972800" cy="320040"/>
          </a:xfrm>
          <a:prstGeom prst="rect">
            <a:avLst/>
          </a:prstGeom>
          <a:noFill/>
          <a:ln/>
        </p:spPr>
        <p:txBody>
          <a:bodyPr wrap="square" lIns="0" tIns="0" rIns="0" bIns="0" rtlCol="0" anchor="ctr"/>
          <a:lstStyle/>
          <a:p>
            <a:pPr indent="0" marL="0">
              <a:buNone/>
            </a:pPr>
            <a:r>
              <a:rPr lang="en-US" sz="1500" dirty="0">
                <a:solidFill>
                  <a:srgbClr val="1F2328"/>
                </a:solidFill>
                <a:latin typeface="Calibri" pitchFamily="34" charset="0"/>
                <a:ea typeface="Calibri" pitchFamily="34" charset="-122"/>
                <a:cs typeface="Calibri" pitchFamily="34" charset="-120"/>
              </a:rPr>
              <a:t>Parte integral del pavimento: se diseña con los mismos componentes estructurales que la calzada.</a:t>
            </a:r>
            <a:endParaRPr lang="en-US" sz="1500" dirty="0"/>
          </a:p>
        </p:txBody>
      </p:sp>
      <p:sp>
        <p:nvSpPr>
          <p:cNvPr id="6" name="Shape 4"/>
          <p:cNvSpPr/>
          <p:nvPr/>
        </p:nvSpPr>
        <p:spPr>
          <a:xfrm>
            <a:off x="548640" y="2011680"/>
            <a:ext cx="2606040" cy="1097280"/>
          </a:xfrm>
          <a:prstGeom prst="rect">
            <a:avLst/>
          </a:prstGeom>
          <a:solidFill>
            <a:srgbClr val="FFFFFF"/>
          </a:solidFill>
          <a:ln w="9525">
            <a:solidFill>
              <a:srgbClr val="D5D9DE"/>
            </a:solidFill>
            <a:prstDash val="solid"/>
          </a:ln>
          <a:effectLst>
            <a:outerShdw sx="100000" sy="100000" kx="0" ky="0" algn="bl" rotWithShape="0" blurRad="76200" dist="25400" dir="5400000">
              <a:srgbClr val="000000">
                <a:alpha val="8000"/>
              </a:srgbClr>
            </a:outerShdw>
          </a:effectLst>
        </p:spPr>
      </p:sp>
      <p:sp>
        <p:nvSpPr>
          <p:cNvPr id="7" name="Shape 5"/>
          <p:cNvSpPr/>
          <p:nvPr/>
        </p:nvSpPr>
        <p:spPr>
          <a:xfrm>
            <a:off x="731520" y="2304288"/>
            <a:ext cx="502920" cy="502920"/>
          </a:xfrm>
          <a:prstGeom prst="ellipse">
            <a:avLst/>
          </a:prstGeom>
          <a:solidFill>
            <a:srgbClr val="F2B705"/>
          </a:solidFill>
          <a:ln w="12700">
            <a:solidFill>
              <a:srgbClr val="F2B705"/>
            </a:solidFill>
            <a:prstDash val="solid"/>
          </a:ln>
        </p:spPr>
      </p:sp>
      <p:pic>
        <p:nvPicPr>
          <p:cNvPr id="8" name="Image 0" descr="preencoded.png">    </p:cNvPr>
          <p:cNvPicPr>
            <a:picLocks noChangeAspect="1"/>
          </p:cNvPicPr>
          <p:nvPr/>
        </p:nvPicPr>
        <p:blipFill>
          <a:blip r:embed="rId1"/>
          <a:stretch>
            <a:fillRect/>
          </a:stretch>
        </p:blipFill>
        <p:spPr>
          <a:xfrm>
            <a:off x="852221" y="2424989"/>
            <a:ext cx="261518" cy="261518"/>
          </a:xfrm>
          <a:prstGeom prst="rect">
            <a:avLst/>
          </a:prstGeom>
        </p:spPr>
      </p:pic>
      <p:sp>
        <p:nvSpPr>
          <p:cNvPr id="9" name="Text 6"/>
          <p:cNvSpPr txBox="1"/>
          <p:nvPr/>
        </p:nvSpPr>
        <p:spPr>
          <a:xfrm>
            <a:off x="1371600" y="2011680"/>
            <a:ext cx="1691640" cy="1097280"/>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Soporte lateral</a:t>
            </a:r>
            <a:endParaRPr lang="en-US" sz="1400" dirty="0"/>
          </a:p>
          <a:p>
            <a:pPr indent="0" marL="0">
              <a:buNone/>
            </a:pPr>
            <a:r>
              <a:rPr lang="en-US" sz="1200" dirty="0">
                <a:solidFill>
                  <a:srgbClr val="5F6670"/>
                </a:solidFill>
                <a:latin typeface="Calibri" pitchFamily="34" charset="0"/>
                <a:ea typeface="Calibri" pitchFamily="34" charset="-122"/>
                <a:cs typeface="Calibri" pitchFamily="34" charset="-120"/>
              </a:rPr>
              <a:t>del borde del pavimento</a:t>
            </a:r>
            <a:endParaRPr lang="en-US" sz="1400" dirty="0"/>
          </a:p>
        </p:txBody>
      </p:sp>
      <p:sp>
        <p:nvSpPr>
          <p:cNvPr id="10" name="Shape 7"/>
          <p:cNvSpPr/>
          <p:nvPr/>
        </p:nvSpPr>
        <p:spPr>
          <a:xfrm>
            <a:off x="3346704" y="2011680"/>
            <a:ext cx="2606040" cy="1097280"/>
          </a:xfrm>
          <a:prstGeom prst="rect">
            <a:avLst/>
          </a:prstGeom>
          <a:solidFill>
            <a:srgbClr val="FFFFFF"/>
          </a:solidFill>
          <a:ln w="9525">
            <a:solidFill>
              <a:srgbClr val="D5D9DE"/>
            </a:solidFill>
            <a:prstDash val="solid"/>
          </a:ln>
          <a:effectLst>
            <a:outerShdw sx="100000" sy="100000" kx="0" ky="0" algn="bl" rotWithShape="0" blurRad="76200" dist="25400" dir="5400000">
              <a:srgbClr val="000000">
                <a:alpha val="8000"/>
              </a:srgbClr>
            </a:outerShdw>
          </a:effectLst>
        </p:spPr>
      </p:sp>
      <p:sp>
        <p:nvSpPr>
          <p:cNvPr id="11" name="Shape 8"/>
          <p:cNvSpPr/>
          <p:nvPr/>
        </p:nvSpPr>
        <p:spPr>
          <a:xfrm>
            <a:off x="3529584" y="2304288"/>
            <a:ext cx="502920" cy="502920"/>
          </a:xfrm>
          <a:prstGeom prst="ellipse">
            <a:avLst/>
          </a:prstGeom>
          <a:solidFill>
            <a:srgbClr val="F2B705"/>
          </a:solidFill>
          <a:ln w="12700">
            <a:solidFill>
              <a:srgbClr val="F2B705"/>
            </a:solidFill>
            <a:prstDash val="solid"/>
          </a:ln>
        </p:spPr>
      </p:sp>
      <p:pic>
        <p:nvPicPr>
          <p:cNvPr id="12" name="Image 1" descr="preencoded.png">    </p:cNvPr>
          <p:cNvPicPr>
            <a:picLocks noChangeAspect="1"/>
          </p:cNvPicPr>
          <p:nvPr/>
        </p:nvPicPr>
        <p:blipFill>
          <a:blip r:embed="rId2"/>
          <a:stretch>
            <a:fillRect/>
          </a:stretch>
        </p:blipFill>
        <p:spPr>
          <a:xfrm>
            <a:off x="3650285" y="2424989"/>
            <a:ext cx="261518" cy="261518"/>
          </a:xfrm>
          <a:prstGeom prst="rect">
            <a:avLst/>
          </a:prstGeom>
        </p:spPr>
      </p:pic>
      <p:sp>
        <p:nvSpPr>
          <p:cNvPr id="13" name="Text 9"/>
          <p:cNvSpPr txBox="1"/>
          <p:nvPr/>
        </p:nvSpPr>
        <p:spPr>
          <a:xfrm>
            <a:off x="4169664" y="2011680"/>
            <a:ext cx="1691640" cy="1097280"/>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Protección del borde</a:t>
            </a:r>
            <a:endParaRPr lang="en-US" sz="1400" dirty="0"/>
          </a:p>
          <a:p>
            <a:pPr indent="0" marL="0">
              <a:buNone/>
            </a:pPr>
            <a:r>
              <a:rPr lang="en-US" sz="1200" dirty="0">
                <a:solidFill>
                  <a:srgbClr val="5F6670"/>
                </a:solidFill>
                <a:latin typeface="Calibri" pitchFamily="34" charset="0"/>
                <a:ea typeface="Calibri" pitchFamily="34" charset="-122"/>
                <a:cs typeface="Calibri" pitchFamily="34" charset="-120"/>
              </a:rPr>
              <a:t>evita su rotura</a:t>
            </a:r>
            <a:endParaRPr lang="en-US" sz="1400" dirty="0"/>
          </a:p>
        </p:txBody>
      </p:sp>
      <p:sp>
        <p:nvSpPr>
          <p:cNvPr id="14" name="Shape 10"/>
          <p:cNvSpPr/>
          <p:nvPr/>
        </p:nvSpPr>
        <p:spPr>
          <a:xfrm>
            <a:off x="6144768" y="2011680"/>
            <a:ext cx="2606040" cy="1097280"/>
          </a:xfrm>
          <a:prstGeom prst="rect">
            <a:avLst/>
          </a:prstGeom>
          <a:solidFill>
            <a:srgbClr val="FFFFFF"/>
          </a:solidFill>
          <a:ln w="9525">
            <a:solidFill>
              <a:srgbClr val="D5D9DE"/>
            </a:solidFill>
            <a:prstDash val="solid"/>
          </a:ln>
          <a:effectLst>
            <a:outerShdw sx="100000" sy="100000" kx="0" ky="0" algn="bl" rotWithShape="0" blurRad="76200" dist="25400" dir="5400000">
              <a:srgbClr val="000000">
                <a:alpha val="8000"/>
              </a:srgbClr>
            </a:outerShdw>
          </a:effectLst>
        </p:spPr>
      </p:sp>
      <p:sp>
        <p:nvSpPr>
          <p:cNvPr id="15" name="Shape 11"/>
          <p:cNvSpPr/>
          <p:nvPr/>
        </p:nvSpPr>
        <p:spPr>
          <a:xfrm>
            <a:off x="6327648" y="2304288"/>
            <a:ext cx="502920" cy="502920"/>
          </a:xfrm>
          <a:prstGeom prst="ellipse">
            <a:avLst/>
          </a:prstGeom>
          <a:solidFill>
            <a:srgbClr val="F2B705"/>
          </a:solidFill>
          <a:ln w="12700">
            <a:solidFill>
              <a:srgbClr val="F2B705"/>
            </a:solidFill>
            <a:prstDash val="solid"/>
          </a:ln>
        </p:spPr>
      </p:sp>
      <p:pic>
        <p:nvPicPr>
          <p:cNvPr id="16" name="Image 2" descr="preencoded.png">    </p:cNvPr>
          <p:cNvPicPr>
            <a:picLocks noChangeAspect="1"/>
          </p:cNvPicPr>
          <p:nvPr/>
        </p:nvPicPr>
        <p:blipFill>
          <a:blip r:embed="rId3"/>
          <a:stretch>
            <a:fillRect/>
          </a:stretch>
        </p:blipFill>
        <p:spPr>
          <a:xfrm>
            <a:off x="6448349" y="2424989"/>
            <a:ext cx="261518" cy="261518"/>
          </a:xfrm>
          <a:prstGeom prst="rect">
            <a:avLst/>
          </a:prstGeom>
        </p:spPr>
      </p:pic>
      <p:sp>
        <p:nvSpPr>
          <p:cNvPr id="17" name="Text 12"/>
          <p:cNvSpPr txBox="1"/>
          <p:nvPr/>
        </p:nvSpPr>
        <p:spPr>
          <a:xfrm>
            <a:off x="6967728" y="2011680"/>
            <a:ext cx="1691640" cy="1097280"/>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Seguridad vial</a:t>
            </a:r>
            <a:endParaRPr lang="en-US" sz="1400" dirty="0"/>
          </a:p>
          <a:p>
            <a:pPr indent="0" marL="0">
              <a:buNone/>
            </a:pPr>
            <a:r>
              <a:rPr lang="en-US" sz="1200" dirty="0">
                <a:solidFill>
                  <a:srgbClr val="5F6670"/>
                </a:solidFill>
                <a:latin typeface="Calibri" pitchFamily="34" charset="0"/>
                <a:ea typeface="Calibri" pitchFamily="34" charset="-122"/>
                <a:cs typeface="Calibri" pitchFamily="34" charset="-120"/>
              </a:rPr>
              <a:t>para el usuario</a:t>
            </a:r>
            <a:endParaRPr lang="en-US" sz="1400" dirty="0"/>
          </a:p>
        </p:txBody>
      </p:sp>
      <p:sp>
        <p:nvSpPr>
          <p:cNvPr id="18" name="Shape 13"/>
          <p:cNvSpPr/>
          <p:nvPr/>
        </p:nvSpPr>
        <p:spPr>
          <a:xfrm>
            <a:off x="8942832" y="2011680"/>
            <a:ext cx="2606040" cy="1097280"/>
          </a:xfrm>
          <a:prstGeom prst="rect">
            <a:avLst/>
          </a:prstGeom>
          <a:solidFill>
            <a:srgbClr val="FFFFFF"/>
          </a:solidFill>
          <a:ln w="9525">
            <a:solidFill>
              <a:srgbClr val="D5D9DE"/>
            </a:solidFill>
            <a:prstDash val="solid"/>
          </a:ln>
          <a:effectLst>
            <a:outerShdw sx="100000" sy="100000" kx="0" ky="0" algn="bl" rotWithShape="0" blurRad="76200" dist="25400" dir="5400000">
              <a:srgbClr val="000000">
                <a:alpha val="8000"/>
              </a:srgbClr>
            </a:outerShdw>
          </a:effectLst>
        </p:spPr>
      </p:sp>
      <p:sp>
        <p:nvSpPr>
          <p:cNvPr id="19" name="Shape 14"/>
          <p:cNvSpPr/>
          <p:nvPr/>
        </p:nvSpPr>
        <p:spPr>
          <a:xfrm>
            <a:off x="9125712" y="2304288"/>
            <a:ext cx="502920" cy="502920"/>
          </a:xfrm>
          <a:prstGeom prst="ellipse">
            <a:avLst/>
          </a:prstGeom>
          <a:solidFill>
            <a:srgbClr val="F2B705"/>
          </a:solidFill>
          <a:ln w="12700">
            <a:solidFill>
              <a:srgbClr val="F2B705"/>
            </a:solidFill>
            <a:prstDash val="solid"/>
          </a:ln>
        </p:spPr>
      </p:sp>
      <p:pic>
        <p:nvPicPr>
          <p:cNvPr id="20" name="Image 3" descr="preencoded.png">    </p:cNvPr>
          <p:cNvPicPr>
            <a:picLocks noChangeAspect="1"/>
          </p:cNvPicPr>
          <p:nvPr/>
        </p:nvPicPr>
        <p:blipFill>
          <a:blip r:embed="rId4"/>
          <a:stretch>
            <a:fillRect/>
          </a:stretch>
        </p:blipFill>
        <p:spPr>
          <a:xfrm>
            <a:off x="9246413" y="2424989"/>
            <a:ext cx="261518" cy="261518"/>
          </a:xfrm>
          <a:prstGeom prst="rect">
            <a:avLst/>
          </a:prstGeom>
        </p:spPr>
      </p:pic>
      <p:sp>
        <p:nvSpPr>
          <p:cNvPr id="21" name="Text 15"/>
          <p:cNvSpPr txBox="1"/>
          <p:nvPr/>
        </p:nvSpPr>
        <p:spPr>
          <a:xfrm>
            <a:off x="9765792" y="2011680"/>
            <a:ext cx="1691640" cy="1097280"/>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Refugio</a:t>
            </a:r>
            <a:endParaRPr lang="en-US" sz="1400" dirty="0"/>
          </a:p>
          <a:p>
            <a:pPr indent="0" marL="0">
              <a:buNone/>
            </a:pPr>
            <a:r>
              <a:rPr lang="en-US" sz="1200" dirty="0">
                <a:solidFill>
                  <a:srgbClr val="5F6670"/>
                </a:solidFill>
                <a:latin typeface="Calibri" pitchFamily="34" charset="0"/>
                <a:ea typeface="Calibri" pitchFamily="34" charset="-122"/>
                <a:cs typeface="Calibri" pitchFamily="34" charset="-120"/>
              </a:rPr>
              <a:t>para vehículos averiados</a:t>
            </a:r>
            <a:endParaRPr lang="en-US" sz="1400" dirty="0"/>
          </a:p>
        </p:txBody>
      </p:sp>
      <p:sp>
        <p:nvSpPr>
          <p:cNvPr id="22" name="Shape 16"/>
          <p:cNvSpPr/>
          <p:nvPr/>
        </p:nvSpPr>
        <p:spPr>
          <a:xfrm>
            <a:off x="548640" y="3383280"/>
            <a:ext cx="5440680" cy="2011680"/>
          </a:xfrm>
          <a:prstGeom prst="rect">
            <a:avLst/>
          </a:prstGeom>
          <a:solidFill>
            <a:srgbClr val="FFFFFF"/>
          </a:solidFill>
          <a:ln w="9525">
            <a:solidFill>
              <a:srgbClr val="D5D9DE"/>
            </a:solidFill>
            <a:prstDash val="solid"/>
          </a:ln>
          <a:effectLst>
            <a:outerShdw sx="100000" sy="100000" kx="0" ky="0" algn="bl" rotWithShape="0" blurRad="76200" dist="25400" dir="5400000">
              <a:srgbClr val="000000">
                <a:alpha val="8000"/>
              </a:srgbClr>
            </a:outerShdw>
          </a:effectLst>
        </p:spPr>
      </p:sp>
      <p:sp>
        <p:nvSpPr>
          <p:cNvPr id="23" name="Shape 17"/>
          <p:cNvSpPr/>
          <p:nvPr/>
        </p:nvSpPr>
        <p:spPr>
          <a:xfrm>
            <a:off x="822960" y="3611880"/>
            <a:ext cx="1234440" cy="384048"/>
          </a:xfrm>
          <a:prstGeom prst="roundRect">
            <a:avLst>
              <a:gd name="adj" fmla="val 47619"/>
            </a:avLst>
          </a:prstGeom>
          <a:solidFill>
            <a:srgbClr val="3E6283"/>
          </a:solidFill>
          <a:ln w="12700">
            <a:solidFill>
              <a:srgbClr val="3E6283"/>
            </a:solidFill>
            <a:prstDash val="solid"/>
          </a:ln>
        </p:spPr>
      </p:sp>
      <p:sp>
        <p:nvSpPr>
          <p:cNvPr id="24" name="Text 18"/>
          <p:cNvSpPr txBox="1"/>
          <p:nvPr/>
        </p:nvSpPr>
        <p:spPr>
          <a:xfrm>
            <a:off x="822960" y="3611880"/>
            <a:ext cx="123444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1.20 m</a:t>
            </a:r>
            <a:endParaRPr lang="en-US" sz="1400" dirty="0"/>
          </a:p>
        </p:txBody>
      </p:sp>
      <p:sp>
        <p:nvSpPr>
          <p:cNvPr id="25" name="Text 19"/>
          <p:cNvSpPr txBox="1"/>
          <p:nvPr/>
        </p:nvSpPr>
        <p:spPr>
          <a:xfrm>
            <a:off x="2240280" y="3611880"/>
            <a:ext cx="3566160" cy="384048"/>
          </a:xfrm>
          <a:prstGeom prst="rect">
            <a:avLst/>
          </a:prstGeom>
          <a:noFill/>
          <a:ln/>
        </p:spPr>
        <p:txBody>
          <a:bodyPr wrap="square" lIns="0" tIns="0" rIns="0" bIns="0" rtlCol="0" anchor="ctr"/>
          <a:lstStyle/>
          <a:p>
            <a:pPr indent="0" marL="0">
              <a:buNone/>
            </a:pPr>
            <a:r>
              <a:rPr lang="en-US" sz="1800" b="1" dirty="0">
                <a:solidFill>
                  <a:srgbClr val="1F2328"/>
                </a:solidFill>
                <a:latin typeface="Cambria" pitchFamily="34" charset="0"/>
                <a:ea typeface="Cambria" pitchFamily="34" charset="-122"/>
                <a:cs typeface="Cambria" pitchFamily="34" charset="-120"/>
              </a:rPr>
              <a:t>Prolongación de la calzada</a:t>
            </a:r>
            <a:endParaRPr lang="en-US" sz="1800" dirty="0"/>
          </a:p>
        </p:txBody>
      </p:sp>
      <p:sp>
        <p:nvSpPr>
          <p:cNvPr id="26" name="Text 20"/>
          <p:cNvSpPr txBox="1"/>
          <p:nvPr/>
        </p:nvSpPr>
        <p:spPr>
          <a:xfrm>
            <a:off x="822960" y="4160520"/>
            <a:ext cx="489204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F2328"/>
                </a:solidFill>
                <a:latin typeface="Calibri" pitchFamily="34" charset="0"/>
                <a:ea typeface="Calibri" pitchFamily="34" charset="-122"/>
                <a:cs typeface="Calibri" pitchFamily="34" charset="-120"/>
              </a:rPr>
              <a:t>Prolongación directa de la estructura de la calzada</a:t>
            </a:r>
            <a:endParaRPr lang="en-US" sz="1400" dirty="0"/>
          </a:p>
          <a:p>
            <a:pPr marL="342900" indent="-342900">
              <a:spcAft>
                <a:spcPts val="400"/>
              </a:spcAft>
              <a:buSzPct val="100000"/>
              <a:buChar char="•"/>
            </a:pPr>
            <a:r>
              <a:rPr lang="en-US" sz="1400" dirty="0">
                <a:solidFill>
                  <a:srgbClr val="1F2328"/>
                </a:solidFill>
                <a:latin typeface="Calibri" pitchFamily="34" charset="0"/>
                <a:ea typeface="Calibri" pitchFamily="34" charset="-122"/>
                <a:cs typeface="Calibri" pitchFamily="34" charset="-120"/>
              </a:rPr>
              <a:t>Ejecución simultánea, sin junta longitudinal</a:t>
            </a:r>
            <a:endParaRPr lang="en-US" sz="1400" dirty="0"/>
          </a:p>
        </p:txBody>
      </p:sp>
      <p:sp>
        <p:nvSpPr>
          <p:cNvPr id="27" name="Shape 21"/>
          <p:cNvSpPr/>
          <p:nvPr/>
        </p:nvSpPr>
        <p:spPr>
          <a:xfrm>
            <a:off x="6199632" y="3383280"/>
            <a:ext cx="5440680" cy="2011680"/>
          </a:xfrm>
          <a:prstGeom prst="rect">
            <a:avLst/>
          </a:prstGeom>
          <a:solidFill>
            <a:srgbClr val="23262B"/>
          </a:solidFill>
          <a:ln w="9525">
            <a:solidFill>
              <a:srgbClr val="23262B"/>
            </a:solidFill>
            <a:prstDash val="solid"/>
          </a:ln>
          <a:effectLst>
            <a:outerShdw sx="100000" sy="100000" kx="0" ky="0" algn="bl" rotWithShape="0" blurRad="76200" dist="25400" dir="5400000">
              <a:srgbClr val="000000">
                <a:alpha val="8000"/>
              </a:srgbClr>
            </a:outerShdw>
          </a:effectLst>
        </p:spPr>
      </p:sp>
      <p:sp>
        <p:nvSpPr>
          <p:cNvPr id="28" name="Shape 22"/>
          <p:cNvSpPr/>
          <p:nvPr/>
        </p:nvSpPr>
        <p:spPr>
          <a:xfrm>
            <a:off x="6473952" y="3611880"/>
            <a:ext cx="1234440" cy="384048"/>
          </a:xfrm>
          <a:prstGeom prst="roundRect">
            <a:avLst>
              <a:gd name="adj" fmla="val 47619"/>
            </a:avLst>
          </a:prstGeom>
          <a:solidFill>
            <a:srgbClr val="F2B705"/>
          </a:solidFill>
          <a:ln w="12700">
            <a:solidFill>
              <a:srgbClr val="F2B705"/>
            </a:solidFill>
            <a:prstDash val="solid"/>
          </a:ln>
        </p:spPr>
      </p:sp>
      <p:sp>
        <p:nvSpPr>
          <p:cNvPr id="29" name="Text 23"/>
          <p:cNvSpPr txBox="1"/>
          <p:nvPr/>
        </p:nvSpPr>
        <p:spPr>
          <a:xfrm>
            <a:off x="6473952" y="3611880"/>
            <a:ext cx="1234440" cy="384048"/>
          </a:xfrm>
          <a:prstGeom prst="rect">
            <a:avLst/>
          </a:prstGeom>
          <a:noFill/>
          <a:ln/>
        </p:spPr>
        <p:txBody>
          <a:bodyPr wrap="square" lIns="0" tIns="0" rIns="0" bIns="0" rtlCol="0" anchor="ctr"/>
          <a:lstStyle/>
          <a:p>
            <a:pPr algn="ctr" indent="0" marL="0">
              <a:buNone/>
            </a:pPr>
            <a:r>
              <a:rPr lang="en-US" sz="1400" b="1" dirty="0">
                <a:solidFill>
                  <a:srgbClr val="23262B"/>
                </a:solidFill>
                <a:latin typeface="Calibri" pitchFamily="34" charset="0"/>
                <a:ea typeface="Calibri" pitchFamily="34" charset="-122"/>
                <a:cs typeface="Calibri" pitchFamily="34" charset="-120"/>
              </a:rPr>
              <a:t>&gt; 1.20 m</a:t>
            </a:r>
            <a:endParaRPr lang="en-US" sz="1400" dirty="0"/>
          </a:p>
        </p:txBody>
      </p:sp>
      <p:sp>
        <p:nvSpPr>
          <p:cNvPr id="30" name="Text 24"/>
          <p:cNvSpPr txBox="1"/>
          <p:nvPr/>
        </p:nvSpPr>
        <p:spPr>
          <a:xfrm>
            <a:off x="7891272" y="3611880"/>
            <a:ext cx="3566160" cy="38404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Estructura propia</a:t>
            </a:r>
            <a:endParaRPr lang="en-US" sz="1800" dirty="0"/>
          </a:p>
        </p:txBody>
      </p:sp>
      <p:sp>
        <p:nvSpPr>
          <p:cNvPr id="31" name="Text 25"/>
          <p:cNvSpPr txBox="1"/>
          <p:nvPr/>
        </p:nvSpPr>
        <p:spPr>
          <a:xfrm>
            <a:off x="6473952" y="4160520"/>
            <a:ext cx="489204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Depende de la categoría de tráfico y sección adoptada</a:t>
            </a:r>
            <a:endParaRPr lang="en-US" sz="14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SN de diseño: 5 % de las repeticiones de EE del carril</a:t>
            </a:r>
            <a:endParaRPr lang="en-US" sz="14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Capa superficial similar a la de la calzada</a:t>
            </a:r>
            <a:endParaRPr lang="en-US" sz="1400" dirty="0"/>
          </a:p>
        </p:txBody>
      </p:sp>
      <p:sp>
        <p:nvSpPr>
          <p:cNvPr id="32" name="Shape 26"/>
          <p:cNvSpPr/>
          <p:nvPr/>
        </p:nvSpPr>
        <p:spPr>
          <a:xfrm>
            <a:off x="548640" y="5623560"/>
            <a:ext cx="11094415" cy="731520"/>
          </a:xfrm>
          <a:prstGeom prst="rect">
            <a:avLst/>
          </a:prstGeom>
          <a:solidFill>
            <a:srgbClr val="DCE5EE"/>
          </a:solidFill>
          <a:ln w="12700">
            <a:solidFill>
              <a:srgbClr val="DCE5EE"/>
            </a:solidFill>
            <a:prstDash val="solid"/>
          </a:ln>
        </p:spPr>
      </p:sp>
      <p:sp>
        <p:nvSpPr>
          <p:cNvPr id="33" name="Shape 27"/>
          <p:cNvSpPr/>
          <p:nvPr/>
        </p:nvSpPr>
        <p:spPr>
          <a:xfrm>
            <a:off x="731520" y="5733288"/>
            <a:ext cx="502920" cy="502920"/>
          </a:xfrm>
          <a:prstGeom prst="ellipse">
            <a:avLst/>
          </a:prstGeom>
          <a:solidFill>
            <a:srgbClr val="3E6283"/>
          </a:solidFill>
          <a:ln w="12700">
            <a:solidFill>
              <a:srgbClr val="3E6283"/>
            </a:solidFill>
            <a:prstDash val="solid"/>
          </a:ln>
        </p:spPr>
      </p:sp>
      <p:pic>
        <p:nvPicPr>
          <p:cNvPr id="34" name="Image 4" descr="preencoded.png">    </p:cNvPr>
          <p:cNvPicPr>
            <a:picLocks noChangeAspect="1"/>
          </p:cNvPicPr>
          <p:nvPr/>
        </p:nvPicPr>
        <p:blipFill>
          <a:blip r:embed="rId5"/>
          <a:stretch>
            <a:fillRect/>
          </a:stretch>
        </p:blipFill>
        <p:spPr>
          <a:xfrm>
            <a:off x="852221" y="5853989"/>
            <a:ext cx="261518" cy="261518"/>
          </a:xfrm>
          <a:prstGeom prst="rect">
            <a:avLst/>
          </a:prstGeom>
        </p:spPr>
      </p:pic>
      <p:sp>
        <p:nvSpPr>
          <p:cNvPr id="35" name="Text 28"/>
          <p:cNvSpPr txBox="1"/>
          <p:nvPr/>
        </p:nvSpPr>
        <p:spPr>
          <a:xfrm>
            <a:off x="1417320" y="5623560"/>
            <a:ext cx="10058400" cy="731520"/>
          </a:xfrm>
          <a:prstGeom prst="rect">
            <a:avLst/>
          </a:prstGeom>
          <a:noFill/>
          <a:ln/>
        </p:spPr>
        <p:txBody>
          <a:bodyPr wrap="square" lIns="0" tIns="0" rIns="0" bIns="0" rtlCol="0" anchor="ctr"/>
          <a:lstStyle/>
          <a:p>
            <a:pPr indent="0" marL="0">
              <a:buNone/>
            </a:pPr>
            <a:r>
              <a:rPr lang="en-US" sz="1400" b="1" dirty="0">
                <a:solidFill>
                  <a:srgbClr val="3E6283"/>
                </a:solidFill>
                <a:latin typeface="Calibri" pitchFamily="34" charset="0"/>
                <a:ea typeface="Calibri" pitchFamily="34" charset="-122"/>
                <a:cs typeface="Calibri" pitchFamily="34" charset="-120"/>
              </a:rPr>
              <a:t>Casos particulares — la berma iguala la estructura de la calzada: </a:t>
            </a:r>
            <a:pPr indent="0" marL="0">
              <a:buNone/>
            </a:pPr>
            <a:r>
              <a:rPr lang="en-US" sz="1400" dirty="0">
                <a:solidFill>
                  <a:srgbClr val="1F2328"/>
                </a:solidFill>
                <a:latin typeface="Calibri" pitchFamily="34" charset="0"/>
                <a:ea typeface="Calibri" pitchFamily="34" charset="-122"/>
                <a:cs typeface="Calibri" pitchFamily="34" charset="-120"/>
              </a:rPr>
              <a:t>clima frío y altitud &gt; 3000 msnm, o cuando se prevé usar la berma como carril adicional.</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3E6283"/>
                </a:solidFill>
                <a:latin typeface="Calibri" pitchFamily="34" charset="0"/>
                <a:ea typeface="Calibri" pitchFamily="34" charset="-122"/>
                <a:cs typeface="Calibri" pitchFamily="34" charset="-120"/>
              </a:rPr>
              <a:t>CUADRO 12.19</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indent="0" marL="0">
              <a:buNone/>
            </a:pPr>
            <a:r>
              <a:rPr lang="en-US" sz="3200" b="1" dirty="0">
                <a:solidFill>
                  <a:srgbClr val="1F2328"/>
                </a:solidFill>
                <a:latin typeface="Cambria" pitchFamily="34" charset="0"/>
                <a:ea typeface="Cambria" pitchFamily="34" charset="-122"/>
                <a:cs typeface="Cambria" pitchFamily="34" charset="-120"/>
              </a:rPr>
              <a:t>Espesores mínimos recomendados para bermas</a:t>
            </a:r>
            <a:endParaRPr lang="en-US" sz="3200" dirty="0"/>
          </a:p>
        </p:txBody>
      </p:sp>
      <p:sp>
        <p:nvSpPr>
          <p:cNvPr id="4" name="Text 2"/>
          <p:cNvSpPr txBox="1"/>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9144000" cy="914400"/>
        </p:xfrm>
        <a:graphic>
          <a:graphicData uri="http://schemas.openxmlformats.org/drawingml/2006/table">
            <a:tbl>
              <a:tblPr/>
              <a:tblGrid>
                <a:gridCol w="868680"/>
                <a:gridCol w="2377440"/>
                <a:gridCol w="1005840"/>
                <a:gridCol w="1051560"/>
              </a:tblGrid>
              <a:tr h="4754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Tráfico</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3E6283"/>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EE acumulados</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3E6283"/>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Capa</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3E6283"/>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Base</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3E6283"/>
                    </a:solidFill>
                  </a:tcPr>
                </a:tc>
              </a:tr>
              <a:tr h="475488">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TPB0</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 150,000</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40 mm</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150 mm</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TPB1</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150,001 – 300,000</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50 mm</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150 mm</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r>
              <a:tr h="475488">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TPB2</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300,001 – 500,000</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60 mm</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150 mm</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TPB3</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500,001 – 750,000</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70 mm</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150 mm</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r>
              <a:tr h="475488">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TPB4</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750,001 – 1'000,000</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80 mm</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200 mm</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TPB5</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1'000,001 – 1'500,000</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80 mm</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200 mm</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EEF1F4"/>
                    </a:solidFill>
                  </a:tcPr>
                </a:tc>
              </a:tr>
              <a:tr h="475488">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TPB6</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1'500,001 – 3'000,000</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90 mm</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200 mm</a:t>
                      </a:r>
                      <a:endParaRPr lang="en-US" sz="1400" dirty="0">
                        <a:latin typeface="Calibri" charset="0"/>
                        <a:ea typeface="Calibri" charset="0"/>
                        <a:cs typeface="Calibri" charset="0"/>
                      </a:endParaRPr>
                    </a:p>
                  </a:txBody>
                  <a:tcPr marL="76200" marR="76200" marT="38100" marB="38100" anchor="ctr">
                    <a:lnL w="6350" cap="flat" cmpd="sng" algn="ctr">
                      <a:solidFill>
                        <a:srgbClr val="D5D9DE"/>
                      </a:solidFill>
                      <a:prstDash val="solid"/>
                      <a:round/>
                      <a:headEnd type="none" w="med" len="med"/>
                      <a:tailEnd type="none" w="med" len="med"/>
                    </a:lnL>
                    <a:lnR w="6350" cap="flat" cmpd="sng" algn="ctr">
                      <a:solidFill>
                        <a:srgbClr val="D5D9DE"/>
                      </a:solidFill>
                      <a:prstDash val="solid"/>
                      <a:round/>
                      <a:headEnd type="none" w="med" len="med"/>
                      <a:tailEnd type="none" w="med" len="med"/>
                    </a:lnR>
                    <a:lnT w="6350" cap="flat" cmpd="sng" algn="ctr">
                      <a:solidFill>
                        <a:srgbClr val="D5D9DE"/>
                      </a:solidFill>
                      <a:prstDash val="solid"/>
                      <a:round/>
                      <a:headEnd type="none" w="med" len="med"/>
                      <a:tailEnd type="none" w="med" len="med"/>
                    </a:lnT>
                    <a:lnB w="6350" cap="flat" cmpd="sng" algn="ctr">
                      <a:solidFill>
                        <a:srgbClr val="D5D9DE"/>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440680"/>
            <a:ext cx="5303520" cy="640080"/>
          </a:xfrm>
          <a:prstGeom prst="rect">
            <a:avLst/>
          </a:prstGeom>
          <a:noFill/>
          <a:ln/>
        </p:spPr>
        <p:txBody>
          <a:bodyPr wrap="square" lIns="0" tIns="0" rIns="0" bIns="0" rtlCol="0" anchor="ctr"/>
          <a:lstStyle/>
          <a:p>
            <a:pPr indent="0" marL="0">
              <a:buNone/>
            </a:pPr>
            <a:r>
              <a:rPr lang="en-US" sz="1200" i="1" dirty="0">
                <a:solidFill>
                  <a:srgbClr val="5F6670"/>
                </a:solidFill>
                <a:latin typeface="Calibri" pitchFamily="34" charset="0"/>
                <a:ea typeface="Calibri" pitchFamily="34" charset="-122"/>
                <a:cs typeface="Calibri" pitchFamily="34" charset="-120"/>
              </a:rPr>
              <a:t>Capa superficial: carpeta asfáltica en caliente (o equivalente en frío, macadam o micropavimento de 25 mm si resulta menor a 40 mm).</a:t>
            </a:r>
            <a:endParaRPr lang="en-US" sz="1200" dirty="0"/>
          </a:p>
        </p:txBody>
      </p:sp>
      <p:sp>
        <p:nvSpPr>
          <p:cNvPr id="7" name="Shape 4"/>
          <p:cNvSpPr/>
          <p:nvPr/>
        </p:nvSpPr>
        <p:spPr>
          <a:xfrm>
            <a:off x="6172200" y="1554480"/>
            <a:ext cx="5468112" cy="4526280"/>
          </a:xfrm>
          <a:prstGeom prst="rect">
            <a:avLst/>
          </a:prstGeom>
          <a:solidFill>
            <a:srgbClr val="FFFFFF"/>
          </a:solidFill>
          <a:ln w="9525">
            <a:solidFill>
              <a:srgbClr val="D5D9DE"/>
            </a:solidFill>
            <a:prstDash val="solid"/>
          </a:ln>
          <a:effectLst>
            <a:outerShdw sx="100000" sy="100000" kx="0" ky="0" algn="bl" rotWithShape="0" blurRad="76200" dist="25400" dir="5400000">
              <a:srgbClr val="000000">
                <a:alpha val="8000"/>
              </a:srgbClr>
            </a:outerShdw>
          </a:effectLst>
        </p:spPr>
      </p:sp>
      <p:graphicFrame>
        <p:nvGraphicFramePr>
          <p:cNvPr id="8" name="Chart 0" descr=""/>
          <p:cNvGraphicFramePr/>
          <p:nvPr/>
        </p:nvGraphicFramePr>
        <p:xfrm>
          <a:off x="6309360" y="1645920"/>
          <a:ext cx="5212080" cy="43434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3262B"/>
        </a:solidFill>
      </p:bgPr>
    </p:bg>
    <p:spTree>
      <p:nvGrpSpPr>
        <p:cNvPr id="1" name=""/>
        <p:cNvGrpSpPr/>
        <p:nvPr/>
      </p:nvGrpSpPr>
      <p:grpSpPr>
        <a:xfrm>
          <a:off x="0" y="0"/>
          <a:ext cx="0" cy="0"/>
          <a:chOff x="0" y="0"/>
          <a:chExt cx="0" cy="0"/>
        </a:xfrm>
      </p:grpSpPr>
      <p:sp>
        <p:nvSpPr>
          <p:cNvPr id="2" name="Text 0"/>
          <p:cNvSpPr txBox="1"/>
          <p:nvPr/>
        </p:nvSpPr>
        <p:spPr>
          <a:xfrm>
            <a:off x="548640" y="365760"/>
            <a:ext cx="5486400" cy="274320"/>
          </a:xfrm>
          <a:prstGeom prst="rect">
            <a:avLst/>
          </a:prstGeom>
          <a:noFill/>
          <a:ln/>
        </p:spPr>
        <p:txBody>
          <a:bodyPr wrap="square" lIns="0" tIns="0" rIns="0" bIns="0" rtlCol="0" anchor="ctr"/>
          <a:lstStyle/>
          <a:p>
            <a:pPr indent="0" marL="0">
              <a:buNone/>
            </a:pPr>
            <a:r>
              <a:rPr lang="en-US" sz="1200" b="1" spc="300" kern="0" dirty="0">
                <a:solidFill>
                  <a:srgbClr val="F2B705"/>
                </a:solidFill>
                <a:latin typeface="Calibri" pitchFamily="34" charset="0"/>
                <a:ea typeface="Calibri" pitchFamily="34" charset="-122"/>
                <a:cs typeface="Calibri" pitchFamily="34" charset="-120"/>
              </a:rPr>
              <a:t>CONCLUSIONES</a:t>
            </a:r>
            <a:endParaRPr lang="en-US" sz="1200" dirty="0"/>
          </a:p>
        </p:txBody>
      </p:sp>
      <p:sp>
        <p:nvSpPr>
          <p:cNvPr id="3" name="Text 1"/>
          <p:cNvSpPr txBox="1"/>
          <p:nvPr/>
        </p:nvSpPr>
        <p:spPr>
          <a:xfrm>
            <a:off x="548640" y="658368"/>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Puntos clave</a:t>
            </a:r>
            <a:endParaRPr lang="en-US" sz="3200" dirty="0"/>
          </a:p>
        </p:txBody>
      </p:sp>
      <p:sp>
        <p:nvSpPr>
          <p:cNvPr id="4" name="Shape 2"/>
          <p:cNvSpPr/>
          <p:nvPr/>
        </p:nvSpPr>
        <p:spPr>
          <a:xfrm>
            <a:off x="548640" y="1691640"/>
            <a:ext cx="502920" cy="502920"/>
          </a:xfrm>
          <a:prstGeom prst="ellipse">
            <a:avLst/>
          </a:prstGeom>
          <a:solidFill>
            <a:srgbClr val="F2B705"/>
          </a:solidFill>
          <a:ln w="12700">
            <a:solidFill>
              <a:srgbClr val="F2B705"/>
            </a:solidFill>
            <a:prstDash val="solid"/>
          </a:ln>
        </p:spPr>
      </p:sp>
      <p:sp>
        <p:nvSpPr>
          <p:cNvPr id="5" name="Text 3"/>
          <p:cNvSpPr txBox="1"/>
          <p:nvPr/>
        </p:nvSpPr>
        <p:spPr>
          <a:xfrm>
            <a:off x="548640" y="1691640"/>
            <a:ext cx="502920" cy="502920"/>
          </a:xfrm>
          <a:prstGeom prst="rect">
            <a:avLst/>
          </a:prstGeom>
          <a:noFill/>
          <a:ln/>
        </p:spPr>
        <p:txBody>
          <a:bodyPr wrap="square" lIns="0" tIns="0" rIns="0" bIns="0" rtlCol="0" anchor="ctr"/>
          <a:lstStyle/>
          <a:p>
            <a:pPr algn="ctr" indent="0" marL="0">
              <a:buNone/>
            </a:pPr>
            <a:r>
              <a:rPr lang="en-US" sz="1800" b="1" dirty="0">
                <a:solidFill>
                  <a:srgbClr val="23262B"/>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280160" y="1600200"/>
            <a:ext cx="6309360" cy="731520"/>
          </a:xfrm>
          <a:prstGeom prst="rect">
            <a:avLst/>
          </a:prstGeom>
          <a:noFill/>
          <a:ln/>
        </p:spPr>
        <p:txBody>
          <a:bodyPr wrap="square" lIns="0" tIns="0" rIns="0" bIns="0" rtlCol="0" anchor="ctr"/>
          <a:lstStyle/>
          <a:p>
            <a:pPr indent="0" marL="0">
              <a:buNone/>
            </a:pPr>
            <a:r>
              <a:rPr lang="en-US" sz="1500" b="1" dirty="0">
                <a:solidFill>
                  <a:srgbClr val="F2B705"/>
                </a:solidFill>
                <a:latin typeface="Calibri" pitchFamily="34" charset="0"/>
                <a:ea typeface="Calibri" pitchFamily="34" charset="-122"/>
                <a:cs typeface="Calibri" pitchFamily="34" charset="-120"/>
              </a:rPr>
              <a:t>Dos variables</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La sección depende del CBR de subrasante y del tráfico (EE) en el carril de diseño.</a:t>
            </a:r>
            <a:endParaRPr lang="en-US" sz="1500" dirty="0"/>
          </a:p>
        </p:txBody>
      </p:sp>
      <p:sp>
        <p:nvSpPr>
          <p:cNvPr id="7" name="Shape 5"/>
          <p:cNvSpPr/>
          <p:nvPr/>
        </p:nvSpPr>
        <p:spPr>
          <a:xfrm>
            <a:off x="548640" y="2587752"/>
            <a:ext cx="502920" cy="502920"/>
          </a:xfrm>
          <a:prstGeom prst="ellipse">
            <a:avLst/>
          </a:prstGeom>
          <a:solidFill>
            <a:srgbClr val="F2B705"/>
          </a:solidFill>
          <a:ln w="12700">
            <a:solidFill>
              <a:srgbClr val="F2B705"/>
            </a:solidFill>
            <a:prstDash val="solid"/>
          </a:ln>
        </p:spPr>
      </p:sp>
      <p:sp>
        <p:nvSpPr>
          <p:cNvPr id="8" name="Text 6"/>
          <p:cNvSpPr txBox="1"/>
          <p:nvPr/>
        </p:nvSpPr>
        <p:spPr>
          <a:xfrm>
            <a:off x="548640" y="2587752"/>
            <a:ext cx="502920" cy="502920"/>
          </a:xfrm>
          <a:prstGeom prst="rect">
            <a:avLst/>
          </a:prstGeom>
          <a:noFill/>
          <a:ln/>
        </p:spPr>
        <p:txBody>
          <a:bodyPr wrap="square" lIns="0" tIns="0" rIns="0" bIns="0" rtlCol="0" anchor="ctr"/>
          <a:lstStyle/>
          <a:p>
            <a:pPr algn="ctr" indent="0" marL="0">
              <a:buNone/>
            </a:pPr>
            <a:r>
              <a:rPr lang="en-US" sz="1800" b="1" dirty="0">
                <a:solidFill>
                  <a:srgbClr val="23262B"/>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280160" y="2496312"/>
            <a:ext cx="6309360" cy="731520"/>
          </a:xfrm>
          <a:prstGeom prst="rect">
            <a:avLst/>
          </a:prstGeom>
          <a:noFill/>
          <a:ln/>
        </p:spPr>
        <p:txBody>
          <a:bodyPr wrap="square" lIns="0" tIns="0" rIns="0" bIns="0" rtlCol="0" anchor="ctr"/>
          <a:lstStyle/>
          <a:p>
            <a:pPr indent="0" marL="0">
              <a:buNone/>
            </a:pPr>
            <a:r>
              <a:rPr lang="en-US" sz="1500" b="1" dirty="0">
                <a:solidFill>
                  <a:srgbClr val="F2B705"/>
                </a:solidFill>
                <a:latin typeface="Calibri" pitchFamily="34" charset="0"/>
                <a:ea typeface="Calibri" pitchFamily="34" charset="-122"/>
                <a:cs typeface="Calibri" pitchFamily="34" charset="-120"/>
              </a:rPr>
              <a:t>Catálogos</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El Manual ofrece catálogos referenciales de SN y secciones para 5 tipos de capa superficial.</a:t>
            </a:r>
            <a:endParaRPr lang="en-US" sz="1500" dirty="0"/>
          </a:p>
        </p:txBody>
      </p:sp>
      <p:sp>
        <p:nvSpPr>
          <p:cNvPr id="10" name="Shape 8"/>
          <p:cNvSpPr/>
          <p:nvPr/>
        </p:nvSpPr>
        <p:spPr>
          <a:xfrm>
            <a:off x="548640" y="3483864"/>
            <a:ext cx="502920" cy="502920"/>
          </a:xfrm>
          <a:prstGeom prst="ellipse">
            <a:avLst/>
          </a:prstGeom>
          <a:solidFill>
            <a:srgbClr val="F2B705"/>
          </a:solidFill>
          <a:ln w="12700">
            <a:solidFill>
              <a:srgbClr val="F2B705"/>
            </a:solidFill>
            <a:prstDash val="solid"/>
          </a:ln>
        </p:spPr>
      </p:sp>
      <p:sp>
        <p:nvSpPr>
          <p:cNvPr id="11" name="Text 9"/>
          <p:cNvSpPr txBox="1"/>
          <p:nvPr/>
        </p:nvSpPr>
        <p:spPr>
          <a:xfrm>
            <a:off x="548640" y="3483864"/>
            <a:ext cx="502920" cy="502920"/>
          </a:xfrm>
          <a:prstGeom prst="rect">
            <a:avLst/>
          </a:prstGeom>
          <a:noFill/>
          <a:ln/>
        </p:spPr>
        <p:txBody>
          <a:bodyPr wrap="square" lIns="0" tIns="0" rIns="0" bIns="0" rtlCol="0" anchor="ctr"/>
          <a:lstStyle/>
          <a:p>
            <a:pPr algn="ctr" indent="0" marL="0">
              <a:buNone/>
            </a:pPr>
            <a:r>
              <a:rPr lang="en-US" sz="1800" b="1" dirty="0">
                <a:solidFill>
                  <a:srgbClr val="23262B"/>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280160" y="3392424"/>
            <a:ext cx="6309360" cy="731520"/>
          </a:xfrm>
          <a:prstGeom prst="rect">
            <a:avLst/>
          </a:prstGeom>
          <a:noFill/>
          <a:ln/>
        </p:spPr>
        <p:txBody>
          <a:bodyPr wrap="square" lIns="0" tIns="0" rIns="0" bIns="0" rtlCol="0" anchor="ctr"/>
          <a:lstStyle/>
          <a:p>
            <a:pPr indent="0" marL="0">
              <a:buNone/>
            </a:pPr>
            <a:r>
              <a:rPr lang="en-US" sz="1500" b="1" dirty="0">
                <a:solidFill>
                  <a:srgbClr val="F2B705"/>
                </a:solidFill>
                <a:latin typeface="Calibri" pitchFamily="34" charset="0"/>
                <a:ea typeface="Calibri" pitchFamily="34" charset="-122"/>
                <a:cs typeface="Calibri" pitchFamily="34" charset="-120"/>
              </a:rPr>
              <a:t>Periodos</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10 años (bajo volumen), 20 años en 2 etapas con refuerzo, o 20 años en 1 etapa con carpeta en caliente.</a:t>
            </a:r>
            <a:endParaRPr lang="en-US" sz="1500" dirty="0"/>
          </a:p>
        </p:txBody>
      </p:sp>
      <p:sp>
        <p:nvSpPr>
          <p:cNvPr id="13" name="Shape 11"/>
          <p:cNvSpPr/>
          <p:nvPr/>
        </p:nvSpPr>
        <p:spPr>
          <a:xfrm>
            <a:off x="548640" y="4379976"/>
            <a:ext cx="502920" cy="502920"/>
          </a:xfrm>
          <a:prstGeom prst="ellipse">
            <a:avLst/>
          </a:prstGeom>
          <a:solidFill>
            <a:srgbClr val="F2B705"/>
          </a:solidFill>
          <a:ln w="12700">
            <a:solidFill>
              <a:srgbClr val="F2B705"/>
            </a:solidFill>
            <a:prstDash val="solid"/>
          </a:ln>
        </p:spPr>
      </p:sp>
      <p:sp>
        <p:nvSpPr>
          <p:cNvPr id="14" name="Text 12"/>
          <p:cNvSpPr txBox="1"/>
          <p:nvPr/>
        </p:nvSpPr>
        <p:spPr>
          <a:xfrm>
            <a:off x="548640" y="4379976"/>
            <a:ext cx="502920" cy="502920"/>
          </a:xfrm>
          <a:prstGeom prst="rect">
            <a:avLst/>
          </a:prstGeom>
          <a:noFill/>
          <a:ln/>
        </p:spPr>
        <p:txBody>
          <a:bodyPr wrap="square" lIns="0" tIns="0" rIns="0" bIns="0" rtlCol="0" anchor="ctr"/>
          <a:lstStyle/>
          <a:p>
            <a:pPr algn="ctr" indent="0" marL="0">
              <a:buNone/>
            </a:pPr>
            <a:r>
              <a:rPr lang="en-US" sz="1800" b="1" dirty="0">
                <a:solidFill>
                  <a:srgbClr val="23262B"/>
                </a:solidFill>
                <a:latin typeface="Cambria" pitchFamily="34" charset="0"/>
                <a:ea typeface="Cambria" pitchFamily="34" charset="-122"/>
                <a:cs typeface="Cambria" pitchFamily="34" charset="-120"/>
              </a:rPr>
              <a:t>4</a:t>
            </a:r>
            <a:endParaRPr lang="en-US" sz="1800" dirty="0"/>
          </a:p>
        </p:txBody>
      </p:sp>
      <p:sp>
        <p:nvSpPr>
          <p:cNvPr id="15" name="Text 13"/>
          <p:cNvSpPr txBox="1"/>
          <p:nvPr/>
        </p:nvSpPr>
        <p:spPr>
          <a:xfrm>
            <a:off x="1280160" y="4288536"/>
            <a:ext cx="6309360" cy="731520"/>
          </a:xfrm>
          <a:prstGeom prst="rect">
            <a:avLst/>
          </a:prstGeom>
          <a:noFill/>
          <a:ln/>
        </p:spPr>
        <p:txBody>
          <a:bodyPr wrap="square" lIns="0" tIns="0" rIns="0" bIns="0" rtlCol="0" anchor="ctr"/>
          <a:lstStyle/>
          <a:p>
            <a:pPr indent="0" marL="0">
              <a:buNone/>
            </a:pPr>
            <a:r>
              <a:rPr lang="en-US" sz="1500" b="1" dirty="0">
                <a:solidFill>
                  <a:srgbClr val="F2B705"/>
                </a:solidFill>
                <a:latin typeface="Calibri" pitchFamily="34" charset="0"/>
                <a:ea typeface="Calibri" pitchFamily="34" charset="-122"/>
                <a:cs typeface="Calibri" pitchFamily="34" charset="-120"/>
              </a:rPr>
              <a:t>Bermas</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Son parte estructural; su diseño depende del ancho (≤ 1.20 m o &gt; 1.20 m) y pueden replicar la calzada.</a:t>
            </a:r>
            <a:endParaRPr lang="en-US" sz="1500" dirty="0"/>
          </a:p>
        </p:txBody>
      </p:sp>
      <p:sp>
        <p:nvSpPr>
          <p:cNvPr id="16" name="Shape 14"/>
          <p:cNvSpPr/>
          <p:nvPr/>
        </p:nvSpPr>
        <p:spPr>
          <a:xfrm>
            <a:off x="548640" y="5276088"/>
            <a:ext cx="502920" cy="502920"/>
          </a:xfrm>
          <a:prstGeom prst="ellipse">
            <a:avLst/>
          </a:prstGeom>
          <a:solidFill>
            <a:srgbClr val="F2B705"/>
          </a:solidFill>
          <a:ln w="12700">
            <a:solidFill>
              <a:srgbClr val="F2B705"/>
            </a:solidFill>
            <a:prstDash val="solid"/>
          </a:ln>
        </p:spPr>
      </p:sp>
      <p:sp>
        <p:nvSpPr>
          <p:cNvPr id="17" name="Text 15"/>
          <p:cNvSpPr txBox="1"/>
          <p:nvPr/>
        </p:nvSpPr>
        <p:spPr>
          <a:xfrm>
            <a:off x="548640" y="5276088"/>
            <a:ext cx="502920" cy="502920"/>
          </a:xfrm>
          <a:prstGeom prst="rect">
            <a:avLst/>
          </a:prstGeom>
          <a:noFill/>
          <a:ln/>
        </p:spPr>
        <p:txBody>
          <a:bodyPr wrap="square" lIns="0" tIns="0" rIns="0" bIns="0" rtlCol="0" anchor="ctr"/>
          <a:lstStyle/>
          <a:p>
            <a:pPr algn="ctr" indent="0" marL="0">
              <a:buNone/>
            </a:pPr>
            <a:r>
              <a:rPr lang="en-US" sz="1800" b="1" dirty="0">
                <a:solidFill>
                  <a:srgbClr val="23262B"/>
                </a:solidFill>
                <a:latin typeface="Cambria" pitchFamily="34" charset="0"/>
                <a:ea typeface="Cambria" pitchFamily="34" charset="-122"/>
                <a:cs typeface="Cambria" pitchFamily="34" charset="-120"/>
              </a:rPr>
              <a:t>5</a:t>
            </a:r>
            <a:endParaRPr lang="en-US" sz="1800" dirty="0"/>
          </a:p>
        </p:txBody>
      </p:sp>
      <p:sp>
        <p:nvSpPr>
          <p:cNvPr id="18" name="Text 16"/>
          <p:cNvSpPr txBox="1"/>
          <p:nvPr/>
        </p:nvSpPr>
        <p:spPr>
          <a:xfrm>
            <a:off x="1280160" y="5184648"/>
            <a:ext cx="6309360" cy="731520"/>
          </a:xfrm>
          <a:prstGeom prst="rect">
            <a:avLst/>
          </a:prstGeom>
          <a:noFill/>
          <a:ln/>
        </p:spPr>
        <p:txBody>
          <a:bodyPr wrap="square" lIns="0" tIns="0" rIns="0" bIns="0" rtlCol="0" anchor="ctr"/>
          <a:lstStyle/>
          <a:p>
            <a:pPr indent="0" marL="0">
              <a:buNone/>
            </a:pPr>
            <a:r>
              <a:rPr lang="en-US" sz="1500" b="1" dirty="0">
                <a:solidFill>
                  <a:srgbClr val="F2B705"/>
                </a:solidFill>
                <a:latin typeface="Calibri" pitchFamily="34" charset="0"/>
                <a:ea typeface="Calibri" pitchFamily="34" charset="-122"/>
                <a:cs typeface="Calibri" pitchFamily="34" charset="-120"/>
              </a:rPr>
              <a:t>Criterio</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Las secciones son referenciales: no sustituyen el diseño del Ingeniero Responsable.</a:t>
            </a:r>
            <a:endParaRPr lang="en-US" sz="1500" dirty="0"/>
          </a:p>
        </p:txBody>
      </p:sp>
      <p:sp>
        <p:nvSpPr>
          <p:cNvPr id="19" name="Shape 17"/>
          <p:cNvSpPr/>
          <p:nvPr/>
        </p:nvSpPr>
        <p:spPr>
          <a:xfrm>
            <a:off x="7818120" y="2011680"/>
            <a:ext cx="3840480" cy="432054"/>
          </a:xfrm>
          <a:prstGeom prst="rect">
            <a:avLst/>
          </a:prstGeom>
          <a:solidFill>
            <a:srgbClr val="33373E"/>
          </a:solidFill>
          <a:ln w="12700">
            <a:solidFill>
              <a:srgbClr val="5A5F68"/>
            </a:solidFill>
            <a:prstDash val="solid"/>
          </a:ln>
        </p:spPr>
      </p:sp>
      <p:sp>
        <p:nvSpPr>
          <p:cNvPr id="20" name="Text 18"/>
          <p:cNvSpPr txBox="1"/>
          <p:nvPr/>
        </p:nvSpPr>
        <p:spPr>
          <a:xfrm>
            <a:off x="8001000" y="2011680"/>
            <a:ext cx="3474720" cy="43205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Carpeta / tratamiento superficial</a:t>
            </a:r>
            <a:endParaRPr lang="en-US" sz="1300" dirty="0"/>
          </a:p>
        </p:txBody>
      </p:sp>
      <p:sp>
        <p:nvSpPr>
          <p:cNvPr id="21" name="Shape 19"/>
          <p:cNvSpPr/>
          <p:nvPr/>
        </p:nvSpPr>
        <p:spPr>
          <a:xfrm>
            <a:off x="7818120" y="2443734"/>
            <a:ext cx="3840480" cy="740664"/>
          </a:xfrm>
          <a:prstGeom prst="rect">
            <a:avLst/>
          </a:prstGeom>
          <a:solidFill>
            <a:srgbClr val="A8845A"/>
          </a:solidFill>
          <a:ln w="12700">
            <a:solidFill>
              <a:srgbClr val="A8845A"/>
            </a:solidFill>
            <a:prstDash val="solid"/>
          </a:ln>
        </p:spPr>
      </p:sp>
      <p:sp>
        <p:nvSpPr>
          <p:cNvPr id="22" name="Text 20"/>
          <p:cNvSpPr txBox="1"/>
          <p:nvPr/>
        </p:nvSpPr>
        <p:spPr>
          <a:xfrm>
            <a:off x="8001000" y="2443734"/>
            <a:ext cx="3474720" cy="74066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Base granular</a:t>
            </a:r>
            <a:endParaRPr lang="en-US" sz="1300" dirty="0"/>
          </a:p>
        </p:txBody>
      </p:sp>
      <p:sp>
        <p:nvSpPr>
          <p:cNvPr id="23" name="Shape 21"/>
          <p:cNvSpPr/>
          <p:nvPr/>
        </p:nvSpPr>
        <p:spPr>
          <a:xfrm>
            <a:off x="7818120" y="3184398"/>
            <a:ext cx="3840480" cy="740664"/>
          </a:xfrm>
          <a:prstGeom prst="rect">
            <a:avLst/>
          </a:prstGeom>
          <a:solidFill>
            <a:srgbClr val="C9AD84"/>
          </a:solidFill>
          <a:ln w="12700">
            <a:solidFill>
              <a:srgbClr val="C9AD84"/>
            </a:solidFill>
            <a:prstDash val="solid"/>
          </a:ln>
        </p:spPr>
      </p:sp>
      <p:sp>
        <p:nvSpPr>
          <p:cNvPr id="24" name="Text 22"/>
          <p:cNvSpPr txBox="1"/>
          <p:nvPr/>
        </p:nvSpPr>
        <p:spPr>
          <a:xfrm>
            <a:off x="8001000" y="3184398"/>
            <a:ext cx="3474720" cy="74066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Subbase granular</a:t>
            </a:r>
            <a:endParaRPr lang="en-US" sz="1300" dirty="0"/>
          </a:p>
        </p:txBody>
      </p:sp>
      <p:sp>
        <p:nvSpPr>
          <p:cNvPr id="25" name="Shape 23"/>
          <p:cNvSpPr/>
          <p:nvPr/>
        </p:nvSpPr>
        <p:spPr>
          <a:xfrm>
            <a:off x="7818120" y="3925062"/>
            <a:ext cx="3840480" cy="925830"/>
          </a:xfrm>
          <a:prstGeom prst="rect">
            <a:avLst/>
          </a:prstGeom>
          <a:solidFill>
            <a:srgbClr val="8A6F52"/>
          </a:solidFill>
          <a:ln w="12700">
            <a:solidFill>
              <a:srgbClr val="8A6F52"/>
            </a:solidFill>
            <a:prstDash val="solid"/>
          </a:ln>
        </p:spPr>
      </p:sp>
      <p:sp>
        <p:nvSpPr>
          <p:cNvPr id="26" name="Text 24"/>
          <p:cNvSpPr txBox="1"/>
          <p:nvPr/>
        </p:nvSpPr>
        <p:spPr>
          <a:xfrm>
            <a:off x="8001000" y="3925062"/>
            <a:ext cx="3474720" cy="92583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Subrasante (CBR)</a:t>
            </a:r>
            <a:endParaRPr lang="en-US" sz="1300" dirty="0"/>
          </a:p>
        </p:txBody>
      </p:sp>
      <p:sp>
        <p:nvSpPr>
          <p:cNvPr id="27" name="Shape 25"/>
          <p:cNvSpPr/>
          <p:nvPr/>
        </p:nvSpPr>
        <p:spPr>
          <a:xfrm>
            <a:off x="8092440" y="1863547"/>
            <a:ext cx="480060" cy="74066"/>
          </a:xfrm>
          <a:prstGeom prst="rect">
            <a:avLst/>
          </a:prstGeom>
          <a:solidFill>
            <a:srgbClr val="F2B705"/>
          </a:solidFill>
          <a:ln w="12700">
            <a:solidFill>
              <a:srgbClr val="F2B705"/>
            </a:solidFill>
            <a:prstDash val="solid"/>
          </a:ln>
        </p:spPr>
      </p:sp>
      <p:sp>
        <p:nvSpPr>
          <p:cNvPr id="28" name="Shape 26"/>
          <p:cNvSpPr/>
          <p:nvPr/>
        </p:nvSpPr>
        <p:spPr>
          <a:xfrm>
            <a:off x="9052560" y="1863547"/>
            <a:ext cx="480060" cy="74066"/>
          </a:xfrm>
          <a:prstGeom prst="rect">
            <a:avLst/>
          </a:prstGeom>
          <a:solidFill>
            <a:srgbClr val="F2B705"/>
          </a:solidFill>
          <a:ln w="12700">
            <a:solidFill>
              <a:srgbClr val="F2B705"/>
            </a:solidFill>
            <a:prstDash val="solid"/>
          </a:ln>
        </p:spPr>
      </p:sp>
      <p:sp>
        <p:nvSpPr>
          <p:cNvPr id="29" name="Shape 27"/>
          <p:cNvSpPr/>
          <p:nvPr/>
        </p:nvSpPr>
        <p:spPr>
          <a:xfrm>
            <a:off x="10012680" y="1863547"/>
            <a:ext cx="480060" cy="74066"/>
          </a:xfrm>
          <a:prstGeom prst="rect">
            <a:avLst/>
          </a:prstGeom>
          <a:solidFill>
            <a:srgbClr val="F2B705"/>
          </a:solidFill>
          <a:ln w="12700">
            <a:solidFill>
              <a:srgbClr val="F2B705"/>
            </a:solidFill>
            <a:prstDash val="solid"/>
          </a:ln>
        </p:spPr>
      </p:sp>
      <p:sp>
        <p:nvSpPr>
          <p:cNvPr id="30" name="Shape 28"/>
          <p:cNvSpPr/>
          <p:nvPr/>
        </p:nvSpPr>
        <p:spPr>
          <a:xfrm>
            <a:off x="10972800" y="1863547"/>
            <a:ext cx="480060" cy="74066"/>
          </a:xfrm>
          <a:prstGeom prst="rect">
            <a:avLst/>
          </a:prstGeom>
          <a:solidFill>
            <a:srgbClr val="F2B705"/>
          </a:solidFill>
          <a:ln w="12700">
            <a:solidFill>
              <a:srgbClr val="F2B705"/>
            </a:solidFill>
            <a:prstDash val="solid"/>
          </a:ln>
        </p:spPr>
      </p:sp>
      <p:sp>
        <p:nvSpPr>
          <p:cNvPr id="31" name="Text 29"/>
          <p:cNvSpPr txBox="1"/>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AEB4B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3262B"/>
        </a:solidFill>
      </p:bgPr>
    </p:bg>
    <p:spTree>
      <p:nvGrpSpPr>
        <p:cNvPr id="1" name=""/>
        <p:cNvGrpSpPr/>
        <p:nvPr/>
      </p:nvGrpSpPr>
      <p:grpSpPr>
        <a:xfrm>
          <a:off x="0" y="0"/>
          <a:ext cx="0" cy="0"/>
          <a:chOff x="0" y="0"/>
          <a:chExt cx="0" cy="0"/>
        </a:xfrm>
      </p:grpSpPr>
      <p:sp>
        <p:nvSpPr>
          <p:cNvPr id="2" name="Shape 0"/>
          <p:cNvSpPr/>
          <p:nvPr/>
        </p:nvSpPr>
        <p:spPr>
          <a:xfrm>
            <a:off x="0" y="4754880"/>
            <a:ext cx="12191695" cy="320040"/>
          </a:xfrm>
          <a:prstGeom prst="rect">
            <a:avLst/>
          </a:prstGeom>
          <a:solidFill>
            <a:srgbClr val="33373E"/>
          </a:solidFill>
          <a:ln w="12700">
            <a:solidFill>
              <a:srgbClr val="5A5F68"/>
            </a:solidFill>
            <a:prstDash val="solid"/>
          </a:ln>
        </p:spPr>
      </p:sp>
      <p:sp>
        <p:nvSpPr>
          <p:cNvPr id="3" name="Shape 1"/>
          <p:cNvSpPr/>
          <p:nvPr/>
        </p:nvSpPr>
        <p:spPr>
          <a:xfrm>
            <a:off x="0" y="5074920"/>
            <a:ext cx="12191695" cy="548640"/>
          </a:xfrm>
          <a:prstGeom prst="rect">
            <a:avLst/>
          </a:prstGeom>
          <a:solidFill>
            <a:srgbClr val="A8845A"/>
          </a:solidFill>
          <a:ln w="12700">
            <a:solidFill>
              <a:srgbClr val="A8845A"/>
            </a:solidFill>
            <a:prstDash val="solid"/>
          </a:ln>
        </p:spPr>
      </p:sp>
      <p:sp>
        <p:nvSpPr>
          <p:cNvPr id="4" name="Shape 2"/>
          <p:cNvSpPr/>
          <p:nvPr/>
        </p:nvSpPr>
        <p:spPr>
          <a:xfrm>
            <a:off x="0" y="5623560"/>
            <a:ext cx="12191695" cy="548640"/>
          </a:xfrm>
          <a:prstGeom prst="rect">
            <a:avLst/>
          </a:prstGeom>
          <a:solidFill>
            <a:srgbClr val="C9AD84"/>
          </a:solidFill>
          <a:ln w="12700">
            <a:solidFill>
              <a:srgbClr val="C9AD84"/>
            </a:solidFill>
            <a:prstDash val="solid"/>
          </a:ln>
        </p:spPr>
      </p:sp>
      <p:sp>
        <p:nvSpPr>
          <p:cNvPr id="5" name="Shape 3"/>
          <p:cNvSpPr/>
          <p:nvPr/>
        </p:nvSpPr>
        <p:spPr>
          <a:xfrm>
            <a:off x="0" y="6172200"/>
            <a:ext cx="12191695" cy="685800"/>
          </a:xfrm>
          <a:prstGeom prst="rect">
            <a:avLst/>
          </a:prstGeom>
          <a:solidFill>
            <a:srgbClr val="8A6F52"/>
          </a:solidFill>
          <a:ln w="12700">
            <a:solidFill>
              <a:srgbClr val="8A6F52"/>
            </a:solidFill>
            <a:prstDash val="solid"/>
          </a:ln>
        </p:spPr>
      </p:sp>
      <p:sp>
        <p:nvSpPr>
          <p:cNvPr id="6" name="Shape 4"/>
          <p:cNvSpPr/>
          <p:nvPr/>
        </p:nvSpPr>
        <p:spPr>
          <a:xfrm>
            <a:off x="274320" y="4645152"/>
            <a:ext cx="1523962" cy="54864"/>
          </a:xfrm>
          <a:prstGeom prst="rect">
            <a:avLst/>
          </a:prstGeom>
          <a:solidFill>
            <a:srgbClr val="F2B705"/>
          </a:solidFill>
          <a:ln w="12700">
            <a:solidFill>
              <a:srgbClr val="F2B705"/>
            </a:solidFill>
            <a:prstDash val="solid"/>
          </a:ln>
        </p:spPr>
      </p:sp>
      <p:sp>
        <p:nvSpPr>
          <p:cNvPr id="7" name="Shape 5"/>
          <p:cNvSpPr/>
          <p:nvPr/>
        </p:nvSpPr>
        <p:spPr>
          <a:xfrm>
            <a:off x="3322244" y="4645152"/>
            <a:ext cx="1523962" cy="54864"/>
          </a:xfrm>
          <a:prstGeom prst="rect">
            <a:avLst/>
          </a:prstGeom>
          <a:solidFill>
            <a:srgbClr val="F2B705"/>
          </a:solidFill>
          <a:ln w="12700">
            <a:solidFill>
              <a:srgbClr val="F2B705"/>
            </a:solidFill>
            <a:prstDash val="solid"/>
          </a:ln>
        </p:spPr>
      </p:sp>
      <p:sp>
        <p:nvSpPr>
          <p:cNvPr id="8" name="Shape 6"/>
          <p:cNvSpPr/>
          <p:nvPr/>
        </p:nvSpPr>
        <p:spPr>
          <a:xfrm>
            <a:off x="6370168" y="4645152"/>
            <a:ext cx="1523962" cy="54864"/>
          </a:xfrm>
          <a:prstGeom prst="rect">
            <a:avLst/>
          </a:prstGeom>
          <a:solidFill>
            <a:srgbClr val="F2B705"/>
          </a:solidFill>
          <a:ln w="12700">
            <a:solidFill>
              <a:srgbClr val="F2B705"/>
            </a:solidFill>
            <a:prstDash val="solid"/>
          </a:ln>
        </p:spPr>
      </p:sp>
      <p:sp>
        <p:nvSpPr>
          <p:cNvPr id="9" name="Shape 7"/>
          <p:cNvSpPr/>
          <p:nvPr/>
        </p:nvSpPr>
        <p:spPr>
          <a:xfrm>
            <a:off x="9418091" y="4645152"/>
            <a:ext cx="1523962" cy="54864"/>
          </a:xfrm>
          <a:prstGeom prst="rect">
            <a:avLst/>
          </a:prstGeom>
          <a:solidFill>
            <a:srgbClr val="F2B705"/>
          </a:solidFill>
          <a:ln w="12700">
            <a:solidFill>
              <a:srgbClr val="F2B705"/>
            </a:solidFill>
            <a:prstDash val="solid"/>
          </a:ln>
        </p:spPr>
      </p:sp>
      <p:sp>
        <p:nvSpPr>
          <p:cNvPr id="10" name="Text 8"/>
          <p:cNvSpPr txBox="1"/>
          <p:nvPr/>
        </p:nvSpPr>
        <p:spPr>
          <a:xfrm>
            <a:off x="548640" y="1280160"/>
            <a:ext cx="11094415" cy="10972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¡Gracias!</a:t>
            </a:r>
            <a:endParaRPr lang="en-US" sz="6000" dirty="0"/>
          </a:p>
        </p:txBody>
      </p:sp>
      <p:sp>
        <p:nvSpPr>
          <p:cNvPr id="11" name="Text 9"/>
          <p:cNvSpPr txBox="1"/>
          <p:nvPr/>
        </p:nvSpPr>
        <p:spPr>
          <a:xfrm>
            <a:off x="548640" y="2423160"/>
            <a:ext cx="11094415" cy="640080"/>
          </a:xfrm>
          <a:prstGeom prst="rect">
            <a:avLst/>
          </a:prstGeom>
          <a:noFill/>
          <a:ln/>
        </p:spPr>
        <p:txBody>
          <a:bodyPr wrap="square" lIns="0" tIns="0" rIns="0" bIns="0" rtlCol="0" anchor="ctr"/>
          <a:lstStyle/>
          <a:p>
            <a:pPr algn="ctr" indent="0" marL="0">
              <a:buNone/>
            </a:pPr>
            <a:r>
              <a:rPr lang="en-US" sz="2800" i="1" dirty="0">
                <a:solidFill>
                  <a:srgbClr val="F2B705"/>
                </a:solidFill>
                <a:latin typeface="Cambria" pitchFamily="34" charset="0"/>
                <a:ea typeface="Cambria" pitchFamily="34" charset="-122"/>
                <a:cs typeface="Cambria" pitchFamily="34" charset="-120"/>
              </a:rPr>
              <a:t>¿Preguntas?</a:t>
            </a:r>
            <a:endParaRPr lang="en-US" sz="2800" dirty="0"/>
          </a:p>
        </p:txBody>
      </p:sp>
      <p:sp>
        <p:nvSpPr>
          <p:cNvPr id="12" name="Text 10"/>
          <p:cNvSpPr txBox="1"/>
          <p:nvPr/>
        </p:nvSpPr>
        <p:spPr>
          <a:xfrm>
            <a:off x="548640" y="3383280"/>
            <a:ext cx="11094415" cy="365760"/>
          </a:xfrm>
          <a:prstGeom prst="rect">
            <a:avLst/>
          </a:prstGeom>
          <a:noFill/>
          <a:ln/>
        </p:spPr>
        <p:txBody>
          <a:bodyPr wrap="square" lIns="0" tIns="0" rIns="0" bIns="0" rtlCol="0" anchor="ctr"/>
          <a:lstStyle/>
          <a:p>
            <a:pPr algn="ctr" indent="0" marL="0">
              <a:buNone/>
            </a:pPr>
            <a:r>
              <a:rPr lang="en-US" sz="1600" dirty="0">
                <a:solidFill>
                  <a:srgbClr val="C9CED4"/>
                </a:solidFill>
                <a:latin typeface="Calibri" pitchFamily="34" charset="0"/>
                <a:ea typeface="Calibri" pitchFamily="34" charset="-122"/>
                <a:cs typeface="Calibri" pitchFamily="34" charset="-120"/>
              </a:rPr>
              <a:t>Oscar Javier Mamani Ancco · Maestría en Ingeniería Civil · UNA-Puno · 2026</a:t>
            </a:r>
            <a:endParaRPr lang="en-US" sz="1600" dirty="0"/>
          </a:p>
        </p:txBody>
      </p:sp>
      <p:sp>
        <p:nvSpPr>
          <p:cNvPr id="13" name="Text 11"/>
          <p:cNvSpPr txBox="1"/>
          <p:nvPr/>
        </p:nvSpPr>
        <p:spPr>
          <a:xfrm>
            <a:off x="548640" y="3794760"/>
            <a:ext cx="11094415" cy="320040"/>
          </a:xfrm>
          <a:prstGeom prst="rect">
            <a:avLst/>
          </a:prstGeom>
          <a:noFill/>
          <a:ln/>
        </p:spPr>
        <p:txBody>
          <a:bodyPr wrap="square" lIns="0" tIns="0" rIns="0" bIns="0" rtlCol="0" anchor="ctr"/>
          <a:lstStyle/>
          <a:p>
            <a:pPr algn="ctr" indent="0" marL="0">
              <a:buNone/>
            </a:pPr>
            <a:r>
              <a:rPr lang="en-US" sz="1200" dirty="0">
                <a:solidFill>
                  <a:srgbClr val="8E959E"/>
                </a:solidFill>
                <a:latin typeface="Calibri" pitchFamily="34" charset="0"/>
                <a:ea typeface="Calibri" pitchFamily="34" charset="-122"/>
                <a:cs typeface="Calibri" pitchFamily="34" charset="-120"/>
              </a:rPr>
              <a:t>Fuente: MTC (2014). Manual de Carreteras: Suelos, Geología, Geotecnia y Pavimentos — Cap. 12.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Secciones de Estructuras de Pavimento Flexible y Bermas</dc:title>
  <dc:subject>PptxGenJS Presentation</dc:subject>
  <dc:creator>Oscar Javier Mamani Ancco</dc:creator>
  <cp:lastModifiedBy>Oscar Javier Mamani Ancco</cp:lastModifiedBy>
  <cp:revision>1</cp:revision>
  <dcterms:created xsi:type="dcterms:W3CDTF">2026-09-30T22:38:41Z</dcterms:created>
  <dcterms:modified xsi:type="dcterms:W3CDTF">2026-09-30T22:38:41Z</dcterms:modified>
</cp:coreProperties>
</file>